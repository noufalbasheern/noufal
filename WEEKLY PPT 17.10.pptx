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88" r:id="rId5"/>
    <p:sldId id="258" r:id="rId6"/>
    <p:sldId id="279" r:id="rId7"/>
    <p:sldId id="259" r:id="rId8"/>
    <p:sldId id="275" r:id="rId9"/>
    <p:sldId id="262" r:id="rId10"/>
    <p:sldId id="276" r:id="rId11"/>
    <p:sldId id="278" r:id="rId12"/>
    <p:sldId id="261" r:id="rId13"/>
    <p:sldId id="277" r:id="rId14"/>
    <p:sldId id="2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A8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-72" y="-174"/>
      </p:cViewPr>
      <p:guideLst>
        <p:guide orient="horz" pos="2181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92367175d2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92367175d2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92367175d2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92367175d2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92367175d2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92367175d2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92367175d2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92367175d2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92367175d2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92367175d2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92367175d2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92367175d2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92367175d2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92367175d2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92367175d2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92367175d2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3618230" y="2373630"/>
            <a:ext cx="5181600" cy="560070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GB" altLang="en-US" sz="3600" b="1" dirty="0" smtClean="0">
                <a:solidFill>
                  <a:srgbClr val="7030A0"/>
                </a:solidFill>
                <a:latin typeface="Cambria" panose="02040503050406030204" charset="0"/>
                <a:cs typeface="Cambria" panose="02040503050406030204" charset="0"/>
              </a:rPr>
              <a:t>WEEKLY TASKS</a:t>
            </a:r>
            <a:endParaRPr lang="en-GB" altLang="en-US" sz="3600" b="1" dirty="0" smtClean="0">
              <a:solidFill>
                <a:srgbClr val="7030A0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37897" name="Picture 5" descr="A red oval with letters on i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271" y="234920"/>
            <a:ext cx="1245447" cy="55118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56" name="Google Shape;1056;p35"/>
          <p:cNvGrpSpPr/>
          <p:nvPr/>
        </p:nvGrpSpPr>
        <p:grpSpPr>
          <a:xfrm>
            <a:off x="47413" y="6692900"/>
            <a:ext cx="2836333" cy="101600"/>
            <a:chOff x="552125" y="2636918"/>
            <a:chExt cx="3822099" cy="175164"/>
          </a:xfrm>
        </p:grpSpPr>
        <p:sp>
          <p:nvSpPr>
            <p:cNvPr id="1057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8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9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0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1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2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3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4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5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6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7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6" name="Google Shape;1057;p35"/>
          <p:cNvSpPr/>
          <p:nvPr/>
        </p:nvSpPr>
        <p:spPr>
          <a:xfrm>
            <a:off x="443484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" name="Google Shape;1058;p35"/>
          <p:cNvSpPr/>
          <p:nvPr/>
        </p:nvSpPr>
        <p:spPr>
          <a:xfrm>
            <a:off x="469561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8" name="Google Shape;1059;p35"/>
          <p:cNvSpPr/>
          <p:nvPr/>
        </p:nvSpPr>
        <p:spPr>
          <a:xfrm>
            <a:off x="495638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" name="Google Shape;1060;p35"/>
          <p:cNvSpPr/>
          <p:nvPr/>
        </p:nvSpPr>
        <p:spPr>
          <a:xfrm>
            <a:off x="521716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" name="Google Shape;1061;p35"/>
          <p:cNvSpPr/>
          <p:nvPr/>
        </p:nvSpPr>
        <p:spPr>
          <a:xfrm>
            <a:off x="547793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" name="Google Shape;1062;p35"/>
          <p:cNvSpPr/>
          <p:nvPr/>
        </p:nvSpPr>
        <p:spPr>
          <a:xfrm>
            <a:off x="573870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" name="Google Shape;1063;p35"/>
          <p:cNvSpPr/>
          <p:nvPr/>
        </p:nvSpPr>
        <p:spPr>
          <a:xfrm>
            <a:off x="599948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" name="Google Shape;1064;p35"/>
          <p:cNvSpPr/>
          <p:nvPr/>
        </p:nvSpPr>
        <p:spPr>
          <a:xfrm>
            <a:off x="626025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1065;p35"/>
          <p:cNvSpPr/>
          <p:nvPr/>
        </p:nvSpPr>
        <p:spPr>
          <a:xfrm>
            <a:off x="652102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1066;p35"/>
          <p:cNvSpPr/>
          <p:nvPr/>
        </p:nvSpPr>
        <p:spPr>
          <a:xfrm>
            <a:off x="678180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1067;p35"/>
          <p:cNvSpPr/>
          <p:nvPr/>
        </p:nvSpPr>
        <p:spPr>
          <a:xfrm>
            <a:off x="704342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7" name="Google Shape;1056;p35"/>
          <p:cNvGrpSpPr/>
          <p:nvPr/>
        </p:nvGrpSpPr>
        <p:grpSpPr>
          <a:xfrm>
            <a:off x="9355667" y="6692900"/>
            <a:ext cx="2836333" cy="101600"/>
            <a:chOff x="552125" y="2636918"/>
            <a:chExt cx="3822099" cy="175164"/>
          </a:xfrm>
        </p:grpSpPr>
        <p:sp>
          <p:nvSpPr>
            <p:cNvPr id="68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8859701" y="4799058"/>
            <a:ext cx="2264229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Presented by </a:t>
            </a:r>
            <a:endParaRPr lang="en-US" dirty="0" smtClean="0"/>
          </a:p>
          <a:p>
            <a:r>
              <a:rPr lang="en-GB" altLang="en-US" dirty="0"/>
              <a:t>OT RnD Team</a:t>
            </a:r>
            <a:endParaRPr lang="en-GB" alt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3674749" y="3009150"/>
            <a:ext cx="5068388" cy="672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535"/>
              </a:lnSpc>
            </a:pPr>
            <a:r>
              <a:rPr lang="en-GB" sz="2800" spc="-201">
                <a:solidFill>
                  <a:srgbClr val="424242"/>
                </a:solidFill>
                <a:latin typeface="Cambria" panose="02040503050406030204" charset="0"/>
                <a:ea typeface="Times New Roman" panose="02020603050405020304" charset="0"/>
                <a:cs typeface="Cambria" panose="02040503050406030204" charset="0"/>
                <a:sym typeface="Times New Roman" panose="02020603050405020304" charset="0"/>
              </a:rPr>
              <a:t>OT RnD TEAM</a:t>
            </a:r>
            <a:endParaRPr lang="en-GB" sz="2800" b="1" spc="-201" dirty="0">
              <a:solidFill>
                <a:srgbClr val="424242"/>
              </a:solidFill>
              <a:latin typeface="Cambria" panose="02040503050406030204" charset="0"/>
              <a:ea typeface="Times New Roman" panose="02020603050405020304" charset="0"/>
              <a:cs typeface="Cambria" panose="02040503050406030204" charset="0"/>
              <a:sym typeface="Times New Roman" panose="02020603050405020304" charset="0"/>
            </a:endParaRPr>
          </a:p>
        </p:txBody>
      </p:sp>
      <p:pic>
        <p:nvPicPr>
          <p:cNvPr id="3" name="Content Placeholder 2" descr="Logo_rolon (1)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398760" y="234950"/>
            <a:ext cx="1412875" cy="55118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1057910" y="4860925"/>
            <a:ext cx="42011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1400" b="1">
                <a:latin typeface="Times New Roman" panose="02020603050405020304" charset="0"/>
                <a:cs typeface="Times New Roman" panose="02020603050405020304" charset="0"/>
              </a:rPr>
              <a:t>OPERATION TECHNOLOGY</a:t>
            </a:r>
            <a:endParaRPr lang="en-GB" alt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GB" altLang="en-US" sz="1400" b="1">
                <a:latin typeface="Times New Roman" panose="02020603050405020304" charset="0"/>
                <a:cs typeface="Times New Roman" panose="02020603050405020304" charset="0"/>
              </a:rPr>
              <a:t>17.10.26</a:t>
            </a:r>
            <a:endParaRPr lang="en-GB" altLang="en-US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en-GB" sz="1865" b="1" dirty="0">
                <a:solidFill>
                  <a:schemeClr val="tx1"/>
                </a:solidFill>
                <a:effectLst/>
                <a:latin typeface="Sagona Book"/>
                <a:cs typeface="Century" panose="02040604050505020304" charset="0"/>
              </a:rPr>
              <a:t> </a:t>
            </a:r>
            <a:endParaRPr lang="en-US" altLang="en-GB" sz="1865" b="1" dirty="0">
              <a:solidFill>
                <a:schemeClr val="tx1"/>
              </a:solidFill>
              <a:effectLst/>
              <a:latin typeface="Sagona Book"/>
              <a:cs typeface="Century" panose="02040604050505020304" charset="0"/>
            </a:endParaRPr>
          </a:p>
        </p:txBody>
      </p:sp>
      <p:grpSp>
        <p:nvGrpSpPr>
          <p:cNvPr id="1056" name="Google Shape;1056;p35"/>
          <p:cNvGrpSpPr/>
          <p:nvPr/>
        </p:nvGrpSpPr>
        <p:grpSpPr>
          <a:xfrm>
            <a:off x="47413" y="6692900"/>
            <a:ext cx="2836333" cy="101600"/>
            <a:chOff x="552125" y="2636918"/>
            <a:chExt cx="3822099" cy="175164"/>
          </a:xfrm>
        </p:grpSpPr>
        <p:sp>
          <p:nvSpPr>
            <p:cNvPr id="1057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8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9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0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1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2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3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4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5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6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7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6" name="Google Shape;1057;p35"/>
          <p:cNvSpPr/>
          <p:nvPr/>
        </p:nvSpPr>
        <p:spPr>
          <a:xfrm>
            <a:off x="443484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" name="Google Shape;1058;p35"/>
          <p:cNvSpPr/>
          <p:nvPr/>
        </p:nvSpPr>
        <p:spPr>
          <a:xfrm>
            <a:off x="469561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8" name="Google Shape;1059;p35"/>
          <p:cNvSpPr/>
          <p:nvPr/>
        </p:nvSpPr>
        <p:spPr>
          <a:xfrm>
            <a:off x="495638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" name="Google Shape;1060;p35"/>
          <p:cNvSpPr/>
          <p:nvPr/>
        </p:nvSpPr>
        <p:spPr>
          <a:xfrm>
            <a:off x="521716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" name="Google Shape;1061;p35"/>
          <p:cNvSpPr/>
          <p:nvPr/>
        </p:nvSpPr>
        <p:spPr>
          <a:xfrm>
            <a:off x="547793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" name="Google Shape;1062;p35"/>
          <p:cNvSpPr/>
          <p:nvPr/>
        </p:nvSpPr>
        <p:spPr>
          <a:xfrm>
            <a:off x="573870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" name="Google Shape;1063;p35"/>
          <p:cNvSpPr/>
          <p:nvPr/>
        </p:nvSpPr>
        <p:spPr>
          <a:xfrm>
            <a:off x="599948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" name="Google Shape;1064;p35"/>
          <p:cNvSpPr/>
          <p:nvPr/>
        </p:nvSpPr>
        <p:spPr>
          <a:xfrm>
            <a:off x="626025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1065;p35"/>
          <p:cNvSpPr/>
          <p:nvPr/>
        </p:nvSpPr>
        <p:spPr>
          <a:xfrm>
            <a:off x="652102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1066;p35"/>
          <p:cNvSpPr/>
          <p:nvPr/>
        </p:nvSpPr>
        <p:spPr>
          <a:xfrm>
            <a:off x="678180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1067;p35"/>
          <p:cNvSpPr/>
          <p:nvPr/>
        </p:nvSpPr>
        <p:spPr>
          <a:xfrm>
            <a:off x="704342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7" name="Google Shape;1056;p35"/>
          <p:cNvGrpSpPr/>
          <p:nvPr/>
        </p:nvGrpSpPr>
        <p:grpSpPr>
          <a:xfrm>
            <a:off x="9355667" y="6692900"/>
            <a:ext cx="2836333" cy="101600"/>
            <a:chOff x="552125" y="2636918"/>
            <a:chExt cx="3822099" cy="175164"/>
          </a:xfrm>
        </p:grpSpPr>
        <p:sp>
          <p:nvSpPr>
            <p:cNvPr id="68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3" name="Picture 5" descr="A red oval with letters on i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271" y="234920"/>
            <a:ext cx="1245447" cy="5511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Content Placeholder 4" descr="Logo_rolon (1)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819130" y="365125"/>
            <a:ext cx="952500" cy="37147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528185" y="843915"/>
            <a:ext cx="35369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GB" altLang="en-US"/>
              <a:t>List of projects under OT - RnD team</a:t>
            </a:r>
            <a:endParaRPr lang="en-GB" altLang="en-US"/>
          </a:p>
        </p:txBody>
      </p:sp>
      <p:graphicFrame>
        <p:nvGraphicFramePr>
          <p:cNvPr id="8" name="Table 7"/>
          <p:cNvGraphicFramePr/>
          <p:nvPr/>
        </p:nvGraphicFramePr>
        <p:xfrm>
          <a:off x="1776095" y="1816100"/>
          <a:ext cx="8584565" cy="267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045"/>
                <a:gridCol w="3424555"/>
                <a:gridCol w="2145665"/>
                <a:gridCol w="2146300"/>
              </a:tblGrid>
              <a:tr h="6680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S.no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Project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Start Date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Target End Date</a:t>
                      </a:r>
                      <a:endParaRPr lang="en-GB" altLang="en-US"/>
                    </a:p>
                  </a:txBody>
                  <a:tcPr/>
                </a:tc>
              </a:tr>
              <a:tr h="6680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1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Gateway Device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25.07.26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01.01.27</a:t>
                      </a:r>
                      <a:endParaRPr lang="en-GB" altLang="en-US"/>
                    </a:p>
                  </a:txBody>
                  <a:tcPr/>
                </a:tc>
              </a:tr>
              <a:tr h="6680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2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800">
                          <a:sym typeface="+mn-ea"/>
                        </a:rPr>
                        <a:t>Air bag Stitch inspection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08.09.26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31.10.26</a:t>
                      </a:r>
                      <a:endParaRPr lang="en-US" altLang="en-GB"/>
                    </a:p>
                  </a:txBody>
                  <a:tcPr/>
                </a:tc>
              </a:tr>
              <a:tr h="6680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3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Robot frimware development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01.11.26</a:t>
                      </a:r>
                      <a:endParaRPr lang="en-GB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/>
                        <a:t>01.02.27</a:t>
                      </a:r>
                      <a:endParaRPr lang="en-GB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en-GB" sz="1865" b="1" dirty="0">
                <a:solidFill>
                  <a:schemeClr val="tx1"/>
                </a:solidFill>
                <a:effectLst/>
                <a:latin typeface="Sagona Book"/>
                <a:cs typeface="Century" panose="02040604050505020304" charset="0"/>
              </a:rPr>
              <a:t> </a:t>
            </a:r>
            <a:endParaRPr lang="en-US" altLang="en-GB" sz="1865" b="1" dirty="0">
              <a:solidFill>
                <a:schemeClr val="tx1"/>
              </a:solidFill>
              <a:effectLst/>
              <a:latin typeface="Sagona Book"/>
              <a:cs typeface="Century" panose="02040604050505020304" charset="0"/>
            </a:endParaRPr>
          </a:p>
        </p:txBody>
      </p:sp>
      <p:grpSp>
        <p:nvGrpSpPr>
          <p:cNvPr id="1056" name="Google Shape;1056;p35"/>
          <p:cNvGrpSpPr/>
          <p:nvPr/>
        </p:nvGrpSpPr>
        <p:grpSpPr>
          <a:xfrm>
            <a:off x="47413" y="6692900"/>
            <a:ext cx="2836333" cy="101600"/>
            <a:chOff x="552125" y="2636918"/>
            <a:chExt cx="3822099" cy="175164"/>
          </a:xfrm>
        </p:grpSpPr>
        <p:sp>
          <p:nvSpPr>
            <p:cNvPr id="1057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8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9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0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1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2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3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4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5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6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7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6" name="Google Shape;1057;p35"/>
          <p:cNvSpPr/>
          <p:nvPr/>
        </p:nvSpPr>
        <p:spPr>
          <a:xfrm>
            <a:off x="443484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" name="Google Shape;1058;p35"/>
          <p:cNvSpPr/>
          <p:nvPr/>
        </p:nvSpPr>
        <p:spPr>
          <a:xfrm>
            <a:off x="469561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8" name="Google Shape;1059;p35"/>
          <p:cNvSpPr/>
          <p:nvPr/>
        </p:nvSpPr>
        <p:spPr>
          <a:xfrm>
            <a:off x="495638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" name="Google Shape;1060;p35"/>
          <p:cNvSpPr/>
          <p:nvPr/>
        </p:nvSpPr>
        <p:spPr>
          <a:xfrm>
            <a:off x="521716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" name="Google Shape;1061;p35"/>
          <p:cNvSpPr/>
          <p:nvPr/>
        </p:nvSpPr>
        <p:spPr>
          <a:xfrm>
            <a:off x="547793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" name="Google Shape;1062;p35"/>
          <p:cNvSpPr/>
          <p:nvPr/>
        </p:nvSpPr>
        <p:spPr>
          <a:xfrm>
            <a:off x="573870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" name="Google Shape;1063;p35"/>
          <p:cNvSpPr/>
          <p:nvPr/>
        </p:nvSpPr>
        <p:spPr>
          <a:xfrm>
            <a:off x="599948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" name="Google Shape;1064;p35"/>
          <p:cNvSpPr/>
          <p:nvPr/>
        </p:nvSpPr>
        <p:spPr>
          <a:xfrm>
            <a:off x="626025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1065;p35"/>
          <p:cNvSpPr/>
          <p:nvPr/>
        </p:nvSpPr>
        <p:spPr>
          <a:xfrm>
            <a:off x="652102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1066;p35"/>
          <p:cNvSpPr/>
          <p:nvPr/>
        </p:nvSpPr>
        <p:spPr>
          <a:xfrm>
            <a:off x="678180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1067;p35"/>
          <p:cNvSpPr/>
          <p:nvPr/>
        </p:nvSpPr>
        <p:spPr>
          <a:xfrm>
            <a:off x="704342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7" name="Google Shape;1056;p35"/>
          <p:cNvGrpSpPr/>
          <p:nvPr/>
        </p:nvGrpSpPr>
        <p:grpSpPr>
          <a:xfrm>
            <a:off x="9355667" y="6692900"/>
            <a:ext cx="2836333" cy="101600"/>
            <a:chOff x="552125" y="2636918"/>
            <a:chExt cx="3822099" cy="175164"/>
          </a:xfrm>
        </p:grpSpPr>
        <p:sp>
          <p:nvSpPr>
            <p:cNvPr id="68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3" name="Picture 5" descr="A red oval with letters on i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271" y="234920"/>
            <a:ext cx="1245447" cy="5511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Content Placeholder 4" descr="Logo_rolon (1)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819130" y="365125"/>
            <a:ext cx="952500" cy="37147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82345" y="1000760"/>
            <a:ext cx="10262235" cy="485711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5132705" y="326390"/>
            <a:ext cx="248221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GB" altLang="en-US"/>
              <a:t>WBS gateway - Firmware</a:t>
            </a:r>
            <a:endParaRPr lang="en-GB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en-GB" sz="1865" b="1" dirty="0">
                <a:solidFill>
                  <a:schemeClr val="tx1"/>
                </a:solidFill>
                <a:effectLst/>
                <a:latin typeface="Sagona Book"/>
                <a:cs typeface="Century" panose="02040604050505020304" charset="0"/>
              </a:rPr>
              <a:t> </a:t>
            </a:r>
            <a:endParaRPr lang="en-US" altLang="en-GB" sz="1865" b="1" dirty="0">
              <a:solidFill>
                <a:schemeClr val="tx1"/>
              </a:solidFill>
              <a:effectLst/>
              <a:latin typeface="Sagona Book"/>
              <a:cs typeface="Century" panose="02040604050505020304" charset="0"/>
            </a:endParaRPr>
          </a:p>
        </p:txBody>
      </p:sp>
      <p:grpSp>
        <p:nvGrpSpPr>
          <p:cNvPr id="1056" name="Google Shape;1056;p35"/>
          <p:cNvGrpSpPr/>
          <p:nvPr/>
        </p:nvGrpSpPr>
        <p:grpSpPr>
          <a:xfrm>
            <a:off x="47413" y="6692900"/>
            <a:ext cx="2836333" cy="101600"/>
            <a:chOff x="552125" y="2636918"/>
            <a:chExt cx="3822099" cy="175164"/>
          </a:xfrm>
        </p:grpSpPr>
        <p:sp>
          <p:nvSpPr>
            <p:cNvPr id="1057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8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9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0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1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2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3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4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5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6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7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6" name="Google Shape;1057;p35"/>
          <p:cNvSpPr/>
          <p:nvPr/>
        </p:nvSpPr>
        <p:spPr>
          <a:xfrm>
            <a:off x="443484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" name="Google Shape;1058;p35"/>
          <p:cNvSpPr/>
          <p:nvPr/>
        </p:nvSpPr>
        <p:spPr>
          <a:xfrm>
            <a:off x="469561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8" name="Google Shape;1059;p35"/>
          <p:cNvSpPr/>
          <p:nvPr/>
        </p:nvSpPr>
        <p:spPr>
          <a:xfrm>
            <a:off x="495638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" name="Google Shape;1060;p35"/>
          <p:cNvSpPr/>
          <p:nvPr/>
        </p:nvSpPr>
        <p:spPr>
          <a:xfrm>
            <a:off x="521716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" name="Google Shape;1061;p35"/>
          <p:cNvSpPr/>
          <p:nvPr/>
        </p:nvSpPr>
        <p:spPr>
          <a:xfrm>
            <a:off x="547793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" name="Google Shape;1062;p35"/>
          <p:cNvSpPr/>
          <p:nvPr/>
        </p:nvSpPr>
        <p:spPr>
          <a:xfrm>
            <a:off x="573870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" name="Google Shape;1063;p35"/>
          <p:cNvSpPr/>
          <p:nvPr/>
        </p:nvSpPr>
        <p:spPr>
          <a:xfrm>
            <a:off x="599948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" name="Google Shape;1064;p35"/>
          <p:cNvSpPr/>
          <p:nvPr/>
        </p:nvSpPr>
        <p:spPr>
          <a:xfrm>
            <a:off x="626025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1065;p35"/>
          <p:cNvSpPr/>
          <p:nvPr/>
        </p:nvSpPr>
        <p:spPr>
          <a:xfrm>
            <a:off x="652102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1066;p35"/>
          <p:cNvSpPr/>
          <p:nvPr/>
        </p:nvSpPr>
        <p:spPr>
          <a:xfrm>
            <a:off x="678180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1067;p35"/>
          <p:cNvSpPr/>
          <p:nvPr/>
        </p:nvSpPr>
        <p:spPr>
          <a:xfrm>
            <a:off x="704342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7" name="Google Shape;1056;p35"/>
          <p:cNvGrpSpPr/>
          <p:nvPr/>
        </p:nvGrpSpPr>
        <p:grpSpPr>
          <a:xfrm>
            <a:off x="9355667" y="6692900"/>
            <a:ext cx="2836333" cy="101600"/>
            <a:chOff x="552125" y="2636918"/>
            <a:chExt cx="3822099" cy="175164"/>
          </a:xfrm>
        </p:grpSpPr>
        <p:sp>
          <p:nvSpPr>
            <p:cNvPr id="68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3" name="Picture 5" descr="A red oval with letters on i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271" y="234920"/>
            <a:ext cx="1245447" cy="5511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Content Placeholder 4" descr="Logo_rolon (1)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770870" y="324485"/>
            <a:ext cx="952500" cy="371475"/>
          </a:xfrm>
          <a:prstGeom prst="rect">
            <a:avLst/>
          </a:prstGeom>
        </p:spPr>
      </p:pic>
      <p:pic>
        <p:nvPicPr>
          <p:cNvPr id="2" name="Content Placeholder 1"/>
          <p:cNvPicPr>
            <a:picLocks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873250" y="565785"/>
            <a:ext cx="8566785" cy="572579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5184140" y="197485"/>
            <a:ext cx="25120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GB" altLang="en-US"/>
              <a:t>WBS gateway - Hardware</a:t>
            </a:r>
            <a:endParaRPr lang="en-GB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en-GB" sz="1865" b="1" dirty="0">
                <a:solidFill>
                  <a:schemeClr val="tx1"/>
                </a:solidFill>
                <a:effectLst/>
                <a:latin typeface="Sagona Book"/>
                <a:cs typeface="Century" panose="02040604050505020304" charset="0"/>
              </a:rPr>
              <a:t> </a:t>
            </a:r>
            <a:endParaRPr lang="en-US" altLang="en-GB" sz="1865" b="1" dirty="0">
              <a:solidFill>
                <a:schemeClr val="tx1"/>
              </a:solidFill>
              <a:effectLst/>
              <a:latin typeface="Sagona Book"/>
              <a:cs typeface="Century" panose="02040604050505020304" charset="0"/>
            </a:endParaRPr>
          </a:p>
        </p:txBody>
      </p:sp>
      <p:grpSp>
        <p:nvGrpSpPr>
          <p:cNvPr id="1056" name="Google Shape;1056;p35"/>
          <p:cNvGrpSpPr/>
          <p:nvPr/>
        </p:nvGrpSpPr>
        <p:grpSpPr>
          <a:xfrm>
            <a:off x="47413" y="6692900"/>
            <a:ext cx="2836333" cy="101600"/>
            <a:chOff x="552125" y="2636918"/>
            <a:chExt cx="3822099" cy="175164"/>
          </a:xfrm>
        </p:grpSpPr>
        <p:sp>
          <p:nvSpPr>
            <p:cNvPr id="1057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8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9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0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1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2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3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4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5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6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7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6" name="Google Shape;1057;p35"/>
          <p:cNvSpPr/>
          <p:nvPr/>
        </p:nvSpPr>
        <p:spPr>
          <a:xfrm>
            <a:off x="443484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" name="Google Shape;1058;p35"/>
          <p:cNvSpPr/>
          <p:nvPr/>
        </p:nvSpPr>
        <p:spPr>
          <a:xfrm>
            <a:off x="469561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8" name="Google Shape;1059;p35"/>
          <p:cNvSpPr/>
          <p:nvPr/>
        </p:nvSpPr>
        <p:spPr>
          <a:xfrm>
            <a:off x="495638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" name="Google Shape;1060;p35"/>
          <p:cNvSpPr/>
          <p:nvPr/>
        </p:nvSpPr>
        <p:spPr>
          <a:xfrm>
            <a:off x="521716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" name="Google Shape;1061;p35"/>
          <p:cNvSpPr/>
          <p:nvPr/>
        </p:nvSpPr>
        <p:spPr>
          <a:xfrm>
            <a:off x="547793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" name="Google Shape;1062;p35"/>
          <p:cNvSpPr/>
          <p:nvPr/>
        </p:nvSpPr>
        <p:spPr>
          <a:xfrm>
            <a:off x="573870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" name="Google Shape;1063;p35"/>
          <p:cNvSpPr/>
          <p:nvPr/>
        </p:nvSpPr>
        <p:spPr>
          <a:xfrm>
            <a:off x="599948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" name="Google Shape;1064;p35"/>
          <p:cNvSpPr/>
          <p:nvPr/>
        </p:nvSpPr>
        <p:spPr>
          <a:xfrm>
            <a:off x="626025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1065;p35"/>
          <p:cNvSpPr/>
          <p:nvPr/>
        </p:nvSpPr>
        <p:spPr>
          <a:xfrm>
            <a:off x="652102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1066;p35"/>
          <p:cNvSpPr/>
          <p:nvPr/>
        </p:nvSpPr>
        <p:spPr>
          <a:xfrm>
            <a:off x="678180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1067;p35"/>
          <p:cNvSpPr/>
          <p:nvPr/>
        </p:nvSpPr>
        <p:spPr>
          <a:xfrm>
            <a:off x="704342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7" name="Google Shape;1056;p35"/>
          <p:cNvGrpSpPr/>
          <p:nvPr/>
        </p:nvGrpSpPr>
        <p:grpSpPr>
          <a:xfrm>
            <a:off x="9355667" y="6692900"/>
            <a:ext cx="2836333" cy="101600"/>
            <a:chOff x="552125" y="2636918"/>
            <a:chExt cx="3822099" cy="175164"/>
          </a:xfrm>
        </p:grpSpPr>
        <p:sp>
          <p:nvSpPr>
            <p:cNvPr id="68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3" name="Picture 5" descr="A red oval with letters on i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271" y="234920"/>
            <a:ext cx="1245447" cy="5511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Content Placeholder 3" descr="Logo_rolon (1)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20730" y="234950"/>
            <a:ext cx="952500" cy="371475"/>
          </a:xfrm>
          <a:prstGeom prst="rect">
            <a:avLst/>
          </a:prstGeom>
        </p:spPr>
      </p:pic>
      <p:graphicFrame>
        <p:nvGraphicFramePr>
          <p:cNvPr id="14" name="Content Placeholder 13"/>
          <p:cNvGraphicFramePr/>
          <p:nvPr>
            <p:ph sz="half" idx="2"/>
          </p:nvPr>
        </p:nvGraphicFramePr>
        <p:xfrm>
          <a:off x="979805" y="985520"/>
          <a:ext cx="10540365" cy="1579880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559435"/>
                <a:gridCol w="1024255"/>
                <a:gridCol w="1390650"/>
                <a:gridCol w="3004820"/>
                <a:gridCol w="1247775"/>
                <a:gridCol w="1263015"/>
                <a:gridCol w="2050415"/>
              </a:tblGrid>
              <a:tr h="3206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S NO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NAME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PROJECT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PLAN TASK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START DATE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END DATE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COMMENTS</a:t>
                      </a:r>
                      <a:endParaRPr lang="en-GB" altLang="en-US" sz="1400"/>
                    </a:p>
                  </a:txBody>
                  <a:tcPr/>
                </a:tc>
              </a:tr>
              <a:tr h="515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/>
                        <a:t>1</a:t>
                      </a:r>
                      <a:endParaRPr lang="en-GB" alt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Rithani</a:t>
                      </a:r>
                      <a:endParaRPr 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Industrial Robot</a:t>
                      </a:r>
                      <a:endParaRPr 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Learning ROS 2</a:t>
                      </a:r>
                      <a:r>
                        <a:rPr lang="en-GB" altLang="en-US" sz="1400"/>
                        <a:t>, and try a basic project</a:t>
                      </a:r>
                      <a:endParaRPr lang="en-GB" alt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12.10.26</a:t>
                      </a:r>
                      <a:endParaRPr 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17.10.26</a:t>
                      </a:r>
                      <a:endParaRPr 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GB" altLang="en-US" sz="1400"/>
                    </a:p>
                  </a:txBody>
                  <a:tcPr marL="12700" marR="12700" marT="12700" vert="horz" anchor="t" anchorCtr="0"/>
                </a:tc>
              </a:tr>
              <a:tr h="515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/>
                        <a:t>2</a:t>
                      </a:r>
                      <a:endParaRPr lang="en-GB" alt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Rithani</a:t>
                      </a:r>
                      <a:endParaRPr 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Industrial Robot</a:t>
                      </a:r>
                      <a:endParaRPr 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Documentation of robot requirements</a:t>
                      </a:r>
                      <a:endParaRPr 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12.10.26</a:t>
                      </a:r>
                      <a:endParaRPr lang="en-US" sz="1400"/>
                    </a:p>
                    <a:p>
                      <a:pPr indent="0">
                        <a:buNone/>
                      </a:pPr>
                      <a:endParaRPr 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1</a:t>
                      </a:r>
                      <a:r>
                        <a:rPr lang="en-GB" altLang="en-US" sz="1400"/>
                        <a:t>4</a:t>
                      </a:r>
                      <a:r>
                        <a:rPr lang="en-US" sz="1400"/>
                        <a:t>.10.26</a:t>
                      </a:r>
                      <a:endParaRPr lang="en-US" sz="1400"/>
                    </a:p>
                    <a:p>
                      <a:pPr indent="0">
                        <a:buNone/>
                      </a:pPr>
                      <a:endParaRPr 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400"/>
                    </a:p>
                  </a:txBody>
                  <a:tcPr marL="12700" marR="12700" marT="12700" vert="horz" anchor="t" anchorCtr="0"/>
                </a:tc>
              </a:tr>
            </a:tbl>
          </a:graphicData>
        </a:graphic>
      </p:graphicFrame>
      <p:graphicFrame>
        <p:nvGraphicFramePr>
          <p:cNvPr id="15" name="Table 14"/>
          <p:cNvGraphicFramePr/>
          <p:nvPr/>
        </p:nvGraphicFramePr>
        <p:xfrm>
          <a:off x="946785" y="3130550"/>
          <a:ext cx="10541000" cy="3053715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607060"/>
                <a:gridCol w="1017270"/>
                <a:gridCol w="1416685"/>
                <a:gridCol w="2982595"/>
                <a:gridCol w="1243330"/>
                <a:gridCol w="1276985"/>
                <a:gridCol w="1997075"/>
              </a:tblGrid>
              <a:tr h="4413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S NO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NAME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PROJECT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TASK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START DATE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END DATE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COMMENTS</a:t>
                      </a:r>
                      <a:endParaRPr lang="en-GB" altLang="en-US" sz="1400"/>
                    </a:p>
                  </a:txBody>
                  <a:tcPr/>
                </a:tc>
              </a:tr>
              <a:tr h="7315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1</a:t>
                      </a:r>
                      <a:endParaRPr lang="en-GB" altLang="en-US" sz="1400"/>
                    </a:p>
                    <a:p>
                      <a:pPr>
                        <a:buNone/>
                      </a:pP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400"/>
                        <a:t>Rithani</a:t>
                      </a:r>
                      <a:endParaRPr lang="en-US" sz="1400"/>
                    </a:p>
                    <a:p>
                      <a:pPr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400"/>
                        <a:t>Industrial Robot</a:t>
                      </a:r>
                      <a:endParaRPr lang="en-US" sz="1400"/>
                    </a:p>
                    <a:p>
                      <a:pPr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Searching for outsourcing vendors of robot components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12.10.26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13.10.26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400"/>
                    </a:p>
                  </a:txBody>
                  <a:tcPr/>
                </a:tc>
              </a:tr>
              <a:tr h="5746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2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400"/>
                        <a:t>Rithani</a:t>
                      </a:r>
                      <a:endParaRPr lang="en-US" sz="1400"/>
                    </a:p>
                    <a:p>
                      <a:pPr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Air bag Stitch inspection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Remote destop enabling in pi, camera interfacing trial in pi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14.10.26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14.10.26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400"/>
                    </a:p>
                  </a:txBody>
                  <a:tcPr/>
                </a:tc>
              </a:tr>
              <a:tr h="5746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3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400"/>
                        <a:t>Rithani</a:t>
                      </a:r>
                      <a:endParaRPr lang="en-US" sz="1400"/>
                    </a:p>
                    <a:p>
                      <a:pPr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Gateway device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firmware task checklist review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15.10.26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24.10.26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Ongoing</a:t>
                      </a:r>
                      <a:endParaRPr lang="en-GB" altLang="en-US" sz="1400"/>
                    </a:p>
                  </a:txBody>
                  <a:tcPr/>
                </a:tc>
              </a:tr>
              <a:tr h="7315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4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400"/>
                        <a:t>Rithani</a:t>
                      </a:r>
                      <a:endParaRPr lang="en-US" sz="1400"/>
                    </a:p>
                    <a:p>
                      <a:pPr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400"/>
                        <a:t>Industrial Robot</a:t>
                      </a:r>
                      <a:endParaRPr lang="en-US" sz="1400"/>
                    </a:p>
                    <a:p>
                      <a:pPr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400"/>
                        <a:t>robot firmware ideation</a:t>
                      </a:r>
                      <a:endParaRPr lang="en-US" sz="1400"/>
                    </a:p>
                    <a:p>
                      <a:pPr>
                        <a:buNone/>
                      </a:pP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16.10.26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17.10.26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Created wbs to work on robot firmware</a:t>
                      </a:r>
                      <a:endParaRPr lang="en-GB" altLang="en-US" sz="1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Text Box 17"/>
          <p:cNvSpPr txBox="1"/>
          <p:nvPr/>
        </p:nvSpPr>
        <p:spPr>
          <a:xfrm>
            <a:off x="5394325" y="527685"/>
            <a:ext cx="1698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Planned tasks</a:t>
            </a:r>
            <a:endParaRPr lang="en-GB" altLang="en-US"/>
          </a:p>
        </p:txBody>
      </p:sp>
      <p:sp>
        <p:nvSpPr>
          <p:cNvPr id="19" name="Text Box 18"/>
          <p:cNvSpPr txBox="1"/>
          <p:nvPr/>
        </p:nvSpPr>
        <p:spPr>
          <a:xfrm>
            <a:off x="5400675" y="2716530"/>
            <a:ext cx="1698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Actual tasks</a:t>
            </a:r>
            <a:endParaRPr lang="en-GB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6" name="Google Shape;1056;p35"/>
          <p:cNvGrpSpPr/>
          <p:nvPr/>
        </p:nvGrpSpPr>
        <p:grpSpPr>
          <a:xfrm>
            <a:off x="47413" y="6692900"/>
            <a:ext cx="2836333" cy="101600"/>
            <a:chOff x="552125" y="2636918"/>
            <a:chExt cx="3822099" cy="175164"/>
          </a:xfrm>
        </p:grpSpPr>
        <p:sp>
          <p:nvSpPr>
            <p:cNvPr id="1057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8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9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0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1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2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3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4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5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6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7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6" name="Google Shape;1057;p35"/>
          <p:cNvSpPr/>
          <p:nvPr/>
        </p:nvSpPr>
        <p:spPr>
          <a:xfrm>
            <a:off x="443484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" name="Google Shape;1058;p35"/>
          <p:cNvSpPr/>
          <p:nvPr/>
        </p:nvSpPr>
        <p:spPr>
          <a:xfrm>
            <a:off x="469561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8" name="Google Shape;1059;p35"/>
          <p:cNvSpPr/>
          <p:nvPr/>
        </p:nvSpPr>
        <p:spPr>
          <a:xfrm>
            <a:off x="495638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" name="Google Shape;1060;p35"/>
          <p:cNvSpPr/>
          <p:nvPr/>
        </p:nvSpPr>
        <p:spPr>
          <a:xfrm>
            <a:off x="521716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" name="Google Shape;1061;p35"/>
          <p:cNvSpPr/>
          <p:nvPr/>
        </p:nvSpPr>
        <p:spPr>
          <a:xfrm>
            <a:off x="547793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" name="Google Shape;1062;p35"/>
          <p:cNvSpPr/>
          <p:nvPr/>
        </p:nvSpPr>
        <p:spPr>
          <a:xfrm>
            <a:off x="573870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" name="Google Shape;1063;p35"/>
          <p:cNvSpPr/>
          <p:nvPr/>
        </p:nvSpPr>
        <p:spPr>
          <a:xfrm>
            <a:off x="599948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" name="Google Shape;1064;p35"/>
          <p:cNvSpPr/>
          <p:nvPr/>
        </p:nvSpPr>
        <p:spPr>
          <a:xfrm>
            <a:off x="626025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1065;p35"/>
          <p:cNvSpPr/>
          <p:nvPr/>
        </p:nvSpPr>
        <p:spPr>
          <a:xfrm>
            <a:off x="652102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1066;p35"/>
          <p:cNvSpPr/>
          <p:nvPr/>
        </p:nvSpPr>
        <p:spPr>
          <a:xfrm>
            <a:off x="678180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1067;p35"/>
          <p:cNvSpPr/>
          <p:nvPr/>
        </p:nvSpPr>
        <p:spPr>
          <a:xfrm>
            <a:off x="704342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7" name="Google Shape;1056;p35"/>
          <p:cNvGrpSpPr/>
          <p:nvPr/>
        </p:nvGrpSpPr>
        <p:grpSpPr>
          <a:xfrm>
            <a:off x="9355667" y="6692900"/>
            <a:ext cx="2836333" cy="101600"/>
            <a:chOff x="552125" y="2636918"/>
            <a:chExt cx="3822099" cy="175164"/>
          </a:xfrm>
        </p:grpSpPr>
        <p:sp>
          <p:nvSpPr>
            <p:cNvPr id="68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3" name="Picture 5" descr="A red oval with letters on i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271" y="234920"/>
            <a:ext cx="1245447" cy="5511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Content Placeholder 3" descr="Logo_rolon (1)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750550" y="325120"/>
            <a:ext cx="952500" cy="371475"/>
          </a:xfrm>
          <a:prstGeom prst="rect">
            <a:avLst/>
          </a:prstGeom>
        </p:spPr>
      </p:pic>
      <p:pic>
        <p:nvPicPr>
          <p:cNvPr id="10" name="Content Placeholder 9"/>
          <p:cNvPicPr>
            <a:picLocks noChangeAspect="1"/>
          </p:cNvPicPr>
          <p:nvPr>
            <p:ph sz="half" idx="2"/>
          </p:nvPr>
        </p:nvPicPr>
        <p:blipFill>
          <a:blip r:embed="rId3"/>
          <a:srcRect t="35500"/>
          <a:stretch>
            <a:fillRect/>
          </a:stretch>
        </p:blipFill>
        <p:spPr>
          <a:xfrm>
            <a:off x="1987550" y="2811780"/>
            <a:ext cx="8411210" cy="3128645"/>
          </a:xfrm>
          <a:prstGeom prst="rect">
            <a:avLst/>
          </a:prstGeom>
        </p:spPr>
      </p:pic>
      <p:graphicFrame>
        <p:nvGraphicFramePr>
          <p:cNvPr id="14" name="Table 13"/>
          <p:cNvGraphicFramePr/>
          <p:nvPr/>
        </p:nvGraphicFramePr>
        <p:xfrm>
          <a:off x="979805" y="985520"/>
          <a:ext cx="10540365" cy="157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435"/>
                <a:gridCol w="1024255"/>
                <a:gridCol w="1390650"/>
                <a:gridCol w="3004820"/>
                <a:gridCol w="1247775"/>
                <a:gridCol w="1263015"/>
                <a:gridCol w="2050415"/>
              </a:tblGrid>
              <a:tr h="3206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>
                          <a:latin typeface="Cambria" panose="02040503050406030204" charset="0"/>
                          <a:cs typeface="Cambria" panose="02040503050406030204" charset="0"/>
                        </a:rPr>
                        <a:t>S NO</a:t>
                      </a:r>
                      <a:endParaRPr lang="en-GB" altLang="en-US" sz="14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>
                          <a:latin typeface="Cambria" panose="02040503050406030204" charset="0"/>
                          <a:cs typeface="Cambria" panose="02040503050406030204" charset="0"/>
                        </a:rPr>
                        <a:t>NAME</a:t>
                      </a:r>
                      <a:endParaRPr lang="en-GB" altLang="en-US" sz="14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>
                          <a:latin typeface="Cambria" panose="02040503050406030204" charset="0"/>
                          <a:cs typeface="Cambria" panose="02040503050406030204" charset="0"/>
                        </a:rPr>
                        <a:t>PROJECT</a:t>
                      </a:r>
                      <a:endParaRPr lang="en-GB" altLang="en-US" sz="14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>
                          <a:latin typeface="Cambria" panose="02040503050406030204" charset="0"/>
                          <a:cs typeface="Cambria" panose="02040503050406030204" charset="0"/>
                        </a:rPr>
                        <a:t>PLAN TASK</a:t>
                      </a:r>
                      <a:endParaRPr lang="en-GB" altLang="en-US" sz="14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>
                          <a:latin typeface="Cambria" panose="02040503050406030204" charset="0"/>
                          <a:cs typeface="Cambria" panose="02040503050406030204" charset="0"/>
                        </a:rPr>
                        <a:t>START DATE</a:t>
                      </a:r>
                      <a:endParaRPr lang="en-GB" altLang="en-US" sz="14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>
                          <a:latin typeface="Cambria" panose="02040503050406030204" charset="0"/>
                          <a:cs typeface="Cambria" panose="02040503050406030204" charset="0"/>
                        </a:rPr>
                        <a:t>END DATE</a:t>
                      </a:r>
                      <a:endParaRPr lang="en-GB" altLang="en-US" sz="14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>
                          <a:latin typeface="Cambria" panose="02040503050406030204" charset="0"/>
                          <a:cs typeface="Cambria" panose="02040503050406030204" charset="0"/>
                        </a:rPr>
                        <a:t>COMMENTS</a:t>
                      </a:r>
                      <a:endParaRPr lang="en-GB" altLang="en-US" sz="14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15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1</a:t>
                      </a:r>
                      <a:endParaRPr lang="en-GB" altLang="en-US" sz="14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Rithani</a:t>
                      </a:r>
                      <a:endParaRPr lang="en-US" sz="14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Gateway device</a:t>
                      </a:r>
                      <a:endParaRPr lang="en-US" sz="14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  <a:sym typeface="+mn-ea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Firmware checklist </a:t>
                      </a:r>
                      <a:endParaRPr lang="en-GB" altLang="en-US" sz="14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15.10.26</a:t>
                      </a:r>
                      <a:endParaRPr lang="en-GB" altLang="en-US" sz="14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24.10.26</a:t>
                      </a:r>
                      <a:endParaRPr lang="en-GB" altLang="en-US" sz="14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GB" altLang="en-US" sz="14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" name="Text Box 18"/>
          <p:cNvSpPr txBox="1"/>
          <p:nvPr/>
        </p:nvSpPr>
        <p:spPr>
          <a:xfrm>
            <a:off x="5299710" y="470535"/>
            <a:ext cx="2398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Next week plan tasks</a:t>
            </a:r>
            <a:endParaRPr lang="en-GB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4434840" y="2308860"/>
            <a:ext cx="3660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WBS for next week planned tasks</a:t>
            </a:r>
            <a:endParaRPr lang="en-GB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57;p35"/>
          <p:cNvSpPr/>
          <p:nvPr/>
        </p:nvSpPr>
        <p:spPr>
          <a:xfrm>
            <a:off x="443484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" name="Google Shape;1058;p35"/>
          <p:cNvSpPr/>
          <p:nvPr/>
        </p:nvSpPr>
        <p:spPr>
          <a:xfrm>
            <a:off x="469561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" name="Google Shape;1059;p35"/>
          <p:cNvSpPr/>
          <p:nvPr/>
        </p:nvSpPr>
        <p:spPr>
          <a:xfrm>
            <a:off x="495638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" name="Google Shape;1060;p35"/>
          <p:cNvSpPr/>
          <p:nvPr/>
        </p:nvSpPr>
        <p:spPr>
          <a:xfrm>
            <a:off x="521716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" name="Google Shape;1061;p35"/>
          <p:cNvSpPr/>
          <p:nvPr/>
        </p:nvSpPr>
        <p:spPr>
          <a:xfrm>
            <a:off x="547793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" name="Google Shape;1062;p35"/>
          <p:cNvSpPr/>
          <p:nvPr/>
        </p:nvSpPr>
        <p:spPr>
          <a:xfrm>
            <a:off x="573870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Google Shape;1063;p35"/>
          <p:cNvSpPr/>
          <p:nvPr/>
        </p:nvSpPr>
        <p:spPr>
          <a:xfrm>
            <a:off x="599948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064;p35"/>
          <p:cNvSpPr/>
          <p:nvPr/>
        </p:nvSpPr>
        <p:spPr>
          <a:xfrm>
            <a:off x="626025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065;p35"/>
          <p:cNvSpPr/>
          <p:nvPr/>
        </p:nvSpPr>
        <p:spPr>
          <a:xfrm>
            <a:off x="652102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" name="Google Shape;1066;p35"/>
          <p:cNvSpPr/>
          <p:nvPr/>
        </p:nvSpPr>
        <p:spPr>
          <a:xfrm>
            <a:off x="678180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067;p35"/>
          <p:cNvSpPr/>
          <p:nvPr/>
        </p:nvSpPr>
        <p:spPr>
          <a:xfrm>
            <a:off x="704342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" name="Google Shape;1056;p35"/>
          <p:cNvGrpSpPr/>
          <p:nvPr/>
        </p:nvGrpSpPr>
        <p:grpSpPr>
          <a:xfrm>
            <a:off x="9355667" y="6692900"/>
            <a:ext cx="2836333" cy="101600"/>
            <a:chOff x="552125" y="2636918"/>
            <a:chExt cx="3822099" cy="175164"/>
          </a:xfrm>
        </p:grpSpPr>
        <p:sp>
          <p:nvSpPr>
            <p:cNvPr id="16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7" name="Google Shape;1056;p35"/>
          <p:cNvGrpSpPr/>
          <p:nvPr/>
        </p:nvGrpSpPr>
        <p:grpSpPr>
          <a:xfrm>
            <a:off x="47413" y="6692900"/>
            <a:ext cx="2836333" cy="101600"/>
            <a:chOff x="552125" y="2636918"/>
            <a:chExt cx="3822099" cy="175164"/>
          </a:xfrm>
        </p:grpSpPr>
        <p:sp>
          <p:nvSpPr>
            <p:cNvPr id="28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41" name="Picture 5" descr="A red oval with letters on i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271" y="234920"/>
            <a:ext cx="1245447" cy="5511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" name="Content Placeholder 2" descr="Logo_rolon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760" y="234950"/>
            <a:ext cx="1412875" cy="551180"/>
          </a:xfrm>
          <a:prstGeom prst="rect">
            <a:avLst/>
          </a:prstGeom>
        </p:spPr>
      </p:pic>
      <p:graphicFrame>
        <p:nvGraphicFramePr>
          <p:cNvPr id="43" name="Content Placeholder 42"/>
          <p:cNvGraphicFramePr/>
          <p:nvPr>
            <p:ph sz="half" idx="2"/>
          </p:nvPr>
        </p:nvGraphicFramePr>
        <p:xfrm>
          <a:off x="979805" y="985520"/>
          <a:ext cx="10540365" cy="1579880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559435"/>
                <a:gridCol w="1024255"/>
                <a:gridCol w="1390650"/>
                <a:gridCol w="3004820"/>
                <a:gridCol w="1247775"/>
                <a:gridCol w="1263015"/>
                <a:gridCol w="2050415"/>
              </a:tblGrid>
              <a:tr h="3206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S NO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NAME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PROJECT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PLAN TASK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START DATE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END DATE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COMMENTS</a:t>
                      </a:r>
                      <a:endParaRPr lang="en-GB" altLang="en-US" sz="1400"/>
                    </a:p>
                  </a:txBody>
                  <a:tcPr/>
                </a:tc>
              </a:tr>
              <a:tr h="515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/>
                        <a:t>1</a:t>
                      </a:r>
                      <a:endParaRPr lang="en-US" sz="15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/>
                        <a:t>Aswin</a:t>
                      </a:r>
                      <a:endParaRPr lang="en-US" sz="15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/>
                        <a:t>Gateway Device</a:t>
                      </a:r>
                      <a:endParaRPr lang="en-US" sz="15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/>
                        <a:t>Learning and implementing enclosure design</a:t>
                      </a:r>
                      <a:endParaRPr lang="en-US" sz="15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/>
                        <a:t>12.10.26</a:t>
                      </a:r>
                      <a:endParaRPr lang="en-US" sz="15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500"/>
                        <a:t>17.10.26</a:t>
                      </a:r>
                      <a:endParaRPr lang="en-US" sz="15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500"/>
                    </a:p>
                  </a:txBody>
                  <a:tcPr marL="12700" marR="12700" marT="12700" vert="horz" anchor="t" anchorCtr="0"/>
                </a:tc>
              </a:tr>
            </a:tbl>
          </a:graphicData>
        </a:graphic>
      </p:graphicFrame>
      <p:sp>
        <p:nvSpPr>
          <p:cNvPr id="45" name="Text Box 44"/>
          <p:cNvSpPr txBox="1"/>
          <p:nvPr/>
        </p:nvSpPr>
        <p:spPr>
          <a:xfrm>
            <a:off x="5394325" y="527685"/>
            <a:ext cx="1698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Planned tasks</a:t>
            </a:r>
            <a:endParaRPr lang="en-GB" altLang="en-US"/>
          </a:p>
        </p:txBody>
      </p:sp>
      <p:sp>
        <p:nvSpPr>
          <p:cNvPr id="46" name="Text Box 45"/>
          <p:cNvSpPr txBox="1"/>
          <p:nvPr/>
        </p:nvSpPr>
        <p:spPr>
          <a:xfrm>
            <a:off x="5400675" y="2199640"/>
            <a:ext cx="1698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Actual tasks</a:t>
            </a:r>
            <a:endParaRPr lang="en-GB" altLang="en-US"/>
          </a:p>
        </p:txBody>
      </p:sp>
      <p:graphicFrame>
        <p:nvGraphicFramePr>
          <p:cNvPr id="47" name="Table 46"/>
          <p:cNvGraphicFramePr/>
          <p:nvPr/>
        </p:nvGraphicFramePr>
        <p:xfrm>
          <a:off x="979805" y="2567940"/>
          <a:ext cx="10541000" cy="3712845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607060"/>
                <a:gridCol w="1017270"/>
                <a:gridCol w="1416685"/>
                <a:gridCol w="2982595"/>
                <a:gridCol w="1243330"/>
                <a:gridCol w="1276985"/>
                <a:gridCol w="1997075"/>
              </a:tblGrid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S NO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NAME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PROJECT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TASK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START DATE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END DATE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COMMENTS</a:t>
                      </a:r>
                      <a:endParaRPr lang="en-GB" altLang="en-US" sz="1400"/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1</a:t>
                      </a:r>
                      <a:endParaRPr lang="en-GB" altLang="en-US" sz="1400"/>
                    </a:p>
                    <a:p>
                      <a:pPr>
                        <a:buNone/>
                      </a:pP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Aswin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GATEWAY DEVICE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Created assembly template and work on it with tutorials.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12.10.26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/>
                        <a:t>12.10.26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400"/>
                    </a:p>
                  </a:txBody>
                  <a:tcPr/>
                </a:tc>
              </a:tr>
              <a:tr h="4851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2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Aswin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GATEWAY DEVICE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Export the 3D files and designed the pcb reference board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12.10.26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/>
                        <a:t>13.10.26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400"/>
                    </a:p>
                  </a:txBody>
                  <a:tcPr/>
                </a:tc>
              </a:tr>
              <a:tr h="4851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3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Aswin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GATEWAY DEVICE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Verify the Dimensions and thicknes for the reference board 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13.10.26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/>
                        <a:t>13.10.26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en-GB" altLang="en-US" sz="1400"/>
                    </a:p>
                  </a:txBody>
                  <a:tcPr/>
                </a:tc>
              </a:tr>
              <a:tr h="4851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4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Aswin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GATEWAY DEVICE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Redesign the issue parts in teh pcb refence board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13.10.26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/>
                        <a:t>14.10.26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en-GB" altLang="en-US" sz="1400"/>
                    </a:p>
                  </a:txBody>
                  <a:tcPr/>
                </a:tc>
              </a:tr>
              <a:tr h="4851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5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Aswin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GATEWAY DEVICE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Designed the base plate of the enclosure and the mounting holes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14.10.26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/>
                        <a:t>14.10.26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en-GB" altLang="en-US" sz="1400"/>
                    </a:p>
                  </a:txBody>
                  <a:tcPr/>
                </a:tc>
              </a:tr>
              <a:tr h="4851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6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Aswin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GATEWAY DEVICE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Verify the Dimensions of the Base plate and design connector cutouts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15.10.26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/>
                        <a:t>16.10.26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en-GB" altLang="en-US" sz="1400"/>
                    </a:p>
                  </a:txBody>
                  <a:tcPr/>
                </a:tc>
              </a:tr>
              <a:tr h="4641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7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Aswin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GATEWAY DEVICE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Redesign the connector cutouts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16.10.26</a:t>
                      </a: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en-GB" altLang="en-US" sz="1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6" name="Google Shape;1056;p35"/>
          <p:cNvGrpSpPr/>
          <p:nvPr/>
        </p:nvGrpSpPr>
        <p:grpSpPr>
          <a:xfrm>
            <a:off x="47413" y="6692900"/>
            <a:ext cx="2836333" cy="101600"/>
            <a:chOff x="552125" y="2636918"/>
            <a:chExt cx="3822099" cy="175164"/>
          </a:xfrm>
        </p:grpSpPr>
        <p:sp>
          <p:nvSpPr>
            <p:cNvPr id="1057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8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9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0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1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2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3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4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5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6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7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6" name="Google Shape;1057;p35"/>
          <p:cNvSpPr/>
          <p:nvPr/>
        </p:nvSpPr>
        <p:spPr>
          <a:xfrm>
            <a:off x="443484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" name="Google Shape;1058;p35"/>
          <p:cNvSpPr/>
          <p:nvPr/>
        </p:nvSpPr>
        <p:spPr>
          <a:xfrm>
            <a:off x="469561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8" name="Google Shape;1059;p35"/>
          <p:cNvSpPr/>
          <p:nvPr/>
        </p:nvSpPr>
        <p:spPr>
          <a:xfrm>
            <a:off x="495638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" name="Google Shape;1060;p35"/>
          <p:cNvSpPr/>
          <p:nvPr/>
        </p:nvSpPr>
        <p:spPr>
          <a:xfrm>
            <a:off x="521716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" name="Google Shape;1061;p35"/>
          <p:cNvSpPr/>
          <p:nvPr/>
        </p:nvSpPr>
        <p:spPr>
          <a:xfrm>
            <a:off x="547793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" name="Google Shape;1062;p35"/>
          <p:cNvSpPr/>
          <p:nvPr/>
        </p:nvSpPr>
        <p:spPr>
          <a:xfrm>
            <a:off x="573870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" name="Google Shape;1063;p35"/>
          <p:cNvSpPr/>
          <p:nvPr/>
        </p:nvSpPr>
        <p:spPr>
          <a:xfrm>
            <a:off x="599948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" name="Google Shape;1064;p35"/>
          <p:cNvSpPr/>
          <p:nvPr/>
        </p:nvSpPr>
        <p:spPr>
          <a:xfrm>
            <a:off x="626025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1065;p35"/>
          <p:cNvSpPr/>
          <p:nvPr/>
        </p:nvSpPr>
        <p:spPr>
          <a:xfrm>
            <a:off x="652102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1066;p35"/>
          <p:cNvSpPr/>
          <p:nvPr/>
        </p:nvSpPr>
        <p:spPr>
          <a:xfrm>
            <a:off x="678180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1067;p35"/>
          <p:cNvSpPr/>
          <p:nvPr/>
        </p:nvSpPr>
        <p:spPr>
          <a:xfrm>
            <a:off x="704342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7" name="Google Shape;1056;p35"/>
          <p:cNvGrpSpPr/>
          <p:nvPr/>
        </p:nvGrpSpPr>
        <p:grpSpPr>
          <a:xfrm>
            <a:off x="9355667" y="6692900"/>
            <a:ext cx="2836333" cy="101600"/>
            <a:chOff x="552125" y="2636918"/>
            <a:chExt cx="3822099" cy="175164"/>
          </a:xfrm>
        </p:grpSpPr>
        <p:sp>
          <p:nvSpPr>
            <p:cNvPr id="68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3" name="Picture 5" descr="A red oval with letters on i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271" y="234920"/>
            <a:ext cx="1245447" cy="5511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Content Placeholder 3" descr="Logo_rolon (1)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819130" y="234950"/>
            <a:ext cx="952500" cy="371475"/>
          </a:xfrm>
          <a:prstGeom prst="rect">
            <a:avLst/>
          </a:prstGeom>
        </p:spPr>
      </p:pic>
      <p:graphicFrame>
        <p:nvGraphicFramePr>
          <p:cNvPr id="14" name="Table 13"/>
          <p:cNvGraphicFramePr/>
          <p:nvPr/>
        </p:nvGraphicFramePr>
        <p:xfrm>
          <a:off x="1017905" y="885825"/>
          <a:ext cx="10540365" cy="157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435"/>
                <a:gridCol w="1024255"/>
                <a:gridCol w="1390650"/>
                <a:gridCol w="3004820"/>
                <a:gridCol w="1247775"/>
                <a:gridCol w="1263015"/>
                <a:gridCol w="2050415"/>
              </a:tblGrid>
              <a:tr h="3206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>
                          <a:latin typeface="Cambria" panose="02040503050406030204" charset="0"/>
                          <a:cs typeface="Cambria" panose="02040503050406030204" charset="0"/>
                        </a:rPr>
                        <a:t>S NO</a:t>
                      </a:r>
                      <a:endParaRPr lang="en-GB" altLang="en-US" sz="14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>
                          <a:latin typeface="Cambria" panose="02040503050406030204" charset="0"/>
                          <a:cs typeface="Cambria" panose="02040503050406030204" charset="0"/>
                        </a:rPr>
                        <a:t>NAME</a:t>
                      </a:r>
                      <a:endParaRPr lang="en-GB" altLang="en-US" sz="14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>
                          <a:latin typeface="Cambria" panose="02040503050406030204" charset="0"/>
                          <a:cs typeface="Cambria" panose="02040503050406030204" charset="0"/>
                        </a:rPr>
                        <a:t>PROJECT</a:t>
                      </a:r>
                      <a:endParaRPr lang="en-GB" altLang="en-US" sz="14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>
                          <a:latin typeface="Cambria" panose="02040503050406030204" charset="0"/>
                          <a:cs typeface="Cambria" panose="02040503050406030204" charset="0"/>
                        </a:rPr>
                        <a:t>PLAN TASK</a:t>
                      </a:r>
                      <a:endParaRPr lang="en-GB" altLang="en-US" sz="14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>
                          <a:latin typeface="Cambria" panose="02040503050406030204" charset="0"/>
                          <a:cs typeface="Cambria" panose="02040503050406030204" charset="0"/>
                        </a:rPr>
                        <a:t>START DATE</a:t>
                      </a:r>
                      <a:endParaRPr lang="en-GB" altLang="en-US" sz="14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>
                          <a:latin typeface="Cambria" panose="02040503050406030204" charset="0"/>
                          <a:cs typeface="Cambria" panose="02040503050406030204" charset="0"/>
                        </a:rPr>
                        <a:t>END DATE</a:t>
                      </a:r>
                      <a:endParaRPr lang="en-GB" altLang="en-US" sz="14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>
                          <a:latin typeface="Cambria" panose="02040503050406030204" charset="0"/>
                          <a:cs typeface="Cambria" panose="02040503050406030204" charset="0"/>
                        </a:rPr>
                        <a:t>COMMENTS</a:t>
                      </a:r>
                      <a:endParaRPr lang="en-GB" altLang="en-US" sz="14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156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1</a:t>
                      </a:r>
                      <a:endParaRPr lang="en-GB" altLang="en-US" sz="14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Aswin</a:t>
                      </a:r>
                      <a:endParaRPr lang="en-GB" altLang="en-US" sz="14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Gateway device</a:t>
                      </a:r>
                      <a:endParaRPr lang="en-US" sz="14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  <a:sym typeface="+mn-ea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 b="0">
                          <a:solidFill>
                            <a:srgbClr val="000000"/>
                          </a:solidFill>
                          <a:latin typeface="Cambria" panose="02040503050406030204" charset="0"/>
                          <a:cs typeface="Cambria" panose="02040503050406030204" charset="0"/>
                        </a:rPr>
                        <a:t>Complete and verify enclosure design</a:t>
                      </a:r>
                      <a:endParaRPr lang="en-GB" altLang="en-US" sz="14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10.10.26</a:t>
                      </a:r>
                      <a:endParaRPr lang="en-GB" altLang="en-US" sz="14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29.10.26</a:t>
                      </a:r>
                      <a:endParaRPr lang="en-GB" altLang="en-US" sz="140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GB" altLang="en-US" sz="1400" b="0">
                        <a:solidFill>
                          <a:srgbClr val="000000"/>
                        </a:solidFill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12700" marR="12700" marT="12700" vert="horz" anchor="t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9" name="Text Box 18"/>
          <p:cNvSpPr txBox="1"/>
          <p:nvPr/>
        </p:nvSpPr>
        <p:spPr>
          <a:xfrm>
            <a:off x="5016500" y="417830"/>
            <a:ext cx="2398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Next week plan tasks</a:t>
            </a:r>
            <a:endParaRPr lang="en-GB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3"/>
          <a:srcRect b="14213"/>
          <a:stretch>
            <a:fillRect/>
          </a:stretch>
        </p:blipFill>
        <p:spPr>
          <a:xfrm>
            <a:off x="2959735" y="2200910"/>
            <a:ext cx="6656705" cy="409321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4434840" y="1777365"/>
            <a:ext cx="3660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WBS for next week planned tasks</a:t>
            </a:r>
            <a:endParaRPr lang="en-GB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57;p35"/>
          <p:cNvSpPr/>
          <p:nvPr/>
        </p:nvSpPr>
        <p:spPr>
          <a:xfrm>
            <a:off x="443484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" name="Google Shape;1058;p35"/>
          <p:cNvSpPr/>
          <p:nvPr/>
        </p:nvSpPr>
        <p:spPr>
          <a:xfrm>
            <a:off x="469561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" name="Google Shape;1059;p35"/>
          <p:cNvSpPr/>
          <p:nvPr/>
        </p:nvSpPr>
        <p:spPr>
          <a:xfrm>
            <a:off x="495638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" name="Google Shape;1060;p35"/>
          <p:cNvSpPr/>
          <p:nvPr/>
        </p:nvSpPr>
        <p:spPr>
          <a:xfrm>
            <a:off x="521716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" name="Google Shape;1061;p35"/>
          <p:cNvSpPr/>
          <p:nvPr/>
        </p:nvSpPr>
        <p:spPr>
          <a:xfrm>
            <a:off x="547793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" name="Google Shape;1062;p35"/>
          <p:cNvSpPr/>
          <p:nvPr/>
        </p:nvSpPr>
        <p:spPr>
          <a:xfrm>
            <a:off x="573870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Google Shape;1063;p35"/>
          <p:cNvSpPr/>
          <p:nvPr/>
        </p:nvSpPr>
        <p:spPr>
          <a:xfrm>
            <a:off x="599948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064;p35"/>
          <p:cNvSpPr/>
          <p:nvPr/>
        </p:nvSpPr>
        <p:spPr>
          <a:xfrm>
            <a:off x="626025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065;p35"/>
          <p:cNvSpPr/>
          <p:nvPr/>
        </p:nvSpPr>
        <p:spPr>
          <a:xfrm>
            <a:off x="652102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" name="Google Shape;1066;p35"/>
          <p:cNvSpPr/>
          <p:nvPr/>
        </p:nvSpPr>
        <p:spPr>
          <a:xfrm>
            <a:off x="678180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067;p35"/>
          <p:cNvSpPr/>
          <p:nvPr/>
        </p:nvSpPr>
        <p:spPr>
          <a:xfrm>
            <a:off x="704342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" name="Google Shape;1056;p35"/>
          <p:cNvGrpSpPr/>
          <p:nvPr/>
        </p:nvGrpSpPr>
        <p:grpSpPr>
          <a:xfrm>
            <a:off x="9355667" y="6692900"/>
            <a:ext cx="2836333" cy="101600"/>
            <a:chOff x="552125" y="2636918"/>
            <a:chExt cx="3822099" cy="175164"/>
          </a:xfrm>
        </p:grpSpPr>
        <p:sp>
          <p:nvSpPr>
            <p:cNvPr id="16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7" name="Google Shape;1056;p35"/>
          <p:cNvGrpSpPr/>
          <p:nvPr/>
        </p:nvGrpSpPr>
        <p:grpSpPr>
          <a:xfrm>
            <a:off x="47413" y="6692900"/>
            <a:ext cx="2836333" cy="101600"/>
            <a:chOff x="552125" y="2636918"/>
            <a:chExt cx="3822099" cy="175164"/>
          </a:xfrm>
        </p:grpSpPr>
        <p:sp>
          <p:nvSpPr>
            <p:cNvPr id="28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41" name="Picture 5" descr="A red oval with letters on i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271" y="234920"/>
            <a:ext cx="1245447" cy="5511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2" name="Content Placeholder 2" descr="Logo_rolon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760" y="234950"/>
            <a:ext cx="1412875" cy="551180"/>
          </a:xfrm>
          <a:prstGeom prst="rect">
            <a:avLst/>
          </a:prstGeom>
        </p:spPr>
      </p:pic>
      <p:graphicFrame>
        <p:nvGraphicFramePr>
          <p:cNvPr id="43" name="Content Placeholder 42"/>
          <p:cNvGraphicFramePr/>
          <p:nvPr>
            <p:ph sz="half" idx="2"/>
          </p:nvPr>
        </p:nvGraphicFramePr>
        <p:xfrm>
          <a:off x="942975" y="1157605"/>
          <a:ext cx="10540365" cy="2041525"/>
        </p:xfrm>
        <a:graphic>
          <a:graphicData uri="http://schemas.openxmlformats.org/drawingml/2006/table">
            <a:tbl>
              <a:tblPr firstRow="1">
                <a:tableStyleId>{69C7853C-536D-4A76-A0AE-DD22124D55A5}</a:tableStyleId>
              </a:tblPr>
              <a:tblGrid>
                <a:gridCol w="559435"/>
                <a:gridCol w="1024255"/>
                <a:gridCol w="1390650"/>
                <a:gridCol w="3004820"/>
                <a:gridCol w="1247775"/>
                <a:gridCol w="1263015"/>
                <a:gridCol w="2050415"/>
              </a:tblGrid>
              <a:tr h="2743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200"/>
                        <a:t>S NO</a:t>
                      </a:r>
                      <a:endParaRPr lang="en-GB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200"/>
                        <a:t>NAME</a:t>
                      </a:r>
                      <a:endParaRPr lang="en-GB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200"/>
                        <a:t>PROJECT</a:t>
                      </a:r>
                      <a:endParaRPr lang="en-GB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200"/>
                        <a:t>PLAN TASK</a:t>
                      </a:r>
                      <a:endParaRPr lang="en-GB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200"/>
                        <a:t>START DATE</a:t>
                      </a:r>
                      <a:endParaRPr lang="en-GB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200"/>
                        <a:t>END DATE</a:t>
                      </a:r>
                      <a:endParaRPr lang="en-GB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200"/>
                        <a:t>COMMENTS</a:t>
                      </a:r>
                      <a:endParaRPr lang="en-GB" altLang="en-US" sz="1200"/>
                    </a:p>
                  </a:txBody>
                  <a:tcPr/>
                </a:tc>
              </a:tr>
              <a:tr h="4851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/>
                        <a:t>1</a:t>
                      </a:r>
                      <a:endParaRPr lang="en-GB" alt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Noufal</a:t>
                      </a:r>
                      <a:endParaRPr 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Industrial Robot</a:t>
                      </a:r>
                      <a:endParaRPr 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Requirement collection for the robot</a:t>
                      </a:r>
                      <a:endParaRPr 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12.10.26</a:t>
                      </a:r>
                      <a:endParaRPr lang="en-US" sz="1400"/>
                    </a:p>
                    <a:p>
                      <a:pPr indent="0">
                        <a:buNone/>
                      </a:pPr>
                      <a:endParaRPr 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1</a:t>
                      </a:r>
                      <a:r>
                        <a:rPr lang="en-GB" altLang="en-US" sz="1400"/>
                        <a:t>4</a:t>
                      </a:r>
                      <a:r>
                        <a:rPr lang="en-US" sz="1400"/>
                        <a:t>.10.26</a:t>
                      </a:r>
                      <a:endParaRPr lang="en-US" sz="1400"/>
                    </a:p>
                    <a:p>
                      <a:pPr indent="0">
                        <a:buNone/>
                      </a:pPr>
                      <a:endParaRPr 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400"/>
                    </a:p>
                  </a:txBody>
                  <a:tcPr marL="12700" marR="12700" marT="12700" vert="horz" anchor="t" anchorCtr="0"/>
                </a:tc>
              </a:tr>
              <a:tr h="3117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/>
                        <a:t>2</a:t>
                      </a:r>
                      <a:endParaRPr lang="en-GB" alt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Noufal</a:t>
                      </a:r>
                      <a:endParaRPr 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Industrial Robot</a:t>
                      </a:r>
                      <a:endParaRPr 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/>
                        <a:t>Initiate </a:t>
                      </a:r>
                      <a:r>
                        <a:rPr lang="en-US" sz="1400"/>
                        <a:t>AC servo testing</a:t>
                      </a:r>
                      <a:endParaRPr 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/>
                        <a:t>15.10.26</a:t>
                      </a:r>
                      <a:endParaRPr lang="en-GB" alt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/>
                        <a:t>17.10.26</a:t>
                      </a:r>
                      <a:endParaRPr lang="en-GB" alt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400"/>
                    </a:p>
                  </a:txBody>
                  <a:tcPr marL="12700" marR="12700" marT="12700" vert="horz" anchor="t" anchorCtr="0"/>
                </a:tc>
              </a:tr>
              <a:tr h="4851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/>
                        <a:t>3</a:t>
                      </a:r>
                      <a:endParaRPr lang="en-GB" alt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Noufal</a:t>
                      </a:r>
                      <a:endParaRPr 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Air bag Stitch inspection</a:t>
                      </a:r>
                      <a:endParaRPr 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/>
                        <a:t>Explanation of the project to SMD people</a:t>
                      </a:r>
                      <a:endParaRPr lang="en-GB" alt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/>
                        <a:t>12.10.26</a:t>
                      </a:r>
                      <a:endParaRPr lang="en-GB" alt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/>
                        <a:t>12.10.26</a:t>
                      </a:r>
                      <a:endParaRPr lang="en-GB" altLang="en-US" sz="1400"/>
                    </a:p>
                    <a:p>
                      <a:pPr indent="0">
                        <a:buNone/>
                      </a:pPr>
                      <a:endParaRPr lang="en-GB" alt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400"/>
                    </a:p>
                  </a:txBody>
                  <a:tcPr marL="12700" marR="12700" marT="12700" vert="horz" anchor="t" anchorCtr="0"/>
                </a:tc>
              </a:tr>
              <a:tr h="4851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/>
                        <a:t>4</a:t>
                      </a:r>
                      <a:endParaRPr lang="en-GB" alt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Noufal</a:t>
                      </a:r>
                      <a:endParaRPr 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400"/>
                        <a:t>Air bag Stitch inspection</a:t>
                      </a:r>
                      <a:endParaRPr 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/>
                        <a:t>Conduct weekly meeting on stich detection project progress</a:t>
                      </a:r>
                      <a:endParaRPr lang="en-GB" alt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/>
                        <a:t>16.10.26</a:t>
                      </a:r>
                      <a:endParaRPr lang="en-GB" alt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/>
                        <a:t>16.10.26</a:t>
                      </a:r>
                      <a:endParaRPr lang="en-GB" altLang="en-US" sz="1400"/>
                    </a:p>
                    <a:p>
                      <a:pPr indent="0">
                        <a:buNone/>
                      </a:pPr>
                      <a:endParaRPr lang="en-GB" altLang="en-US" sz="1400"/>
                    </a:p>
                  </a:txBody>
                  <a:tcPr marL="12700" marR="12700" marT="12700" vert="horz" anchor="t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sz="1400"/>
                    </a:p>
                  </a:txBody>
                  <a:tcPr marL="12700" marR="12700" marT="12700" vert="horz" anchor="t" anchorCtr="0"/>
                </a:tc>
              </a:tr>
            </a:tbl>
          </a:graphicData>
        </a:graphic>
      </p:graphicFrame>
      <p:sp>
        <p:nvSpPr>
          <p:cNvPr id="45" name="Text Box 44"/>
          <p:cNvSpPr txBox="1"/>
          <p:nvPr/>
        </p:nvSpPr>
        <p:spPr>
          <a:xfrm>
            <a:off x="5344795" y="557530"/>
            <a:ext cx="1698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Planned tasks</a:t>
            </a:r>
            <a:endParaRPr lang="en-GB" altLang="en-US"/>
          </a:p>
        </p:txBody>
      </p:sp>
      <p:sp>
        <p:nvSpPr>
          <p:cNvPr id="46" name="Text Box 45"/>
          <p:cNvSpPr txBox="1"/>
          <p:nvPr/>
        </p:nvSpPr>
        <p:spPr>
          <a:xfrm>
            <a:off x="5445125" y="3555365"/>
            <a:ext cx="1698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Actual tasks</a:t>
            </a:r>
            <a:endParaRPr lang="en-GB" altLang="en-US"/>
          </a:p>
        </p:txBody>
      </p:sp>
      <p:graphicFrame>
        <p:nvGraphicFramePr>
          <p:cNvPr id="47" name="Table 46"/>
          <p:cNvGraphicFramePr/>
          <p:nvPr/>
        </p:nvGraphicFramePr>
        <p:xfrm>
          <a:off x="901065" y="4269105"/>
          <a:ext cx="10541000" cy="3712845"/>
        </p:xfrm>
        <a:graphic>
          <a:graphicData uri="http://schemas.openxmlformats.org/drawingml/2006/table">
            <a:tbl>
              <a:tblPr firstRow="1">
                <a:tableStyleId>{08FB837D-C827-4EFA-A057-4D05807E0F7C}</a:tableStyleId>
              </a:tblPr>
              <a:tblGrid>
                <a:gridCol w="607060"/>
                <a:gridCol w="1017270"/>
                <a:gridCol w="1416685"/>
                <a:gridCol w="2982595"/>
                <a:gridCol w="1243330"/>
                <a:gridCol w="1276985"/>
                <a:gridCol w="1997075"/>
              </a:tblGrid>
              <a:tr h="3048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S NO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NAME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PROJECT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TASK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START DATE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END DATE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COMMENTS</a:t>
                      </a:r>
                      <a:endParaRPr lang="en-GB" altLang="en-US" sz="1400"/>
                    </a:p>
                  </a:txBody>
                  <a:tcPr/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1</a:t>
                      </a:r>
                      <a:endParaRPr lang="en-GB" altLang="en-US" sz="1400"/>
                    </a:p>
                    <a:p>
                      <a:pPr>
                        <a:buNone/>
                      </a:pP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/>
                        <a:t>Noufal</a:t>
                      </a:r>
                      <a:endParaRPr lang="en-GB" alt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>
                          <a:sym typeface="+mn-ea"/>
                        </a:rPr>
                        <a:t>Air bag Stitch inspection</a:t>
                      </a:r>
                      <a:endParaRPr lang="en-GB" alt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/>
                        <a:t>Raspberry pi integration with ribbon camera, OS re installation</a:t>
                      </a:r>
                      <a:endParaRPr lang="en-GB" alt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/>
                        <a:t>12.10.26</a:t>
                      </a:r>
                      <a:endParaRPr lang="en-GB" alt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1400"/>
                        <a:t>31.10.26</a:t>
                      </a:r>
                      <a:endParaRPr lang="en-GB" alt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400"/>
                    </a:p>
                  </a:txBody>
                  <a:tcPr/>
                </a:tc>
              </a:tr>
              <a:tr h="4851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1400"/>
                        <a:t>2</a:t>
                      </a:r>
                      <a:endParaRPr lang="en-GB" altLang="en-US" sz="1400"/>
                    </a:p>
                  </a:txBody>
                  <a:tcPr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/>
                        <a:t>Noufal</a:t>
                      </a:r>
                      <a:endParaRPr lang="en-GB" alt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/>
                        <a:t>Robot</a:t>
                      </a:r>
                      <a:endParaRPr lang="en-GB" alt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/>
                        <a:t>Firmware ideation and WBS provided</a:t>
                      </a:r>
                      <a:endParaRPr lang="en-GB" alt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GB" altLang="en-US" sz="1400"/>
                        <a:t>16.10.26</a:t>
                      </a:r>
                      <a:endParaRPr lang="en-GB" alt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GB" altLang="en-US" sz="1400"/>
                        <a:t>17.10.26</a:t>
                      </a:r>
                      <a:endParaRPr lang="en-GB" altLang="en-US" sz="1400"/>
                    </a:p>
                  </a:txBody>
                  <a:tcPr marL="12700" marR="12700" marT="12700" vert="horz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4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056;p35"/>
          <p:cNvGrpSpPr/>
          <p:nvPr/>
        </p:nvGrpSpPr>
        <p:grpSpPr>
          <a:xfrm>
            <a:off x="47413" y="6692900"/>
            <a:ext cx="2836333" cy="101600"/>
            <a:chOff x="552125" y="2636918"/>
            <a:chExt cx="3822099" cy="175164"/>
          </a:xfrm>
        </p:grpSpPr>
        <p:sp>
          <p:nvSpPr>
            <p:cNvPr id="5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" name="Google Shape;1057;p35"/>
          <p:cNvSpPr/>
          <p:nvPr/>
        </p:nvSpPr>
        <p:spPr>
          <a:xfrm>
            <a:off x="443484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" name="Google Shape;1058;p35"/>
          <p:cNvSpPr/>
          <p:nvPr/>
        </p:nvSpPr>
        <p:spPr>
          <a:xfrm>
            <a:off x="469561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" name="Google Shape;1059;p35"/>
          <p:cNvSpPr/>
          <p:nvPr/>
        </p:nvSpPr>
        <p:spPr>
          <a:xfrm>
            <a:off x="495638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" name="Google Shape;1060;p35"/>
          <p:cNvSpPr/>
          <p:nvPr/>
        </p:nvSpPr>
        <p:spPr>
          <a:xfrm>
            <a:off x="521716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1061;p35"/>
          <p:cNvSpPr/>
          <p:nvPr/>
        </p:nvSpPr>
        <p:spPr>
          <a:xfrm>
            <a:off x="547793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1062;p35"/>
          <p:cNvSpPr/>
          <p:nvPr/>
        </p:nvSpPr>
        <p:spPr>
          <a:xfrm>
            <a:off x="573870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1063;p35"/>
          <p:cNvSpPr/>
          <p:nvPr/>
        </p:nvSpPr>
        <p:spPr>
          <a:xfrm>
            <a:off x="599948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" name="Google Shape;1064;p35"/>
          <p:cNvSpPr/>
          <p:nvPr/>
        </p:nvSpPr>
        <p:spPr>
          <a:xfrm>
            <a:off x="626025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1065;p35"/>
          <p:cNvSpPr/>
          <p:nvPr/>
        </p:nvSpPr>
        <p:spPr>
          <a:xfrm>
            <a:off x="652102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1066;p35"/>
          <p:cNvSpPr/>
          <p:nvPr/>
        </p:nvSpPr>
        <p:spPr>
          <a:xfrm>
            <a:off x="678180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" name="Google Shape;1067;p35"/>
          <p:cNvSpPr/>
          <p:nvPr/>
        </p:nvSpPr>
        <p:spPr>
          <a:xfrm>
            <a:off x="704342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7" name="Google Shape;1056;p35"/>
          <p:cNvGrpSpPr/>
          <p:nvPr/>
        </p:nvGrpSpPr>
        <p:grpSpPr>
          <a:xfrm>
            <a:off x="9355667" y="6692900"/>
            <a:ext cx="2836333" cy="101600"/>
            <a:chOff x="552125" y="2636918"/>
            <a:chExt cx="3822099" cy="175164"/>
          </a:xfrm>
        </p:grpSpPr>
        <p:sp>
          <p:nvSpPr>
            <p:cNvPr id="28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37897" name="Picture 5" descr="A red oval with letters on i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271" y="234920"/>
            <a:ext cx="1245447" cy="5511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Content Placeholder 2" descr="Logo_rolon (1)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819130" y="414655"/>
            <a:ext cx="952500" cy="371475"/>
          </a:xfrm>
          <a:prstGeom prst="rect">
            <a:avLst/>
          </a:prstGeom>
        </p:spPr>
      </p:pic>
      <p:graphicFrame>
        <p:nvGraphicFramePr>
          <p:cNvPr id="40" name="Content Placeholder 39"/>
          <p:cNvGraphicFramePr/>
          <p:nvPr>
            <p:ph sz="half" idx="2"/>
          </p:nvPr>
        </p:nvGraphicFramePr>
        <p:xfrm>
          <a:off x="829945" y="1252220"/>
          <a:ext cx="10673715" cy="4747895"/>
        </p:xfrm>
        <a:graphic>
          <a:graphicData uri="http://schemas.openxmlformats.org/drawingml/2006/table">
            <a:tbl>
              <a:tblPr/>
              <a:tblGrid>
                <a:gridCol w="799465"/>
                <a:gridCol w="1107440"/>
                <a:gridCol w="1547495"/>
                <a:gridCol w="1352550"/>
                <a:gridCol w="1092200"/>
                <a:gridCol w="1464945"/>
                <a:gridCol w="1029970"/>
                <a:gridCol w="1144270"/>
                <a:gridCol w="1135380"/>
              </a:tblGrid>
              <a:tr h="522605">
                <a:tc gridSpan="9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GB" sz="1800" b="1" u="sng" dirty="0">
                          <a:solidFill>
                            <a:srgbClr val="FFFFFF"/>
                          </a:solidFill>
                          <a:latin typeface="Cambria" panose="02040503050406030204" charset="0"/>
                          <a:cs typeface="Cambria" panose="02040503050406030204" charset="0"/>
                          <a:sym typeface="+mn-ea"/>
                        </a:rPr>
                        <a:t>UNIVERSAL GATEWAY DEVICE COST DETAILS</a:t>
                      </a:r>
                      <a:endParaRPr lang="en-GB" sz="1800" b="1" i="0" u="sng" dirty="0">
                        <a:solidFill>
                          <a:srgbClr val="FFFFFF"/>
                        </a:solidFill>
                        <a:latin typeface="Cambria" panose="02040503050406030204" charset="0"/>
                        <a:ea typeface="Arial" panose="020B0604020202020204"/>
                        <a:cs typeface="Cambria" panose="02040503050406030204" charset="0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814705"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 No.</a:t>
                      </a:r>
                      <a:endParaRPr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Milestone</a:t>
                      </a:r>
                      <a:br>
                        <a:rPr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Payment %</a:t>
                      </a:r>
                      <a:endParaRPr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Milestone Payment Description</a:t>
                      </a:r>
                      <a:endParaRPr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Amount (₹)</a:t>
                      </a:r>
                      <a:endParaRPr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Planned Invoice Date</a:t>
                      </a:r>
                      <a:endParaRPr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Actual Invoice Date</a:t>
                      </a:r>
                      <a:endParaRPr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Invoice No.</a:t>
                      </a:r>
                      <a:endParaRPr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Payment Status</a:t>
                      </a:r>
                      <a:endParaRPr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Remark</a:t>
                      </a:r>
                      <a:endParaRPr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982980">
                <a:tc>
                  <a:txBody>
                    <a:bodyPr/>
                    <a:p>
                      <a:pPr algn="ctr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0%</a:t>
                      </a:r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PHASE 1 DEVICE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₹</a:t>
                      </a:r>
                      <a:r>
                        <a:rPr lang="en-GB" sz="12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6,000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NOV</a:t>
                      </a:r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-2026 </a:t>
                      </a:r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Pending</a:t>
                      </a:r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WAITING FOR APPROVAL AT SMD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982980">
                <a:tc>
                  <a:txBody>
                    <a:bodyPr/>
                    <a:p>
                      <a:pPr algn="ctr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IN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%</a:t>
                      </a:r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PHASE 2 DEVICE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₹</a:t>
                      </a:r>
                      <a:r>
                        <a:rPr lang="en-GB" sz="12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29,000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NOV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-2026 </a:t>
                      </a:r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Pending</a:t>
                      </a:r>
                      <a:endParaRPr lang="en-IN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WAITING FOR APPROVAL AT SMD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69975">
                <a:tc>
                  <a:txBody>
                    <a:bodyPr/>
                    <a:p>
                      <a:pPr algn="ctr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</a:t>
                      </a:r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IN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%</a:t>
                      </a:r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WORK BENCH COMPONENTS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₹</a:t>
                      </a:r>
                      <a:r>
                        <a:rPr lang="en-GB" sz="12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85,753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NOV</a:t>
                      </a:r>
                      <a:r>
                        <a:rPr sz="12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-2026 </a:t>
                      </a:r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Pending</a:t>
                      </a:r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altLang="en-IN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WAITING FOR APPROVAL FROM MD</a:t>
                      </a:r>
                      <a:endParaRPr lang="en-GB" altLang="en-IN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74650"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Total</a:t>
                      </a:r>
                      <a:endParaRPr sz="12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IN" sz="12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0%</a:t>
                      </a:r>
                      <a:endParaRPr lang="en-IN" sz="12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200" b="1" i="0">
                        <a:solidFill>
                          <a:schemeClr val="tx1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₹</a:t>
                      </a:r>
                      <a:r>
                        <a:rPr lang="en-GB" sz="1200"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1,17,753</a:t>
                      </a:r>
                      <a:endParaRPr lang="en-GB" sz="12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2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2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2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12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endParaRPr sz="12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oogle Shape;1056;p35"/>
          <p:cNvGrpSpPr/>
          <p:nvPr/>
        </p:nvGrpSpPr>
        <p:grpSpPr>
          <a:xfrm>
            <a:off x="47413" y="6692900"/>
            <a:ext cx="2836333" cy="101600"/>
            <a:chOff x="552125" y="2636918"/>
            <a:chExt cx="3822099" cy="175164"/>
          </a:xfrm>
        </p:grpSpPr>
        <p:sp>
          <p:nvSpPr>
            <p:cNvPr id="5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" name="Google Shape;1057;p35"/>
          <p:cNvSpPr/>
          <p:nvPr/>
        </p:nvSpPr>
        <p:spPr>
          <a:xfrm>
            <a:off x="443484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" name="Google Shape;1058;p35"/>
          <p:cNvSpPr/>
          <p:nvPr/>
        </p:nvSpPr>
        <p:spPr>
          <a:xfrm>
            <a:off x="469561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" name="Google Shape;1059;p35"/>
          <p:cNvSpPr/>
          <p:nvPr/>
        </p:nvSpPr>
        <p:spPr>
          <a:xfrm>
            <a:off x="495638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" name="Google Shape;1060;p35"/>
          <p:cNvSpPr/>
          <p:nvPr/>
        </p:nvSpPr>
        <p:spPr>
          <a:xfrm>
            <a:off x="521716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1061;p35"/>
          <p:cNvSpPr/>
          <p:nvPr/>
        </p:nvSpPr>
        <p:spPr>
          <a:xfrm>
            <a:off x="547793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1062;p35"/>
          <p:cNvSpPr/>
          <p:nvPr/>
        </p:nvSpPr>
        <p:spPr>
          <a:xfrm>
            <a:off x="573870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1063;p35"/>
          <p:cNvSpPr/>
          <p:nvPr/>
        </p:nvSpPr>
        <p:spPr>
          <a:xfrm>
            <a:off x="599948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" name="Google Shape;1064;p35"/>
          <p:cNvSpPr/>
          <p:nvPr/>
        </p:nvSpPr>
        <p:spPr>
          <a:xfrm>
            <a:off x="626025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1065;p35"/>
          <p:cNvSpPr/>
          <p:nvPr/>
        </p:nvSpPr>
        <p:spPr>
          <a:xfrm>
            <a:off x="652102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1066;p35"/>
          <p:cNvSpPr/>
          <p:nvPr/>
        </p:nvSpPr>
        <p:spPr>
          <a:xfrm>
            <a:off x="678180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6" name="Google Shape;1067;p35"/>
          <p:cNvSpPr/>
          <p:nvPr/>
        </p:nvSpPr>
        <p:spPr>
          <a:xfrm>
            <a:off x="704342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7" name="Google Shape;1056;p35"/>
          <p:cNvGrpSpPr/>
          <p:nvPr/>
        </p:nvGrpSpPr>
        <p:grpSpPr>
          <a:xfrm>
            <a:off x="9355667" y="6692900"/>
            <a:ext cx="2836333" cy="101600"/>
            <a:chOff x="552125" y="2636918"/>
            <a:chExt cx="3822099" cy="175164"/>
          </a:xfrm>
        </p:grpSpPr>
        <p:sp>
          <p:nvSpPr>
            <p:cNvPr id="28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pic>
        <p:nvPicPr>
          <p:cNvPr id="37897" name="Picture 5" descr="A red oval with letters on i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271" y="234920"/>
            <a:ext cx="1245447" cy="5511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Content Placeholder 2" descr="Logo_rolon (1)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819130" y="337185"/>
            <a:ext cx="952500" cy="371475"/>
          </a:xfrm>
          <a:prstGeom prst="rect">
            <a:avLst/>
          </a:prstGeom>
        </p:spPr>
      </p:pic>
      <p:graphicFrame>
        <p:nvGraphicFramePr>
          <p:cNvPr id="41" name="Content Placeholder 40"/>
          <p:cNvGraphicFramePr/>
          <p:nvPr>
            <p:ph sz="half" idx="2"/>
          </p:nvPr>
        </p:nvGraphicFramePr>
        <p:xfrm>
          <a:off x="905510" y="786130"/>
          <a:ext cx="10689590" cy="5763260"/>
        </p:xfrm>
        <a:graphic>
          <a:graphicData uri="http://schemas.openxmlformats.org/drawingml/2006/table">
            <a:tbl>
              <a:tblPr/>
              <a:tblGrid>
                <a:gridCol w="430530"/>
                <a:gridCol w="1616075"/>
                <a:gridCol w="796290"/>
                <a:gridCol w="1082675"/>
                <a:gridCol w="1057275"/>
                <a:gridCol w="1075690"/>
                <a:gridCol w="1082675"/>
                <a:gridCol w="1081405"/>
                <a:gridCol w="1083945"/>
                <a:gridCol w="1383030"/>
              </a:tblGrid>
              <a:tr h="1435100"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 No.</a:t>
                      </a:r>
                      <a:endParaRPr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Vendor</a:t>
                      </a:r>
                      <a:endParaRPr lang="en-GB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Cost</a:t>
                      </a:r>
                      <a:endParaRPr lang="en-GB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PO Stage 1: quotation and vendor details collection</a:t>
                      </a:r>
                      <a:endParaRPr lang="en-GB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PO Stage 2: vendor code creation</a:t>
                      </a:r>
                      <a:endParaRPr lang="en-GB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PO Stage 3: Component info creation</a:t>
                      </a:r>
                      <a:endParaRPr lang="en-GB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PO Stage 4:</a:t>
                      </a:r>
                      <a:endParaRPr lang="en-GB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  <a:p>
                      <a:pPr algn="ctr" fontAlgn="ctr"/>
                      <a:r>
                        <a:rPr lang="en-GB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PO generation</a:t>
                      </a:r>
                      <a:endParaRPr lang="en-GB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PO Stage 5:</a:t>
                      </a:r>
                      <a:endParaRPr lang="en-GB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GB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profama invoice from vendor</a:t>
                      </a:r>
                      <a:endParaRPr lang="en-GB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PO Stage 6:</a:t>
                      </a:r>
                      <a:endParaRPr lang="en-GB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GB"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payment from our side</a:t>
                      </a:r>
                      <a:endParaRPr lang="en-GB"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Remark</a:t>
                      </a:r>
                      <a:endParaRPr sz="1200" b="1" i="0">
                        <a:solidFill>
                          <a:srgbClr val="FFFFFF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34340">
                <a:tc>
                  <a:txBody>
                    <a:bodyPr/>
                    <a:p>
                      <a:pPr algn="ctr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Robu - gateway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31,833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1" i="0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</a:t>
                      </a:r>
                      <a:endParaRPr lang="en-GB" sz="1200" b="1" i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</a:t>
                      </a:r>
                      <a:endParaRPr lang="en-GB" sz="1200" b="1" i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</a:t>
                      </a:r>
                      <a:endParaRPr lang="en-GB" sz="1200" b="1" i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 OCT 5</a:t>
                      </a:r>
                      <a:endParaRPr lang="en-GB" sz="1200" b="1" i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r>
                        <a:rPr lang="en-GB" sz="12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 OCT 14</a:t>
                      </a:r>
                      <a:endParaRPr lang="en-GB" sz="1200" b="1" i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800" b="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in stock - 7 days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  <a:p>
                      <a:pPr algn="ctr" fontAlgn="ctr"/>
                      <a:r>
                        <a:rPr 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out stock - 40 days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/>
                    <a:p>
                      <a:pPr algn="ctr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Sharvi - gateway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3,833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</a:t>
                      </a:r>
                      <a:endParaRPr lang="en-GB" sz="1200" b="1" i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</a:t>
                      </a:r>
                      <a:endParaRPr lang="en-GB" sz="1200" b="1" i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</a:t>
                      </a:r>
                      <a:endParaRPr lang="en-GB" sz="1200" b="1" i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 OCT 5</a:t>
                      </a:r>
                      <a:endParaRPr lang="en-GB" sz="1200" b="1" i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r>
                        <a:rPr lang="en-GB" sz="12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 OCT 15</a:t>
                      </a:r>
                      <a:r>
                        <a:rPr lang="en-GB" sz="1800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endParaRPr lang="en-GB" sz="1800" b="0" i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800" b="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Vendor side waiting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p>
                      <a:pPr algn="ctr" fontAlgn="ctr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</a:t>
                      </a:r>
                      <a:endParaRPr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Element14 - gateway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2,489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</a:t>
                      </a:r>
                      <a:endParaRPr lang="en-GB" sz="1200" b="1" i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</a:t>
                      </a:r>
                      <a:endParaRPr lang="en-GB" sz="1200" b="1" i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2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 OCT 6</a:t>
                      </a:r>
                      <a:endParaRPr lang="en-GB" sz="1200" b="1" i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sz="1800" b="0" i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</a:rPr>
                        <a:t> </a:t>
                      </a:r>
                      <a:r>
                        <a:rPr sz="1800" b="0" i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</a:rPr>
                        <a:t>⏳</a:t>
                      </a:r>
                      <a:endParaRPr sz="1800" b="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GB" altLang="en-IN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Vendor wont create ASN for further process</a:t>
                      </a:r>
                      <a:endParaRPr lang="en-GB" altLang="en-IN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4770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</a:t>
                      </a:r>
                      <a:endParaRPr lang="en-GB" alt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Vichrak - vamaan board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18,999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 OCT 8</a:t>
                      </a:r>
                      <a:endParaRPr lang="en-GB" sz="1200" b="1" i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4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endParaRPr lang="en-US" sz="1800" b="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IN" sz="12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Yet to recieve</a:t>
                      </a:r>
                      <a:endParaRPr lang="en-GB" altLang="en-IN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4770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</a:t>
                      </a:r>
                      <a:endParaRPr lang="en-GB" alt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Robu - pi, cam, for stich detection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6,935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 OCT 8</a:t>
                      </a:r>
                      <a:endParaRPr lang="en-GB" sz="1200" b="1" i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4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4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4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4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 OCT 16</a:t>
                      </a:r>
                      <a:endParaRPr lang="en-GB" sz="1200" b="1" i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IN" sz="12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Recieved components</a:t>
                      </a:r>
                      <a:endParaRPr lang="en-GB" altLang="en-IN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4770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</a:t>
                      </a:r>
                      <a:endParaRPr lang="en-GB" alt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Amazon - encloser for stich detection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500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highlight>
                            <a:srgbClr val="00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✅ OCT 8</a:t>
                      </a:r>
                      <a:endParaRPr lang="en-GB" sz="1200" b="1" i="0">
                        <a:solidFill>
                          <a:srgbClr val="000000"/>
                        </a:solidFill>
                        <a:highlight>
                          <a:srgbClr val="00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4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4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4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4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NA</a:t>
                      </a:r>
                      <a:endParaRPr lang="en-GB" altLang="en-US" sz="14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endParaRPr lang="en-US" sz="1800" b="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IN" sz="12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Yet to recieve</a:t>
                      </a:r>
                      <a:endParaRPr lang="en-GB" altLang="en-IN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</a:t>
                      </a:r>
                      <a:endParaRPr lang="en-GB" alt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Robu - Workbench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31,636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r>
                        <a:rPr sz="18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⏳</a:t>
                      </a:r>
                      <a:endParaRPr lang="en-GB" sz="1800" b="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IN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Waiting for MD aprroval</a:t>
                      </a:r>
                      <a:endParaRPr lang="en-GB" altLang="en-IN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US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</a:t>
                      </a:r>
                      <a:endParaRPr lang="en-GB" alt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Sharvi - workbench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18,763</a:t>
                      </a:r>
                      <a:endParaRPr lang="en-GB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sz="18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 </a:t>
                      </a:r>
                      <a:r>
                        <a:rPr sz="180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⏳</a:t>
                      </a:r>
                      <a:endParaRPr lang="en-GB" sz="1800" b="0" i="0">
                        <a:solidFill>
                          <a:srgbClr val="000000"/>
                        </a:solidFill>
                        <a:highlight>
                          <a:srgbClr val="FFFF00"/>
                        </a:highlight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GB" altLang="en-IN" sz="12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Waiting for MD aprroval</a:t>
                      </a:r>
                      <a:endParaRPr lang="en-GB" altLang="en-IN" sz="12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sym typeface="+mn-ea"/>
                      </a:endParaRPr>
                    </a:p>
                  </a:txBody>
                  <a:tcPr marL="7937" marR="7937" marT="793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en-GB" sz="1865" b="1" dirty="0">
                <a:solidFill>
                  <a:schemeClr val="tx1"/>
                </a:solidFill>
                <a:effectLst/>
                <a:latin typeface="Sagona Book"/>
                <a:cs typeface="Century" panose="02040604050505020304" charset="0"/>
              </a:rPr>
              <a:t> </a:t>
            </a:r>
            <a:endParaRPr lang="en-US" altLang="en-GB" sz="1865" b="1" dirty="0">
              <a:solidFill>
                <a:schemeClr val="tx1"/>
              </a:solidFill>
              <a:effectLst/>
              <a:latin typeface="Sagona Book"/>
              <a:cs typeface="Century" panose="02040604050505020304" charset="0"/>
            </a:endParaRPr>
          </a:p>
        </p:txBody>
      </p:sp>
      <p:pic>
        <p:nvPicPr>
          <p:cNvPr id="37897" name="Picture 5" descr="A red oval with letters on it&#10;&#10;Description automatically generat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9001" y="286990"/>
            <a:ext cx="1245447" cy="55118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056" name="Google Shape;1056;p35"/>
          <p:cNvGrpSpPr/>
          <p:nvPr/>
        </p:nvGrpSpPr>
        <p:grpSpPr>
          <a:xfrm>
            <a:off x="47413" y="6692900"/>
            <a:ext cx="2836333" cy="101600"/>
            <a:chOff x="552125" y="2636918"/>
            <a:chExt cx="3822099" cy="175164"/>
          </a:xfrm>
        </p:grpSpPr>
        <p:sp>
          <p:nvSpPr>
            <p:cNvPr id="1057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8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9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0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1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2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3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4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5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6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7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6" name="Google Shape;1057;p35"/>
          <p:cNvSpPr/>
          <p:nvPr/>
        </p:nvSpPr>
        <p:spPr>
          <a:xfrm>
            <a:off x="443484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" name="Google Shape;1058;p35"/>
          <p:cNvSpPr/>
          <p:nvPr/>
        </p:nvSpPr>
        <p:spPr>
          <a:xfrm>
            <a:off x="469561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8" name="Google Shape;1059;p35"/>
          <p:cNvSpPr/>
          <p:nvPr/>
        </p:nvSpPr>
        <p:spPr>
          <a:xfrm>
            <a:off x="495638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" name="Google Shape;1060;p35"/>
          <p:cNvSpPr/>
          <p:nvPr/>
        </p:nvSpPr>
        <p:spPr>
          <a:xfrm>
            <a:off x="521716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" name="Google Shape;1061;p35"/>
          <p:cNvSpPr/>
          <p:nvPr/>
        </p:nvSpPr>
        <p:spPr>
          <a:xfrm>
            <a:off x="547793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1" name="Google Shape;1062;p35"/>
          <p:cNvSpPr/>
          <p:nvPr/>
        </p:nvSpPr>
        <p:spPr>
          <a:xfrm>
            <a:off x="573870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2" name="Google Shape;1063;p35"/>
          <p:cNvSpPr/>
          <p:nvPr/>
        </p:nvSpPr>
        <p:spPr>
          <a:xfrm>
            <a:off x="599948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4" h="17788" extrusionOk="0">
                <a:moveTo>
                  <a:pt x="1" y="0"/>
                </a:moveTo>
                <a:lnTo>
                  <a:pt x="9597" y="8894"/>
                </a:lnTo>
                <a:lnTo>
                  <a:pt x="1" y="17788"/>
                </a:lnTo>
                <a:lnTo>
                  <a:pt x="67557" y="17788"/>
                </a:lnTo>
                <a:lnTo>
                  <a:pt x="77153" y="8894"/>
                </a:lnTo>
                <a:lnTo>
                  <a:pt x="6755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3" name="Google Shape;1064;p35"/>
          <p:cNvSpPr/>
          <p:nvPr/>
        </p:nvSpPr>
        <p:spPr>
          <a:xfrm>
            <a:off x="6260253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1065;p35"/>
          <p:cNvSpPr/>
          <p:nvPr/>
        </p:nvSpPr>
        <p:spPr>
          <a:xfrm>
            <a:off x="6521027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1066;p35"/>
          <p:cNvSpPr/>
          <p:nvPr/>
        </p:nvSpPr>
        <p:spPr>
          <a:xfrm>
            <a:off x="678180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53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53" y="8894"/>
                </a:lnTo>
                <a:lnTo>
                  <a:pt x="67556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1067;p35"/>
          <p:cNvSpPr/>
          <p:nvPr/>
        </p:nvSpPr>
        <p:spPr>
          <a:xfrm>
            <a:off x="7043420" y="6693747"/>
            <a:ext cx="227753" cy="101600"/>
          </a:xfrm>
          <a:custGeom>
            <a:avLst/>
            <a:gdLst/>
            <a:ahLst/>
            <a:cxnLst/>
            <a:rect l="l" t="t" r="r" b="b"/>
            <a:pathLst>
              <a:path w="77141" h="17788" extrusionOk="0">
                <a:moveTo>
                  <a:pt x="0" y="0"/>
                </a:moveTo>
                <a:lnTo>
                  <a:pt x="9585" y="8894"/>
                </a:lnTo>
                <a:lnTo>
                  <a:pt x="0" y="17788"/>
                </a:lnTo>
                <a:lnTo>
                  <a:pt x="67556" y="17788"/>
                </a:lnTo>
                <a:lnTo>
                  <a:pt x="77141" y="8894"/>
                </a:lnTo>
                <a:lnTo>
                  <a:pt x="6755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7" name="Google Shape;1056;p35"/>
          <p:cNvGrpSpPr/>
          <p:nvPr/>
        </p:nvGrpSpPr>
        <p:grpSpPr>
          <a:xfrm>
            <a:off x="9355667" y="6692900"/>
            <a:ext cx="2836333" cy="101600"/>
            <a:chOff x="552125" y="2636918"/>
            <a:chExt cx="3822099" cy="175164"/>
          </a:xfrm>
        </p:grpSpPr>
        <p:sp>
          <p:nvSpPr>
            <p:cNvPr id="68" name="Google Shape;1057;p35"/>
            <p:cNvSpPr/>
            <p:nvPr/>
          </p:nvSpPr>
          <p:spPr>
            <a:xfrm>
              <a:off x="552125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1058;p35"/>
            <p:cNvSpPr/>
            <p:nvPr/>
          </p:nvSpPr>
          <p:spPr>
            <a:xfrm>
              <a:off x="903555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1059;p35"/>
            <p:cNvSpPr/>
            <p:nvPr/>
          </p:nvSpPr>
          <p:spPr>
            <a:xfrm>
              <a:off x="1255037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1060;p35"/>
            <p:cNvSpPr/>
            <p:nvPr/>
          </p:nvSpPr>
          <p:spPr>
            <a:xfrm>
              <a:off x="1606515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1061;p35"/>
            <p:cNvSpPr/>
            <p:nvPr/>
          </p:nvSpPr>
          <p:spPr>
            <a:xfrm>
              <a:off x="1957993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1062;p35"/>
            <p:cNvSpPr/>
            <p:nvPr/>
          </p:nvSpPr>
          <p:spPr>
            <a:xfrm>
              <a:off x="2309471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1063;p35"/>
            <p:cNvSpPr/>
            <p:nvPr/>
          </p:nvSpPr>
          <p:spPr>
            <a:xfrm>
              <a:off x="2660901" y="2636959"/>
              <a:ext cx="307459" cy="175123"/>
            </a:xfrm>
            <a:custGeom>
              <a:avLst/>
              <a:gdLst/>
              <a:ahLst/>
              <a:cxnLst/>
              <a:rect l="l" t="t" r="r" b="b"/>
              <a:pathLst>
                <a:path w="77154" h="17788" extrusionOk="0">
                  <a:moveTo>
                    <a:pt x="1" y="0"/>
                  </a:moveTo>
                  <a:lnTo>
                    <a:pt x="9597" y="8894"/>
                  </a:lnTo>
                  <a:lnTo>
                    <a:pt x="1" y="17788"/>
                  </a:lnTo>
                  <a:lnTo>
                    <a:pt x="67557" y="17788"/>
                  </a:lnTo>
                  <a:lnTo>
                    <a:pt x="77153" y="8894"/>
                  </a:lnTo>
                  <a:lnTo>
                    <a:pt x="6755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1064;p35"/>
            <p:cNvSpPr/>
            <p:nvPr/>
          </p:nvSpPr>
          <p:spPr>
            <a:xfrm>
              <a:off x="3012383" y="2636959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1065;p35"/>
            <p:cNvSpPr/>
            <p:nvPr/>
          </p:nvSpPr>
          <p:spPr>
            <a:xfrm>
              <a:off x="3363861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1066;p35"/>
            <p:cNvSpPr/>
            <p:nvPr/>
          </p:nvSpPr>
          <p:spPr>
            <a:xfrm>
              <a:off x="3715339" y="2636918"/>
              <a:ext cx="307455" cy="175123"/>
            </a:xfrm>
            <a:custGeom>
              <a:avLst/>
              <a:gdLst/>
              <a:ahLst/>
              <a:cxnLst/>
              <a:rect l="l" t="t" r="r" b="b"/>
              <a:pathLst>
                <a:path w="77153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53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1067;p35"/>
            <p:cNvSpPr/>
            <p:nvPr/>
          </p:nvSpPr>
          <p:spPr>
            <a:xfrm>
              <a:off x="4066817" y="2636959"/>
              <a:ext cx="307407" cy="175123"/>
            </a:xfrm>
            <a:custGeom>
              <a:avLst/>
              <a:gdLst/>
              <a:ahLst/>
              <a:cxnLst/>
              <a:rect l="l" t="t" r="r" b="b"/>
              <a:pathLst>
                <a:path w="77141" h="17788" extrusionOk="0">
                  <a:moveTo>
                    <a:pt x="0" y="0"/>
                  </a:moveTo>
                  <a:lnTo>
                    <a:pt x="9585" y="8894"/>
                  </a:lnTo>
                  <a:lnTo>
                    <a:pt x="0" y="17788"/>
                  </a:lnTo>
                  <a:lnTo>
                    <a:pt x="67556" y="17788"/>
                  </a:lnTo>
                  <a:lnTo>
                    <a:pt x="77141" y="8894"/>
                  </a:lnTo>
                  <a:lnTo>
                    <a:pt x="675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3676650" y="2871470"/>
            <a:ext cx="50526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5400" dirty="0">
                <a:latin typeface="Cambria" panose="02040503050406030204" charset="0"/>
                <a:cs typeface="Cambria" panose="02040503050406030204" charset="0"/>
              </a:rPr>
              <a:t>   THANK  YOU</a:t>
            </a:r>
            <a:endParaRPr lang="en-GB" altLang="en-US" sz="54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4217</Words>
  <Application>WPS Presentation</Application>
  <PresentationFormat>Custom</PresentationFormat>
  <Paragraphs>738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SimSun</vt:lpstr>
      <vt:lpstr>Wingdings</vt:lpstr>
      <vt:lpstr>Cambria</vt:lpstr>
      <vt:lpstr>Times New Roman</vt:lpstr>
      <vt:lpstr>Sagona Book</vt:lpstr>
      <vt:lpstr>Segoe Print</vt:lpstr>
      <vt:lpstr>Century</vt:lpstr>
      <vt:lpstr>Arial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 </vt:lpstr>
      <vt:lpstr> </vt:lpstr>
      <vt:lpstr> 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Vishnunirmalan M - OT</dc:creator>
  <cp:lastModifiedBy>v.hariharasudhan</cp:lastModifiedBy>
  <cp:revision>130</cp:revision>
  <dcterms:created xsi:type="dcterms:W3CDTF">2025-09-24T04:34:00Z</dcterms:created>
  <dcterms:modified xsi:type="dcterms:W3CDTF">2026-10-17T04:06:42Z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B16DB3AABC7B4E778763E1EDED67D5DD</vt:lpwstr>
  </property>
  <property fmtid="{D5CDD505-2E9C-101B-9397-08002B2CF9AE}" pid="3" name="KSOProductBuildVer">
    <vt:lpwstr>1033-11.2.0.10017</vt:lpwstr>
  </property>
</Properties>
</file>