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70" r:id="rId5"/>
    <p:sldId id="258" r:id="rId6"/>
    <p:sldId id="269" r:id="rId7"/>
    <p:sldId id="259" r:id="rId8"/>
    <p:sldId id="271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chivo Black" panose="020B0A03020202020B04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  <p:embeddedFont>
      <p:font typeface="Cambria" panose="02040503050406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3.png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5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sv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10.png"/><Relationship Id="rId3" Type="http://schemas.openxmlformats.org/officeDocument/2006/relationships/image" Target="../media/image8.svg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svg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15.jpeg"/><Relationship Id="rId2" Type="http://schemas.openxmlformats.org/officeDocument/2006/relationships/image" Target="../media/image16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6.png"/><Relationship Id="rId7" Type="http://schemas.openxmlformats.org/officeDocument/2006/relationships/image" Target="../media/image10.svg"/><Relationship Id="rId6" Type="http://schemas.openxmlformats.org/officeDocument/2006/relationships/image" Target="../media/image20.png"/><Relationship Id="rId5" Type="http://schemas.openxmlformats.org/officeDocument/2006/relationships/image" Target="../media/image2.svg"/><Relationship Id="rId4" Type="http://schemas.openxmlformats.org/officeDocument/2006/relationships/image" Target="../media/image3.png"/><Relationship Id="rId3" Type="http://schemas.openxmlformats.org/officeDocument/2006/relationships/image" Target="../media/image1.sv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7.svg"/><Relationship Id="rId20" Type="http://schemas.openxmlformats.org/officeDocument/2006/relationships/image" Target="../media/image10.png"/><Relationship Id="rId2" Type="http://schemas.openxmlformats.org/officeDocument/2006/relationships/image" Target="../media/image2.png"/><Relationship Id="rId19" Type="http://schemas.openxmlformats.org/officeDocument/2006/relationships/image" Target="../media/image12.svg"/><Relationship Id="rId18" Type="http://schemas.openxmlformats.org/officeDocument/2006/relationships/image" Target="../media/image22.png"/><Relationship Id="rId17" Type="http://schemas.openxmlformats.org/officeDocument/2006/relationships/image" Target="../media/image3.svg"/><Relationship Id="rId16" Type="http://schemas.openxmlformats.org/officeDocument/2006/relationships/image" Target="../media/image4.png"/><Relationship Id="rId15" Type="http://schemas.openxmlformats.org/officeDocument/2006/relationships/image" Target="../media/image4.svg"/><Relationship Id="rId14" Type="http://schemas.openxmlformats.org/officeDocument/2006/relationships/image" Target="../media/image5.png"/><Relationship Id="rId13" Type="http://schemas.openxmlformats.org/officeDocument/2006/relationships/image" Target="../media/image6.svg"/><Relationship Id="rId12" Type="http://schemas.openxmlformats.org/officeDocument/2006/relationships/image" Target="../media/image9.png"/><Relationship Id="rId11" Type="http://schemas.openxmlformats.org/officeDocument/2006/relationships/image" Target="../media/image11.svg"/><Relationship Id="rId10" Type="http://schemas.openxmlformats.org/officeDocument/2006/relationships/image" Target="../media/image21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svg"/><Relationship Id="rId2" Type="http://schemas.openxmlformats.org/officeDocument/2006/relationships/image" Target="../media/image23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svg"/><Relationship Id="rId2" Type="http://schemas.openxmlformats.org/officeDocument/2006/relationships/image" Target="../media/image21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028700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582400" y="5829300"/>
            <a:ext cx="5705475" cy="581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r>
              <a:rPr lang="en-GB" altLang="en-US" sz="4000" spc="-201">
                <a:solidFill>
                  <a:srgbClr val="42424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“</a:t>
            </a:r>
            <a:r>
              <a:rPr lang="en-US" sz="4000" spc="-201">
                <a:solidFill>
                  <a:srgbClr val="42424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Engineering Our First Robot</a:t>
            </a:r>
            <a:r>
              <a:rPr lang="en-GB" altLang="en-US" sz="4000" spc="-201">
                <a:solidFill>
                  <a:srgbClr val="42424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”</a:t>
            </a:r>
            <a:endParaRPr lang="en-GB" altLang="en-US" sz="4000" spc="-201">
              <a:solidFill>
                <a:srgbClr val="424242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0961" y="8661984"/>
            <a:ext cx="336609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0"/>
              </a:lnSpc>
              <a:spcBef>
                <a:spcPct val="0"/>
              </a:spcBef>
            </a:pPr>
            <a:r>
              <a:rPr lang="en-US" b="1">
                <a:solidFill>
                  <a:srgbClr val="2B2B2B"/>
                </a:solidFill>
                <a:latin typeface="Times New Roman" panose="02020603050405020304" charset="0"/>
                <a:ea typeface="Garet Bold"/>
                <a:cs typeface="Times New Roman" panose="02020603050405020304" charset="0"/>
                <a:sym typeface="Garet Bold"/>
              </a:rPr>
              <a:t>PRESENTED BY:</a:t>
            </a:r>
            <a:endParaRPr lang="en-US" b="1">
              <a:solidFill>
                <a:srgbClr val="2B2B2B"/>
              </a:solidFill>
              <a:latin typeface="Times New Roman" panose="02020603050405020304" charset="0"/>
              <a:ea typeface="Garet Bold"/>
              <a:cs typeface="Times New Roman" panose="02020603050405020304" charset="0"/>
              <a:sym typeface="Gare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4800" y="9105900"/>
            <a:ext cx="1811020" cy="322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GB" altLang="en-US" sz="2000" b="1" spc="-112">
                <a:solidFill>
                  <a:srgbClr val="42424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OT - RnD TEAM</a:t>
            </a:r>
            <a:endParaRPr lang="en-GB" altLang="en-US" sz="2000" b="1" spc="-112">
              <a:solidFill>
                <a:srgbClr val="424242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68701" y="1219200"/>
            <a:ext cx="4321082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GB" alt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L.G.Balakrishnan &amp; Bros</a:t>
            </a:r>
            <a:endParaRPr lang="en-GB" altLang="en-US" sz="1800">
              <a:solidFill>
                <a:srgbClr val="545454"/>
              </a:solidFill>
              <a:latin typeface="Garet Light"/>
              <a:ea typeface="Garet Light"/>
              <a:cs typeface="Garet Light"/>
              <a:sym typeface="Garet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468600" y="1028700"/>
            <a:ext cx="2341880" cy="376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GB" alt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Octomber 2026</a:t>
            </a:r>
            <a:endParaRPr lang="en-GB" altLang="en-US" sz="21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48000" y="4305300"/>
            <a:ext cx="15054580" cy="1088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90"/>
              </a:lnSpc>
              <a:spcBef>
                <a:spcPct val="0"/>
              </a:spcBef>
            </a:pPr>
            <a:r>
              <a:rPr lang="en-GB" altLang="en-US" sz="10885" u="none" spc="-859">
                <a:solidFill>
                  <a:srgbClr val="000000"/>
                </a:solidFill>
                <a:latin typeface="Cambria" panose="02040503050406030204" charset="0"/>
                <a:ea typeface="Archivo Black" panose="020B0A03020202020B04"/>
                <a:cs typeface="Cambria" panose="02040503050406030204" charset="0"/>
                <a:sym typeface="Archivo Black" panose="020B0A03020202020B04"/>
              </a:rPr>
              <a:t>6   AXIS  INDUSTRIAL  ROBOT</a:t>
            </a:r>
            <a:endParaRPr lang="en-GB" altLang="en-US" sz="10885" u="none" spc="-859">
              <a:solidFill>
                <a:srgbClr val="000000"/>
              </a:solidFill>
              <a:latin typeface="Cambria" panose="02040503050406030204" charset="0"/>
              <a:ea typeface="Archivo Black" panose="020B0A03020202020B04"/>
              <a:cs typeface="Cambria" panose="02040503050406030204" charset="0"/>
              <a:sym typeface="Archivo Black" panose="020B0A03020202020B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6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199594" y="1814513"/>
          <a:ext cx="6511183" cy="6572250"/>
        </p:xfrm>
        <a:graphic>
          <a:graphicData uri="http://schemas.openxmlformats.org/drawingml/2006/table">
            <a:tbl>
              <a:tblPr/>
              <a:tblGrid>
                <a:gridCol w="866140"/>
                <a:gridCol w="5025276"/>
              </a:tblGrid>
              <a:tr h="821531"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GB" alt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Objectives</a:t>
                      </a:r>
                      <a:endParaRPr lang="en-GB" altLang="en-US" sz="2000" b="1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GB" alt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Robot at a glance</a:t>
                      </a:r>
                      <a:endParaRPr lang="en-GB" altLang="en-US" sz="2000" b="1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GB" alt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In-house vs Outsourced Activities</a:t>
                      </a:r>
                      <a:endParaRPr lang="en-GB" altLang="en-US" sz="2000" b="1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GB" alt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Approach for in-house activities</a:t>
                      </a:r>
                      <a:endParaRPr lang="en-GB" altLang="en-US" sz="2000" b="1">
                        <a:solidFill>
                          <a:srgbClr val="000000"/>
                        </a:solidFill>
                        <a:latin typeface="Garet Bold"/>
                        <a:ea typeface="Garet Bold"/>
                        <a:cs typeface="Garet Bold"/>
                        <a:sym typeface="Garet Bold"/>
                      </a:endParaRPr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Timeline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Message from project founder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Team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Contacts</a:t>
                      </a:r>
                      <a:endParaRPr lang="en-US" sz="1100"/>
                    </a:p>
                  </a:txBody>
                  <a:tcPr marL="190500" marR="190500" marT="190500" marB="190500" anchor="t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70663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10"/>
              </a:lnSpc>
              <a:spcBef>
                <a:spcPct val="0"/>
              </a:spcBef>
            </a:pPr>
            <a:r>
              <a:rPr lang="en-US" sz="5810" spc="-458">
                <a:solidFill>
                  <a:srgbClr val="FFFFFF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Agenda</a:t>
            </a:r>
            <a:endParaRPr lang="en-US" sz="5810" spc="-458">
              <a:solidFill>
                <a:srgbClr val="FFFFFF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91106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4869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10800000">
            <a:off x="11582360" y="-171450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62000" y="1104809"/>
            <a:ext cx="7279037" cy="744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>
              <a:lnSpc>
                <a:spcPts val="5810"/>
              </a:lnSpc>
              <a:spcBef>
                <a:spcPct val="0"/>
              </a:spcBef>
            </a:pPr>
            <a:r>
              <a:rPr lang="en-GB" altLang="en-US" sz="5810" u="sng" spc="-458">
                <a:solidFill>
                  <a:srgbClr val="000000"/>
                </a:solidFill>
                <a:latin typeface="Times New Roman" panose="02020603050405020304" charset="0"/>
                <a:ea typeface="Archivo Black" panose="020B0A03020202020B04"/>
                <a:cs typeface="Times New Roman" panose="02020603050405020304" charset="0"/>
                <a:sym typeface="Archivo Black" panose="020B0A03020202020B04"/>
              </a:rPr>
              <a:t>Objectives</a:t>
            </a:r>
            <a:endParaRPr lang="en-GB" altLang="en-US" sz="5810" u="sng" spc="-458">
              <a:solidFill>
                <a:srgbClr val="000000"/>
              </a:solidFill>
              <a:latin typeface="Times New Roman" panose="02020603050405020304" charset="0"/>
              <a:ea typeface="Archivo Black" panose="020B0A03020202020B04"/>
              <a:cs typeface="Times New Roman" panose="02020603050405020304" charset="0"/>
              <a:sym typeface="Archivo Black" panose="020B0A03020202020B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762000" y="2710815"/>
            <a:ext cx="16230600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 are developing a 6-axis pick-and-place robot as our first in-house robotics platform. The robot is designed for automated 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material handling and pick-and-place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applications, with an approximate payload capacity of </a:t>
            </a:r>
            <a:r>
              <a:rPr lang="en-GB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10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kg</a:t>
            </a:r>
            <a:r>
              <a:rPr lang="en-GB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and reach of 1400 mm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 </a:t>
            </a:r>
            <a:endParaRPr 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800"/>
          </a:p>
          <a:p>
            <a:r>
              <a:rPr lang="en-GB" altLang="en-US" sz="2800"/>
              <a:t>This project involves,</a:t>
            </a:r>
            <a:endParaRPr lang="en-GB" altLang="en-US" sz="2800"/>
          </a:p>
          <a:p>
            <a:br>
              <a:rPr lang="en-GB" altLang="en-US" sz="2800"/>
            </a:br>
            <a:r>
              <a:rPr lang="en-GB" altLang="en-US" sz="2800"/>
              <a:t>1. Mechanical Design - Robot arm, joints, gearbox, CAD</a:t>
            </a:r>
            <a:endParaRPr lang="en-GB" altLang="en-US" sz="2800"/>
          </a:p>
          <a:p>
            <a:endParaRPr lang="en-GB" altLang="en-US" sz="2800"/>
          </a:p>
          <a:p>
            <a:r>
              <a:rPr lang="en-GB" altLang="en-US" sz="2800"/>
              <a:t>2. Electrical &amp; Firmware Design  - Servo drives, PCBs, EthernetCAT, embedded control</a:t>
            </a:r>
            <a:endParaRPr lang="en-GB" altLang="en-US" sz="2800"/>
          </a:p>
          <a:p>
            <a:endParaRPr lang="en-GB" altLang="en-US" sz="2800"/>
          </a:p>
          <a:p>
            <a:r>
              <a:rPr lang="en-GB" altLang="en-US" sz="2800"/>
              <a:t>3. Robotics Software - ROS2, kinematics, motion planning, teach pendant</a:t>
            </a:r>
            <a:endParaRPr lang="en-GB" altLang="en-US" sz="2800"/>
          </a:p>
          <a:p>
            <a:endParaRPr lang="en-GB" altLang="en-US" sz="2800"/>
          </a:p>
          <a:p>
            <a:r>
              <a:rPr lang="en-GB" altLang="en-US" sz="2800"/>
              <a:t>4. Assembly &amp; Testing - Robot assembly, calibaration, validation</a:t>
            </a:r>
            <a:endParaRPr lang="en-GB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639893" y="266700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81000" y="588645"/>
            <a:ext cx="5797550" cy="3924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ts val="2350"/>
              </a:lnSpc>
            </a:pPr>
            <a:r>
              <a:rPr lang="en-US" sz="6000" b="1" spc="-117">
                <a:solidFill>
                  <a:srgbClr val="42424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Robot at a Glance</a:t>
            </a:r>
            <a:endParaRPr lang="en-US" sz="6000" b="1" spc="-117">
              <a:solidFill>
                <a:srgbClr val="424242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81100"/>
            <a:ext cx="13684885" cy="912304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14554200" y="3086100"/>
            <a:ext cx="324167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To Manufacture Our First Industrial Robot, We Need to Make 3 Things</a:t>
            </a:r>
            <a:endParaRPr lang="en-US" sz="2400"/>
          </a:p>
          <a:p>
            <a:endParaRPr lang="en-US" sz="2400"/>
          </a:p>
          <a:p>
            <a:r>
              <a:rPr lang="en-GB" altLang="en-US" sz="2400"/>
              <a:t>1.</a:t>
            </a:r>
            <a:r>
              <a:rPr lang="en-US" sz="2400"/>
              <a:t>Robotic Arm: </a:t>
            </a:r>
            <a:endParaRPr lang="en-US" sz="2400"/>
          </a:p>
          <a:p>
            <a:endParaRPr lang="en-US" sz="2400"/>
          </a:p>
          <a:p>
            <a:r>
              <a:rPr lang="en-US" sz="2400"/>
              <a:t>Proper mechanical design with </a:t>
            </a:r>
            <a:r>
              <a:rPr lang="en-GB" altLang="en-US" sz="2400"/>
              <a:t>appropriate</a:t>
            </a:r>
            <a:r>
              <a:rPr lang="en-US" sz="2400"/>
              <a:t> servo motors, encoders, and gearboxes for smooth movement without distortion.</a:t>
            </a:r>
            <a:endParaRPr 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639893" y="266700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81000" y="588645"/>
            <a:ext cx="5797550" cy="3924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ts val="2350"/>
              </a:lnSpc>
            </a:pPr>
            <a:r>
              <a:rPr lang="en-US" sz="6000" b="1" spc="-117">
                <a:solidFill>
                  <a:srgbClr val="42424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Robot at a Glance</a:t>
            </a:r>
            <a:endParaRPr lang="en-US" sz="6000" b="1" spc="-117">
              <a:solidFill>
                <a:srgbClr val="424242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1303020"/>
            <a:ext cx="13418820" cy="8945880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14554200" y="3086100"/>
            <a:ext cx="324167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/>
              <a:t>2. </a:t>
            </a:r>
            <a:r>
              <a:rPr lang="en-US" sz="2400"/>
              <a:t>Teach Pendant: </a:t>
            </a:r>
            <a:endParaRPr lang="en-US" sz="2400"/>
          </a:p>
          <a:p>
            <a:endParaRPr lang="en-US" sz="2400"/>
          </a:p>
          <a:p>
            <a:r>
              <a:rPr lang="en-US" sz="2400"/>
              <a:t>To control the robot, teach positions, and program movements.</a:t>
            </a:r>
            <a:endParaRPr lang="en-US" sz="2400"/>
          </a:p>
          <a:p>
            <a:endParaRPr lang="en-US" sz="2400"/>
          </a:p>
          <a:p>
            <a:r>
              <a:rPr lang="en-GB" altLang="en-US" sz="2400"/>
              <a:t>3. </a:t>
            </a:r>
            <a:r>
              <a:rPr lang="en-US" sz="2400"/>
              <a:t>Control Panel: </a:t>
            </a:r>
            <a:endParaRPr lang="en-US" sz="2400"/>
          </a:p>
          <a:p>
            <a:endParaRPr lang="en-US" sz="2400"/>
          </a:p>
          <a:p>
            <a:r>
              <a:rPr lang="en-US" sz="2400"/>
              <a:t>To house the robot controller, servo drives, and required electrical components.</a:t>
            </a:r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98726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101727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762000" y="647700"/>
            <a:ext cx="8571865" cy="744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810"/>
              </a:lnSpc>
              <a:spcBef>
                <a:spcPct val="0"/>
              </a:spcBef>
            </a:pPr>
            <a:r>
              <a:rPr lang="en-GB" altLang="en-US" sz="5810" u="sng" spc="-458">
                <a:solidFill>
                  <a:srgbClr val="000000"/>
                </a:solidFill>
                <a:latin typeface="Times New Roman" panose="02020603050405020304" charset="0"/>
                <a:ea typeface="Archivo Black" panose="020B0A03020202020B04"/>
                <a:cs typeface="Times New Roman" panose="02020603050405020304" charset="0"/>
                <a:sym typeface="Archivo Black" panose="020B0A03020202020B04"/>
              </a:rPr>
              <a:t>In-House vs Outsource Activities</a:t>
            </a:r>
            <a:endParaRPr lang="en-GB" altLang="en-US" sz="5810" u="sng" spc="-458">
              <a:solidFill>
                <a:srgbClr val="000000"/>
              </a:solidFill>
              <a:latin typeface="Times New Roman" panose="02020603050405020304" charset="0"/>
              <a:ea typeface="Archivo Black" panose="020B0A03020202020B04"/>
              <a:cs typeface="Times New Roman" panose="02020603050405020304" charset="0"/>
              <a:sym typeface="Archivo Black" panose="020B0A03020202020B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068800" y="723900"/>
            <a:ext cx="908685" cy="376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12496938" y="26639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2" name="Table 21"/>
          <p:cNvGraphicFramePr/>
          <p:nvPr/>
        </p:nvGraphicFramePr>
        <p:xfrm>
          <a:off x="1403985" y="2320290"/>
          <a:ext cx="14748510" cy="7245985"/>
        </p:xfrm>
        <a:graphic>
          <a:graphicData uri="http://schemas.openxmlformats.org/drawingml/2006/table">
            <a:tbl>
              <a:tblPr bandCol="1">
                <a:tableStyleId>{C4B1156A-380E-4F78-BDF5-A606A8083BF9}</a:tableStyleId>
              </a:tblPr>
              <a:tblGrid>
                <a:gridCol w="4916170"/>
                <a:gridCol w="4916170"/>
                <a:gridCol w="4916170"/>
              </a:tblGrid>
              <a:tr h="7480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400" b="1"/>
                        <a:t>Activity</a:t>
                      </a:r>
                      <a:endParaRPr lang="en-GB" altLang="en-US" sz="24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400" b="1"/>
                        <a:t>Approach</a:t>
                      </a:r>
                      <a:endParaRPr lang="en-GB" altLang="en-US" sz="24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400" b="1"/>
                        <a:t>Reason</a:t>
                      </a:r>
                      <a:endParaRPr lang="en-GB" altLang="en-US" sz="2400" b="1"/>
                    </a:p>
                  </a:txBody>
                  <a:tcPr/>
                </a:tc>
              </a:tr>
              <a:tr h="721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Mechanical design </a:t>
                      </a:r>
                      <a:r>
                        <a:rPr lang="en-GB" altLang="en-US" sz="2000">
                          <a:sym typeface="+mn-ea"/>
                        </a:rPr>
                        <a:t>and </a:t>
                      </a:r>
                      <a:r>
                        <a:rPr lang="en-GB" altLang="en-US" sz="2000">
                          <a:sym typeface="+mn-ea"/>
                        </a:rPr>
                        <a:t>Robot CAD 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In-house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Core product knowledge</a:t>
                      </a:r>
                      <a:endParaRPr lang="en-GB" altLang="en-US" sz="2000"/>
                    </a:p>
                    <a:p>
                      <a:pPr>
                        <a:buNone/>
                      </a:pPr>
                      <a:endParaRPr lang="en-GB" altLang="en-US" sz="2000"/>
                    </a:p>
                  </a:txBody>
                  <a:tcPr/>
                </a:tc>
              </a:tr>
              <a:tr h="721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Torque and gearbox calculation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In-house</a:t>
                      </a:r>
                      <a:endParaRPr lang="en-GB" altLang="en-US" sz="2000"/>
                    </a:p>
                    <a:p>
                      <a:pPr>
                        <a:buNone/>
                      </a:pP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Avoid undersized jonts</a:t>
                      </a:r>
                      <a:endParaRPr lang="en-GB" altLang="en-US" sz="2000"/>
                    </a:p>
                  </a:txBody>
                  <a:tcPr/>
                </a:tc>
              </a:tr>
              <a:tr h="721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Custom part fabrication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Outsource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Avoid design issues</a:t>
                      </a:r>
                      <a:endParaRPr lang="en-GB" altLang="en-US" sz="2000"/>
                    </a:p>
                  </a:txBody>
                  <a:tcPr/>
                </a:tc>
              </a:tr>
              <a:tr h="721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Gearbox and bearing procurement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Outsource</a:t>
                      </a:r>
                      <a:endParaRPr lang="en-GB" altLang="en-US" sz="2000"/>
                    </a:p>
                    <a:p>
                      <a:pPr>
                        <a:buNone/>
                      </a:pP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Use established products</a:t>
                      </a:r>
                      <a:endParaRPr lang="en-GB" altLang="en-US" sz="2000"/>
                    </a:p>
                  </a:txBody>
                  <a:tcPr/>
                </a:tc>
              </a:tr>
              <a:tr h="721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Control cabinet fabrication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Outsource</a:t>
                      </a:r>
                      <a:endParaRPr lang="en-GB" altLang="en-US" sz="2000"/>
                    </a:p>
                    <a:p>
                      <a:pPr>
                        <a:buNone/>
                      </a:pP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Reduce setup costs</a:t>
                      </a:r>
                      <a:endParaRPr lang="en-GB" altLang="en-US" sz="2000"/>
                    </a:p>
                  </a:txBody>
                  <a:tcPr/>
                </a:tc>
              </a:tr>
              <a:tr h="721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EtherCAT and servo integration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In-house</a:t>
                      </a:r>
                      <a:endParaRPr lang="en-GB" altLang="en-US" sz="2000"/>
                    </a:p>
                    <a:p>
                      <a:pPr>
                        <a:buNone/>
                      </a:pP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Core control capability</a:t>
                      </a:r>
                      <a:endParaRPr lang="en-GB" altLang="en-US" sz="2000"/>
                    </a:p>
                  </a:txBody>
                  <a:tcPr/>
                </a:tc>
              </a:tr>
              <a:tr h="721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ROS2 integration and kinematics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In-house</a:t>
                      </a:r>
                      <a:endParaRPr lang="en-GB" altLang="en-US" sz="2000"/>
                    </a:p>
                    <a:p>
                      <a:pPr>
                        <a:buNone/>
                      </a:pP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Retain software ownership</a:t>
                      </a:r>
                      <a:endParaRPr lang="en-GB" altLang="en-US" sz="2000"/>
                    </a:p>
                  </a:txBody>
                  <a:tcPr/>
                </a:tc>
              </a:tr>
              <a:tr h="721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Safety assessment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In-house</a:t>
                      </a:r>
                      <a:endParaRPr lang="en-GB" altLang="en-US" sz="2000"/>
                    </a:p>
                    <a:p>
                      <a:pPr>
                        <a:buNone/>
                      </a:pP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Reduce machine and integration issues</a:t>
                      </a:r>
                      <a:endParaRPr lang="en-GB" altLang="en-US" sz="2000"/>
                    </a:p>
                  </a:txBody>
                  <a:tcPr/>
                </a:tc>
              </a:tr>
              <a:tr h="721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Calibaration and validation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In-house</a:t>
                      </a:r>
                      <a:endParaRPr lang="en-GB" altLang="en-US" sz="2000"/>
                    </a:p>
                    <a:p>
                      <a:pPr>
                        <a:buNone/>
                      </a:pP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Build repeatable testing procedures</a:t>
                      </a:r>
                      <a:endParaRPr lang="en-GB" altLang="en-US" sz="2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98726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101727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762000" y="647700"/>
            <a:ext cx="9242425" cy="358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GB" altLang="en-US" sz="4800" b="1">
                <a:solidFill>
                  <a:srgbClr val="000000"/>
                </a:solidFill>
                <a:latin typeface="Times New Roman" panose="02020603050405020304" charset="0"/>
                <a:ea typeface="Garet Bold"/>
                <a:cs typeface="Times New Roman" panose="02020603050405020304" charset="0"/>
                <a:sym typeface="Garet Bold"/>
              </a:rPr>
              <a:t>Approach for in-house activities</a:t>
            </a:r>
            <a:endParaRPr lang="en-GB" altLang="en-US" sz="4800" b="1" u="sng" spc="-458">
              <a:solidFill>
                <a:srgbClr val="000000"/>
              </a:solidFill>
              <a:latin typeface="Times New Roman" panose="02020603050405020304" charset="0"/>
              <a:ea typeface="Garet Bold"/>
              <a:cs typeface="Times New Roman" panose="02020603050405020304" charset="0"/>
              <a:sym typeface="Gare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535400" y="629920"/>
            <a:ext cx="1200785" cy="376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762000" y="1333500"/>
            <a:ext cx="62382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en-GB" altLang="en-US" sz="2800">
                <a:sym typeface="+mn-ea"/>
              </a:rPr>
              <a:t>1. Mechanical design </a:t>
            </a:r>
            <a:r>
              <a:rPr lang="en-GB" altLang="en-US" sz="2800">
                <a:sym typeface="+mn-ea"/>
              </a:rPr>
              <a:t>and Robot CAD </a:t>
            </a:r>
            <a:endParaRPr lang="en-GB" altLang="en-US" sz="2800"/>
          </a:p>
        </p:txBody>
      </p:sp>
      <p:sp>
        <p:nvSpPr>
          <p:cNvPr id="12" name="Freeform 12"/>
          <p:cNvSpPr/>
          <p:nvPr/>
        </p:nvSpPr>
        <p:spPr>
          <a:xfrm>
            <a:off x="14782987" y="418792"/>
            <a:ext cx="1484639" cy="1484639"/>
          </a:xfrm>
          <a:custGeom>
            <a:avLst/>
            <a:gdLst/>
            <a:ahLst/>
            <a:cxnLst/>
            <a:rect l="l" t="t" r="r" b="b"/>
            <a:pathLst>
              <a:path w="1484639" h="1484639">
                <a:moveTo>
                  <a:pt x="0" y="0"/>
                </a:moveTo>
                <a:lnTo>
                  <a:pt x="1484640" y="0"/>
                </a:lnTo>
                <a:lnTo>
                  <a:pt x="1484640" y="1484639"/>
                </a:lnTo>
                <a:lnTo>
                  <a:pt x="0" y="148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 Box 5"/>
          <p:cNvSpPr txBox="1"/>
          <p:nvPr/>
        </p:nvSpPr>
        <p:spPr>
          <a:xfrm>
            <a:off x="803910" y="2639695"/>
            <a:ext cx="1641729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Requirements: Define payload, reach, mounting position, speed and application</a:t>
            </a:r>
            <a:endParaRPr lang="en-GB" altLang="en-US"/>
          </a:p>
          <a:p>
            <a:endParaRPr lang="en-GB" altLang="en-US"/>
          </a:p>
          <a:p>
            <a:r>
              <a:rPr lang="en-GB" altLang="en-US"/>
              <a:t>Component selection: Verify motor dimensions, gearbox ratio, torque, bearings and brakes</a:t>
            </a:r>
            <a:endParaRPr lang="en-GB" altLang="en-US"/>
          </a:p>
          <a:p>
            <a:endParaRPr lang="en-GB" altLang="en-US"/>
          </a:p>
          <a:p>
            <a:r>
              <a:rPr lang="en-GB" altLang="en-US"/>
              <a:t>Robot layout: Define 6 joint axes, link lengths, base and wrist arrangements</a:t>
            </a:r>
            <a:endParaRPr lang="en-GB" altLang="en-US"/>
          </a:p>
          <a:p>
            <a:endParaRPr lang="en-GB" altLang="en-US"/>
          </a:p>
          <a:p>
            <a:r>
              <a:rPr lang="en-GB" altLang="en-US"/>
              <a:t>Part modelling: Create 3D models of links, housings, shafts, flanges and adapters</a:t>
            </a:r>
            <a:br>
              <a:rPr lang="en-GB" altLang="en-US"/>
            </a:br>
            <a:endParaRPr lang="en-GB" altLang="en-US"/>
          </a:p>
          <a:p>
            <a:r>
              <a:rPr lang="en-GB" altLang="en-US"/>
              <a:t>Assembly: Assemble all six joints with motors, gearboxes and bearings</a:t>
            </a:r>
            <a:endParaRPr lang="en-GB" altLang="en-US"/>
          </a:p>
          <a:p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0">
            <a:off x="1028700" y="886898"/>
            <a:ext cx="5489373" cy="4121056"/>
            <a:chOff x="0" y="0"/>
            <a:chExt cx="8916670" cy="6694043"/>
          </a:xfrm>
        </p:grpSpPr>
        <p:sp>
          <p:nvSpPr>
            <p:cNvPr id="4" name="Freeform 4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2"/>
              <a:stretch>
                <a:fillRect t="-69907" b="-3245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 rot="0">
            <a:off x="1028700" y="5279046"/>
            <a:ext cx="5489373" cy="4121056"/>
            <a:chOff x="0" y="0"/>
            <a:chExt cx="8916670" cy="6694043"/>
          </a:xfrm>
        </p:grpSpPr>
        <p:sp>
          <p:nvSpPr>
            <p:cNvPr id="7" name="Freeform 7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 l="-5663" r="-566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3456423" y="188310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10"/>
              </a:lnSpc>
              <a:spcBef>
                <a:spcPct val="0"/>
              </a:spcBef>
            </a:pPr>
            <a:r>
              <a:rPr lang="en-US" sz="5810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Target Audience</a:t>
            </a:r>
            <a:endParaRPr lang="en-US" sz="5810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251860" y="5712804"/>
            <a:ext cx="800744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Identify the key audiences for which</a:t>
            </a:r>
            <a:endParaRPr lang="en-US" sz="21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project is intended.</a:t>
            </a:r>
            <a:endParaRPr lang="en-US" sz="21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67082" y="1009650"/>
            <a:ext cx="811530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Competition</a:t>
            </a:r>
            <a:endParaRPr lang="en-US" sz="7500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7082" y="2365608"/>
            <a:ext cx="8076918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Introduce the company's main competitors.</a:t>
            </a:r>
            <a:endParaRPr lang="en-US" sz="21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110" y="846594"/>
            <a:ext cx="9974597" cy="841313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0">
            <a:off x="1028700" y="3796030"/>
            <a:ext cx="7664150" cy="815442"/>
            <a:chOff x="0" y="0"/>
            <a:chExt cx="10218867" cy="1087256"/>
          </a:xfrm>
        </p:grpSpPr>
        <p:sp>
          <p:nvSpPr>
            <p:cNvPr id="7" name="TextBox 7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Competitor #1</a:t>
              </a:r>
              <a:endParaRPr lang="en-US" sz="25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Write an observation about the competitor.</a:t>
              </a:r>
              <a:endParaRPr lang="en-US" sz="2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067082" y="5468744"/>
            <a:ext cx="7664150" cy="815442"/>
            <a:chOff x="0" y="0"/>
            <a:chExt cx="10218867" cy="108725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Competitor #2</a:t>
              </a:r>
              <a:endParaRPr lang="en-US" sz="25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Write an observation about the competitor.</a:t>
              </a:r>
              <a:endParaRPr lang="en-US" sz="2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028700" y="7141436"/>
            <a:ext cx="7664150" cy="815442"/>
            <a:chOff x="0" y="0"/>
            <a:chExt cx="10218867" cy="108725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Competitor #3</a:t>
              </a:r>
              <a:endParaRPr lang="en-US" sz="25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Write an observation about the competitor.</a:t>
              </a:r>
              <a:endParaRPr lang="en-US" sz="2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28700" y="4292535"/>
            <a:ext cx="13838306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 rot="5400000">
            <a:off x="15074698" y="3103895"/>
            <a:ext cx="1629446" cy="2396244"/>
          </a:xfrm>
          <a:custGeom>
            <a:avLst/>
            <a:gdLst/>
            <a:ahLst/>
            <a:cxnLst/>
            <a:rect l="l" t="t" r="r" b="b"/>
            <a:pathLst>
              <a:path w="1629446" h="2396244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62887"/>
            <a:ext cx="568354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10"/>
              </a:lnSpc>
              <a:spcBef>
                <a:spcPct val="0"/>
              </a:spcBef>
            </a:pPr>
            <a:r>
              <a:rPr lang="en-US" sz="5810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Timeline</a:t>
            </a:r>
            <a:endParaRPr lang="en-US" sz="5810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127374"/>
            <a:ext cx="672056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Briefly discuss the key dates for the project.</a:t>
            </a:r>
            <a:endParaRPr lang="en-US" sz="2000" u="none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067082" y="5640615"/>
            <a:ext cx="2277734" cy="1177392"/>
            <a:chOff x="0" y="0"/>
            <a:chExt cx="3036979" cy="156985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1st Quarter</a:t>
              </a:r>
              <a:endParaRPr lang="en-US" sz="25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List a milestone or deadline.</a:t>
              </a:r>
              <a:endParaRPr lang="en-US" sz="2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5005388" y="5640615"/>
            <a:ext cx="2277734" cy="1177392"/>
            <a:chOff x="0" y="0"/>
            <a:chExt cx="3036979" cy="156985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2nd Quarter</a:t>
              </a:r>
              <a:endParaRPr lang="en-US" sz="25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List a milestone or deadline.</a:t>
              </a:r>
              <a:endParaRPr lang="en-US" sz="2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8982075" y="5640615"/>
            <a:ext cx="2277734" cy="1177392"/>
            <a:chOff x="0" y="0"/>
            <a:chExt cx="3036979" cy="156985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3rd Quarter</a:t>
              </a:r>
              <a:endParaRPr lang="en-US" sz="25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List a milestone or deadline.</a:t>
              </a:r>
              <a:endParaRPr lang="en-US" sz="2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12963582" y="5640615"/>
            <a:ext cx="4123962" cy="1177392"/>
            <a:chOff x="0" y="0"/>
            <a:chExt cx="5498615" cy="1569856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28575"/>
              <a:ext cx="5498615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4th Quarter</a:t>
              </a:r>
              <a:endParaRPr lang="en-US" sz="25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622859"/>
              <a:ext cx="5498615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List the expected wrap-up date for the project.</a:t>
              </a:r>
              <a:endParaRPr lang="en-US" sz="2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028700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005388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982075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958763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0">
            <a:off x="12012930" y="2215233"/>
            <a:ext cx="5246370" cy="52463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40876" r="-921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3161405"/>
            <a:ext cx="7203393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0"/>
              </a:lnSpc>
            </a:pPr>
            <a:r>
              <a:rPr lang="en-US" sz="5810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Message from project founder</a:t>
            </a:r>
            <a:endParaRPr lang="en-US" sz="5810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5234879"/>
            <a:ext cx="8007440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Presentations are communication tools that can be used as demonstrations, lectures, speeches, reports, and more. It is mostly presented before an audience. It serves a variety of purposes, making presentations powerful tools for convincing and teaching.</a:t>
            </a:r>
            <a:endParaRPr lang="en-US" sz="21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0">
            <a:off x="1250509" y="2938298"/>
            <a:ext cx="3261144" cy="3261144"/>
            <a:chOff x="0" y="0"/>
            <a:chExt cx="8790178" cy="8790178"/>
          </a:xfrm>
        </p:grpSpPr>
        <p:sp>
          <p:nvSpPr>
            <p:cNvPr id="6" name="Freeform 6"/>
            <p:cNvSpPr/>
            <p:nvPr/>
          </p:nvSpPr>
          <p:spPr>
            <a:xfrm>
              <a:off x="149225" y="149225"/>
              <a:ext cx="8491728" cy="8491728"/>
            </a:xfrm>
            <a:custGeom>
              <a:avLst/>
              <a:gdLst/>
              <a:ahLst/>
              <a:cxnLst/>
              <a:rect l="l" t="t" r="r" b="b"/>
              <a:pathLst>
                <a:path w="8491728" h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2"/>
              <a:stretch>
                <a:fillRect t="-12812" b="-3718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8790178" cy="8790178"/>
            </a:xfrm>
            <a:custGeom>
              <a:avLst/>
              <a:gdLst/>
              <a:ahLst/>
              <a:cxnLst/>
              <a:rect l="l" t="t" r="r" b="b"/>
              <a:pathLst>
                <a:path w="8790178" h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5425788" y="2938298"/>
            <a:ext cx="3261144" cy="3261144"/>
            <a:chOff x="0" y="0"/>
            <a:chExt cx="8790178" cy="8790178"/>
          </a:xfrm>
        </p:grpSpPr>
        <p:sp>
          <p:nvSpPr>
            <p:cNvPr id="9" name="Freeform 9"/>
            <p:cNvSpPr/>
            <p:nvPr/>
          </p:nvSpPr>
          <p:spPr>
            <a:xfrm>
              <a:off x="149225" y="149225"/>
              <a:ext cx="8491728" cy="8491728"/>
            </a:xfrm>
            <a:custGeom>
              <a:avLst/>
              <a:gdLst/>
              <a:ahLst/>
              <a:cxnLst/>
              <a:rect l="l" t="t" r="r" b="b"/>
              <a:pathLst>
                <a:path w="8491728" h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3"/>
              <a:stretch>
                <a:fillRect l="-43876" r="-6217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8790178" cy="8790178"/>
            </a:xfrm>
            <a:custGeom>
              <a:avLst/>
              <a:gdLst/>
              <a:ahLst/>
              <a:cxnLst/>
              <a:rect l="l" t="t" r="r" b="b"/>
              <a:pathLst>
                <a:path w="8790178" h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 rot="0">
            <a:off x="9601067" y="2938298"/>
            <a:ext cx="3261144" cy="3261144"/>
            <a:chOff x="0" y="0"/>
            <a:chExt cx="8790178" cy="8790178"/>
          </a:xfrm>
        </p:grpSpPr>
        <p:sp>
          <p:nvSpPr>
            <p:cNvPr id="12" name="Freeform 12"/>
            <p:cNvSpPr/>
            <p:nvPr/>
          </p:nvSpPr>
          <p:spPr>
            <a:xfrm>
              <a:off x="149225" y="149225"/>
              <a:ext cx="8491728" cy="8491728"/>
            </a:xfrm>
            <a:custGeom>
              <a:avLst/>
              <a:gdLst/>
              <a:ahLst/>
              <a:cxnLst/>
              <a:rect l="l" t="t" r="r" b="b"/>
              <a:pathLst>
                <a:path w="8491728" h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4"/>
              <a:stretch>
                <a:fillRect l="-130218" t="-1015" r="-86305" b="-110395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8790178" cy="8790178"/>
            </a:xfrm>
            <a:custGeom>
              <a:avLst/>
              <a:gdLst/>
              <a:ahLst/>
              <a:cxnLst/>
              <a:rect l="l" t="t" r="r" b="b"/>
              <a:pathLst>
                <a:path w="8790178" h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 rot="0">
            <a:off x="13776346" y="2938298"/>
            <a:ext cx="3261144" cy="3261144"/>
            <a:chOff x="0" y="0"/>
            <a:chExt cx="8790178" cy="8790178"/>
          </a:xfrm>
        </p:grpSpPr>
        <p:sp>
          <p:nvSpPr>
            <p:cNvPr id="15" name="Freeform 15"/>
            <p:cNvSpPr/>
            <p:nvPr/>
          </p:nvSpPr>
          <p:spPr>
            <a:xfrm>
              <a:off x="149225" y="149225"/>
              <a:ext cx="8491728" cy="8491728"/>
            </a:xfrm>
            <a:custGeom>
              <a:avLst/>
              <a:gdLst/>
              <a:ahLst/>
              <a:cxnLst/>
              <a:rect l="l" t="t" r="r" b="b"/>
              <a:pathLst>
                <a:path w="8491728" h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5"/>
              <a:stretch>
                <a:fillRect t="-4593" b="-45219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8790178" cy="8790178"/>
            </a:xfrm>
            <a:custGeom>
              <a:avLst/>
              <a:gdLst/>
              <a:ahLst/>
              <a:cxnLst/>
              <a:rect l="l" t="t" r="r" b="b"/>
              <a:pathLst>
                <a:path w="8790178" h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2568735" y="7658855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7870" b="-122462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744014" y="7658855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7870" b="-122462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919293" y="7658855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7870" b="-122462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094572" y="7658855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7870" b="-122462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542303" y="1123950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10"/>
              </a:lnSpc>
            </a:pPr>
            <a:r>
              <a:rPr lang="en-US" sz="5810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Our team</a:t>
            </a:r>
            <a:endParaRPr lang="en-US" sz="5810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15229" y="6547601"/>
            <a:ext cx="3931704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199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Project Manager's Name</a:t>
            </a:r>
            <a:endParaRPr lang="en-US" sz="1995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968721" y="6547601"/>
            <a:ext cx="4175279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199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Project Manager's Name</a:t>
            </a:r>
            <a:endParaRPr lang="en-US" sz="1995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50509" y="7033397"/>
            <a:ext cx="3261144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Add role</a:t>
            </a:r>
            <a:endParaRPr lang="en-US" sz="19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425788" y="7033397"/>
            <a:ext cx="3261144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Add role</a:t>
            </a:r>
            <a:endParaRPr lang="en-US" sz="19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74347" y="6547601"/>
            <a:ext cx="4114584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199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Project Manager's Name</a:t>
            </a:r>
            <a:endParaRPr lang="en-US" sz="1995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601067" y="7033397"/>
            <a:ext cx="3261144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Add role</a:t>
            </a:r>
            <a:endParaRPr lang="en-US" sz="19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380106" y="6547601"/>
            <a:ext cx="4053624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199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Project Manager's Name</a:t>
            </a:r>
            <a:endParaRPr lang="en-US" sz="1995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776346" y="7033397"/>
            <a:ext cx="3261144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Add role</a:t>
            </a:r>
            <a:endParaRPr lang="en-US" sz="19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739036"/>
            <a:ext cx="7203393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10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Thank you</a:t>
            </a:r>
            <a:endParaRPr lang="en-US" sz="5810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10/10</a:t>
            </a:r>
            <a:endParaRPr lang="en-US" sz="21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505590" y="8892540"/>
            <a:ext cx="57537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www.reallygreatsite.com</a:t>
            </a:r>
            <a:endParaRPr lang="en-US" sz="2100" u="none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5738073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E-mail</a:t>
            </a:r>
            <a:endParaRPr lang="en-US" sz="20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78247" y="5712038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hello@reallygreatsite.com</a:t>
            </a:r>
            <a:endParaRPr lang="en-US" sz="2100" u="none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6330711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Social Media</a:t>
            </a:r>
            <a:endParaRPr lang="en-US" sz="20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178247" y="6304676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@reallygreatsite</a:t>
            </a:r>
            <a:endParaRPr lang="en-US" sz="21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6923349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Phone</a:t>
            </a:r>
            <a:endParaRPr lang="en-US" sz="20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78247" y="6897314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+123-456-7890</a:t>
            </a:r>
            <a:endParaRPr lang="en-US" sz="2100" u="none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7515987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Address</a:t>
            </a:r>
            <a:endParaRPr lang="en-US" sz="20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178247" y="7489952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123 Anywhere St., Any City, ST 12345</a:t>
            </a:r>
            <a:endParaRPr lang="en-US" sz="2100" u="none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4803775"/>
            <a:ext cx="47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CONTACT US</a:t>
            </a:r>
            <a:endParaRPr lang="en-US" sz="2000" b="1" u="none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98559" y="1438574"/>
            <a:ext cx="3493612" cy="1759510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99199" y="1438574"/>
            <a:ext cx="2008120" cy="1781750"/>
          </a:xfrm>
          <a:custGeom>
            <a:avLst/>
            <a:gdLst/>
            <a:ahLst/>
            <a:cxnLst/>
            <a:rect l="l" t="t" r="r" b="b"/>
            <a:pathLst>
              <a:path w="2008120" h="1781750">
                <a:moveTo>
                  <a:pt x="0" y="0"/>
                </a:moveTo>
                <a:lnTo>
                  <a:pt x="2008120" y="0"/>
                </a:lnTo>
                <a:lnTo>
                  <a:pt x="2008120" y="1781749"/>
                </a:lnTo>
                <a:lnTo>
                  <a:pt x="0" y="17817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398559" y="3800774"/>
            <a:ext cx="3493612" cy="3493612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648272" y="1438574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48272" y="6126134"/>
            <a:ext cx="2611028" cy="1428944"/>
          </a:xfrm>
          <a:custGeom>
            <a:avLst/>
            <a:gdLst/>
            <a:ahLst/>
            <a:cxnLst/>
            <a:rect l="l" t="t" r="r" b="b"/>
            <a:pathLst>
              <a:path w="2611028" h="1428944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648272" y="7989418"/>
            <a:ext cx="2611028" cy="1020674"/>
          </a:xfrm>
          <a:custGeom>
            <a:avLst/>
            <a:gdLst/>
            <a:ahLst/>
            <a:cxnLst/>
            <a:rect l="l" t="t" r="r" b="b"/>
            <a:pathLst>
              <a:path w="2611028" h="1020674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398559" y="7894461"/>
            <a:ext cx="3493612" cy="1200532"/>
          </a:xfrm>
          <a:custGeom>
            <a:avLst/>
            <a:gdLst/>
            <a:ahLst/>
            <a:cxnLst/>
            <a:rect l="l" t="t" r="r" b="b"/>
            <a:pathLst>
              <a:path w="3493612" h="1200532">
                <a:moveTo>
                  <a:pt x="0" y="0"/>
                </a:moveTo>
                <a:lnTo>
                  <a:pt x="3493612" y="0"/>
                </a:lnTo>
                <a:lnTo>
                  <a:pt x="3493612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945187" y="3960992"/>
            <a:ext cx="1916143" cy="1505043"/>
          </a:xfrm>
          <a:custGeom>
            <a:avLst/>
            <a:gdLst/>
            <a:ahLst/>
            <a:cxnLst/>
            <a:rect l="l" t="t" r="r" b="b"/>
            <a:pathLst>
              <a:path w="1916143" h="1505043">
                <a:moveTo>
                  <a:pt x="0" y="0"/>
                </a:moveTo>
                <a:lnTo>
                  <a:pt x="1916144" y="0"/>
                </a:lnTo>
                <a:lnTo>
                  <a:pt x="1916144" y="1505044"/>
                </a:lnTo>
                <a:lnTo>
                  <a:pt x="0" y="150504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865507" y="6126134"/>
            <a:ext cx="2167480" cy="1087681"/>
          </a:xfrm>
          <a:custGeom>
            <a:avLst/>
            <a:gdLst/>
            <a:ahLst/>
            <a:cxnLst/>
            <a:rect l="l" t="t" r="r" b="b"/>
            <a:pathLst>
              <a:path w="2167480" h="1087681">
                <a:moveTo>
                  <a:pt x="0" y="0"/>
                </a:moveTo>
                <a:lnTo>
                  <a:pt x="2167480" y="0"/>
                </a:lnTo>
                <a:lnTo>
                  <a:pt x="2167480" y="1087681"/>
                </a:lnTo>
                <a:lnTo>
                  <a:pt x="0" y="10876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206927" y="7752407"/>
            <a:ext cx="1484639" cy="1484639"/>
          </a:xfrm>
          <a:custGeom>
            <a:avLst/>
            <a:gdLst/>
            <a:ahLst/>
            <a:cxnLst/>
            <a:rect l="l" t="t" r="r" b="b"/>
            <a:pathLst>
              <a:path w="1484639" h="1484639">
                <a:moveTo>
                  <a:pt x="0" y="0"/>
                </a:moveTo>
                <a:lnTo>
                  <a:pt x="1484640" y="0"/>
                </a:lnTo>
                <a:lnTo>
                  <a:pt x="1484640" y="1484639"/>
                </a:lnTo>
                <a:lnTo>
                  <a:pt x="0" y="148463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247775"/>
            <a:ext cx="6118024" cy="123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10" u="none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Resource </a:t>
            </a:r>
            <a:endParaRPr lang="en-US" sz="5810" u="none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10" u="none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Page</a:t>
            </a:r>
            <a:endParaRPr lang="en-US" sz="5810" u="none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3159984"/>
            <a:ext cx="6084332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 THESE DESIGN RESOURCES IN YOUR CANVA PRESENTATION. HAPPY DESIGNING! </a:t>
            </a:r>
            <a:endParaRPr lang="en-US" sz="2000" b="1" u="none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DELETE OR HIDE THIS PAGE BEFORE PRESENTING. </a:t>
            </a:r>
            <a:endParaRPr lang="en-US" sz="2000" b="1" u="none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841721" y="2092181"/>
          <a:ext cx="10417579" cy="6102638"/>
        </p:xfrm>
        <a:graphic>
          <a:graphicData uri="http://schemas.openxmlformats.org/drawingml/2006/table">
            <a:tbl>
              <a:tblPr/>
              <a:tblGrid>
                <a:gridCol w="5208789"/>
                <a:gridCol w="5208789"/>
              </a:tblGrid>
              <a:tr h="1443756"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 for blur</a:t>
                      </a:r>
                      <a:endParaRPr lang="en-US" sz="1100"/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 for confetti</a:t>
                      </a:r>
                      <a:endParaRPr lang="en-US" sz="1100"/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756"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 for a drumroll</a:t>
                      </a:r>
                      <a:endParaRPr lang="en-US" sz="1100"/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 for mic drop</a:t>
                      </a:r>
                      <a:endParaRPr lang="en-US" sz="1100"/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756"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 for bubbles</a:t>
                      </a:r>
                      <a:endParaRPr lang="en-US" sz="1100"/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Q for quiet</a:t>
                      </a:r>
                      <a:endParaRPr lang="en-US" sz="1100"/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1369"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 for unveil</a:t>
                      </a:r>
                      <a:endParaRPr lang="en-US" sz="1100"/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Any number from 0-9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for a timer</a:t>
                      </a:r>
                      <a:endParaRPr lang="en-US" sz="210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5793388" y="7137736"/>
            <a:ext cx="1641362" cy="2114167"/>
          </a:xfrm>
          <a:custGeom>
            <a:avLst/>
            <a:gdLst/>
            <a:ahLst/>
            <a:cxnLst/>
            <a:rect l="l" t="t" r="r" b="b"/>
            <a:pathLst>
              <a:path w="1641362" h="2114167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247775"/>
            <a:ext cx="5585369" cy="123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10" u="none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Resource </a:t>
            </a:r>
            <a:endParaRPr lang="en-US" sz="5810" u="none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10" u="none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Page</a:t>
            </a:r>
            <a:endParaRPr lang="en-US" sz="5810" u="none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081337"/>
            <a:ext cx="5078095" cy="280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FIND THE MAGIC AND FUN IN PRESENTING WITH CANVA PRESENTATIONS. PRESS THE FOLLOWING KEYS WHILE ON PRESENT MODE! </a:t>
            </a:r>
            <a:endParaRPr lang="en-US" sz="2000" b="1" u="none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DELETE OR HIDE THIS PAGE BEFORE PRESENTING. </a:t>
            </a:r>
            <a:endParaRPr lang="en-US" sz="2000" b="1" u="none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4" b="-3364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230341" y="1538288"/>
          <a:ext cx="9762259" cy="7210427"/>
        </p:xfrm>
        <a:graphic>
          <a:graphicData uri="http://schemas.openxmlformats.org/drawingml/2006/table">
            <a:tbl>
              <a:tblPr/>
              <a:tblGrid>
                <a:gridCol w="8386265"/>
              </a:tblGrid>
              <a:tr h="1201738"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Click the Share button on the top right corner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of your screen and select 'Present and Record.'</a:t>
                      </a:r>
                      <a:endParaRPr lang="en-US" sz="210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1738"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Click ‘Go to recording studio,’ where you can choose the video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and audio source for your video presentation.</a:t>
                      </a:r>
                      <a:endParaRPr lang="en-US" sz="210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1738"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Feel free to choose the ‘No camera’ option and record your voice only. </a:t>
                      </a:r>
                      <a:endParaRPr lang="en-US" sz="1100"/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771"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Start recording, and press pause in between takes if you have to.</a:t>
                      </a:r>
                      <a:endParaRPr lang="en-US" sz="1100"/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704"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Once you're done, download your Canva Presentation in MP4 file format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or get a link to your Talking Presentation and share it with others. </a:t>
                      </a:r>
                      <a:endParaRPr lang="en-US" sz="210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1738">
                <a:tc>
                  <a:txBody>
                    <a:bodyPr rtlCol="0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You can also record a video inside the editor!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Go to 'Uploads' and click on 'Record yourself'.</a:t>
                      </a:r>
                      <a:endParaRPr lang="en-US" sz="210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</a:txBody>
                  <a:tcPr marL="190500" marR="190500" marT="190500" marB="190500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028700" y="7829356"/>
            <a:ext cx="2611028" cy="1428944"/>
          </a:xfrm>
          <a:custGeom>
            <a:avLst/>
            <a:gdLst/>
            <a:ahLst/>
            <a:cxnLst/>
            <a:rect l="l" t="t" r="r" b="b"/>
            <a:pathLst>
              <a:path w="2611028" h="1428944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247775"/>
            <a:ext cx="5660824" cy="123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10" u="none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Resource </a:t>
            </a:r>
            <a:endParaRPr lang="en-US" sz="5810" u="none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10" u="none" spc="-458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Page</a:t>
            </a:r>
            <a:endParaRPr lang="en-US" sz="5810" u="none" spc="-458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108960"/>
            <a:ext cx="5814060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PRESENTING LIVE NOT YOUR THING? NO WORRIES! RECORD YOUR CANVA PRESENTATION YOUR AUDIENCE CAN WATCH AT THEIR OWN PACE. </a:t>
            </a:r>
            <a:endParaRPr lang="en-US" sz="2000" b="1" u="none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DON'T FORGET TO DELETE OR HIDE THIS PAGE BEFORE PRESENTING. </a:t>
            </a:r>
            <a:endParaRPr lang="en-US" sz="2000" b="1" u="none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4628</Words>
  <Application>WPS Presentation</Application>
  <PresentationFormat>On-screen Show (4:3)</PresentationFormat>
  <Paragraphs>323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Archivo Black</vt:lpstr>
      <vt:lpstr>Garet Bold</vt:lpstr>
      <vt:lpstr>Garet</vt:lpstr>
      <vt:lpstr>Garet Light</vt:lpstr>
      <vt:lpstr>Microsoft YaHei</vt:lpstr>
      <vt:lpstr>Arial Unicode MS</vt:lpstr>
      <vt:lpstr>Calibri</vt:lpstr>
      <vt:lpstr>Times New Roman</vt:lpstr>
      <vt:lpstr>Cambria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Minimalist Project Deck Presentation</dc:title>
  <dc:creator/>
  <cp:lastModifiedBy>rithani</cp:lastModifiedBy>
  <cp:revision>3</cp:revision>
  <dcterms:created xsi:type="dcterms:W3CDTF">2006-08-16T00:00:00Z</dcterms:created>
  <dcterms:modified xsi:type="dcterms:W3CDTF">2026-10-09T09:27:23Z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63F6C211C19C4EBCAF746607043C2EA8</vt:lpwstr>
  </property>
  <property fmtid="{D5CDD505-2E9C-101B-9397-08002B2CF9AE}" pid="3" name="KSOProductBuildVer">
    <vt:lpwstr>1033-11.2.0.10463</vt:lpwstr>
  </property>
</Properties>
</file>