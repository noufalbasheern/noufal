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3"/>
    <p:sldId id="258" r:id="rId4"/>
    <p:sldId id="447" r:id="rId5"/>
    <p:sldId id="266" r:id="rId6"/>
    <p:sldId id="419" r:id="rId7"/>
    <p:sldId id="446" r:id="rId8"/>
    <p:sldId id="270" r:id="rId9"/>
    <p:sldId id="401" r:id="rId10"/>
    <p:sldId id="284" r:id="rId11"/>
    <p:sldId id="396" r:id="rId12"/>
    <p:sldId id="442" r:id="rId13"/>
    <p:sldId id="393" r:id="rId14"/>
    <p:sldId id="273" r:id="rId15"/>
    <p:sldId id="443" r:id="rId16"/>
    <p:sldId id="400" r:id="rId17"/>
    <p:sldId id="411" r:id="rId18"/>
    <p:sldId id="408" r:id="rId19"/>
    <p:sldId id="444" r:id="rId20"/>
    <p:sldId id="445" r:id="rId21"/>
    <p:sldId id="449" r:id="rId22"/>
    <p:sldId id="450" r:id="rId23"/>
    <p:sldId id="451" r:id="rId24"/>
    <p:sldId id="459" r:id="rId25"/>
    <p:sldId id="454" r:id="rId26"/>
    <p:sldId id="455" r:id="rId27"/>
    <p:sldId id="456" r:id="rId28"/>
    <p:sldId id="457" r:id="rId29"/>
    <p:sldId id="458" r:id="rId30"/>
    <p:sldId id="452" r:id="rId31"/>
    <p:sldId id="453" r:id="rId32"/>
    <p:sldId id="29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LGB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DCDC"/>
                </a:solidFill>
                <a:latin typeface="Aptos"/>
              </a:rPr>
              <a:t>OPERATIONS TECHNOLOGY</a:t>
            </a:r>
            <a:endParaRPr sz="1100" b="1">
              <a:solidFill>
                <a:srgbClr val="91DCD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30352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"/>
              </a:rPr>
              <a:t>Oct </a:t>
            </a:r>
            <a:r>
              <a:rPr sz="3200" b="1">
                <a:solidFill>
                  <a:srgbClr val="FFFFFF"/>
                </a:solidFill>
                <a:latin typeface="Aptos"/>
              </a:rPr>
              <a:t>2026</a:t>
            </a:r>
            <a:endParaRPr sz="3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31393" y="2660650"/>
            <a:ext cx="804672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ptos"/>
              </a:rPr>
              <a:t>Monthly Project Progress</a:t>
            </a:r>
            <a:endParaRPr sz="2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49808" y="3310128"/>
            <a:ext cx="777240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>
                <a:solidFill>
                  <a:srgbClr val="CDD8E1"/>
                </a:solidFill>
                <a:latin typeface="Aptos"/>
              </a:rPr>
              <a:t>Software &amp; IOT</a:t>
            </a:r>
            <a:endParaRPr lang="en-US" sz="1300" b="0">
              <a:solidFill>
                <a:srgbClr val="CDD8E1"/>
              </a:solidFill>
              <a:latin typeface="Apto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74573" y="5394960"/>
            <a:ext cx="914400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>
                <a:solidFill>
                  <a:srgbClr val="B4C4D2"/>
                </a:solidFill>
                <a:latin typeface="Aptos"/>
              </a:rPr>
              <a:t>Annur</a:t>
            </a:r>
            <a:r>
              <a:rPr sz="1100" b="0">
                <a:solidFill>
                  <a:srgbClr val="B4C4D2"/>
                </a:solidFill>
                <a:latin typeface="Aptos"/>
              </a:rPr>
              <a:t>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PGR</a:t>
            </a:r>
            <a:r>
              <a:rPr sz="1100" b="0">
                <a:solidFill>
                  <a:srgbClr val="B4C4D2"/>
                </a:solidFill>
                <a:latin typeface="Aptos"/>
              </a:rPr>
              <a:t> 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K-palayam</a:t>
            </a:r>
            <a:r>
              <a:rPr sz="1100" b="0">
                <a:solidFill>
                  <a:srgbClr val="B4C4D2"/>
                </a:solidFill>
                <a:latin typeface="Aptos"/>
              </a:rPr>
              <a:t> 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FPD</a:t>
            </a:r>
            <a:r>
              <a:rPr sz="1100" b="0">
                <a:solidFill>
                  <a:srgbClr val="B4C4D2"/>
                </a:solidFill>
                <a:latin typeface="Aptos"/>
              </a:rPr>
              <a:t> </a:t>
            </a:r>
            <a:endParaRPr sz="1100" b="0">
              <a:solidFill>
                <a:srgbClr val="B4C4D2"/>
              </a:solidFill>
              <a:latin typeface="Aptos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LGB | Operations Technology</a:t>
            </a:r>
            <a:endParaRPr sz="800" b="0">
              <a:solidFill>
                <a:srgbClr val="5A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pitchFamily="34" charset="0"/>
                <a:ea typeface="Garet Bold"/>
                <a:cs typeface="Cambria" panose="02040503050406030204" pitchFamily="34" charset="0"/>
                <a:sym typeface="Garet Bold"/>
              </a:rPr>
              <a:t> YEARLY PLAN - PROJECTS 2026</a:t>
            </a:r>
            <a:endParaRPr lang="en-US" altLang="en-US" sz="2000" u="sng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Cambria" panose="02040503050406030204" pitchFamily="34" charset="0"/>
              <a:ea typeface="Garet Bold"/>
              <a:cs typeface="Cambria" panose="02040503050406030204" pitchFamily="34" charset="0"/>
              <a:sym typeface="Garet 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Content Placeholder 12"/>
          <p:cNvGraphicFramePr/>
          <p:nvPr>
            <p:ph idx="1"/>
          </p:nvPr>
        </p:nvGraphicFramePr>
        <p:xfrm>
          <a:off x="340995" y="664210"/>
          <a:ext cx="11481435" cy="5804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80"/>
                <a:gridCol w="1444625"/>
                <a:gridCol w="3843020"/>
                <a:gridCol w="1732280"/>
                <a:gridCol w="1096645"/>
                <a:gridCol w="1001395"/>
                <a:gridCol w="1443990"/>
              </a:tblGrid>
              <a:tr h="370205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2026 Projects Plan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lang="en-US" altLang="en-US" sz="10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Name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Description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Plant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4940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Digitization - Existing Projects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 Furnace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furnace monitoring and inspection system that ensures process quality, safety compliance, and operational parameter checks during heat treatment operations.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Pongalur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Vaiyampalaym,Chennai,Annur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(In progress)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SEP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FEB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Operator Buddy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digital assistant system that guides shop-floor operators through tasks, checks, and data entry to ensure correct and efficient production activities.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Kpalaym,Pongalur,Ppalayam,Annur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Press </a:t>
                      </a: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Digitilization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enables tracking, compliance, and lifecycle management of equipment and related activities across the shop floor.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PONGALUR, ANNUR &amp; CHENNAI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0706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PRISM 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Manufacturing Execution System that integrates and reports real-time production data from shop floor operations for monitoring and control.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Kpalaym,Pongalur</a:t>
                      </a:r>
                      <a:r>
                        <a:rPr lang="en-US" sz="900" b="1" i="0" u="none" strike="noStrike" noProof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Ppalayam</a:t>
                      </a:r>
                      <a:r>
                        <a:rPr lang="en-US" sz="900" b="1" i="0" u="none" strike="noStrike" noProof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Annur,Vaiyampalayam,chennai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AI Production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 AI-driven furnace analytics system that monitors utilization, charge parameters, cycle time, and setpoint deviations to evaluate process performance and quality in real time.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provides RED/GREEN insights, target attainment analysis, and operational dashboards to optimize furnace efficiency and compliance.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Initated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 and Testing In progress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COE (Testing)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26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SFQA(Shopfloor Quality Assist)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system or process that supports real-time quality inspection and assurance activities directly on the manufacturing shop floor.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Kpalayam,Ppalayam,pongalur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 24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AssetHub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centralized asset management platform that integrates modules such as metallurgy, instrument calibration, and operational checklists to manage manufacturing assets and quality processes.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Pongalur,ppalayam,kpalayam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099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/>
                        </a:rPr>
                        <a:t>OTNEXUS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OTNexus is a centralized web-based industrial utility platform that provides essential engineering, production, quality, IT, and business tools.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Inprogress</a:t>
                      </a:r>
                      <a:endParaRPr lang="en-US" altLang="en-US" sz="9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Common for all plant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JULY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3685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/>
                        </a:rPr>
                        <a:t>Servo 8T press machine</a:t>
                      </a: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SFQA is an automated quality validation and traceability system integrated with the 8T Press Servo Machine and PLC to prevent incorrect assembly and ensure product quality.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i="0" u="none" strike="noStrike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P.Palayam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JULY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3685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Kit Packing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Kit Packing Application prevents incorrect kit dispatch by ensuring the right components are packed for the right order.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enables complete reverse traceability of every kit, ensuring transparency and accountability throughout the dispatch process.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Ganapathy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Sept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Nov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pitchFamily="34" charset="0"/>
                <a:ea typeface="Garet Bold"/>
                <a:cs typeface="Cambria" panose="02040503050406030204" pitchFamily="34" charset="0"/>
                <a:sym typeface="Garet Bold"/>
              </a:rPr>
              <a:t> YEARLY PLAN - PROJECTS 2026</a:t>
            </a:r>
            <a:endParaRPr lang="en-US" altLang="en-US" sz="2000" u="sng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Cambria" panose="02040503050406030204" pitchFamily="34" charset="0"/>
              <a:ea typeface="Garet Bold"/>
              <a:cs typeface="Cambria" panose="02040503050406030204" pitchFamily="34" charset="0"/>
              <a:sym typeface="Garet 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Content Placeholder 12"/>
          <p:cNvGraphicFramePr/>
          <p:nvPr>
            <p:ph idx="1"/>
          </p:nvPr>
        </p:nvGraphicFramePr>
        <p:xfrm>
          <a:off x="340995" y="711835"/>
          <a:ext cx="11481435" cy="5804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80"/>
                <a:gridCol w="1444625"/>
                <a:gridCol w="3843020"/>
                <a:gridCol w="1732280"/>
                <a:gridCol w="1096645"/>
                <a:gridCol w="1001395"/>
                <a:gridCol w="1443990"/>
              </a:tblGrid>
              <a:tr h="370205">
                <a:tc gridSpan="7"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2026 Projects Plan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lang="en-US" altLang="en-US" sz="10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Name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Description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Plant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4940">
                <a:tc gridSpan="7"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Digitization - Existing Projects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FPD Press Phase 2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It enables tracking, compliance, and lifecycle management of equipment and related activities across the shop floor at banglore jalna pantnagar lsp FPD2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All FPD Plants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585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SMD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Air bag stitch analysis 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SMD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Sept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11885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  <a:hlinkClick r:id="" action="ppaction://noaction"/>
              </a:rPr>
              <a:t>Furnace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Furnace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221615" y="607695"/>
          <a:ext cx="11747500" cy="5730875"/>
        </p:xfrm>
        <a:graphic>
          <a:graphicData uri="http://schemas.openxmlformats.org/drawingml/2006/table">
            <a:tbl>
              <a:tblPr/>
              <a:tblGrid>
                <a:gridCol w="712470"/>
                <a:gridCol w="3154680"/>
                <a:gridCol w="1514475"/>
                <a:gridCol w="922655"/>
                <a:gridCol w="930275"/>
                <a:gridCol w="820420"/>
                <a:gridCol w="977265"/>
                <a:gridCol w="705485"/>
                <a:gridCol w="1218565"/>
                <a:gridCol w="791210"/>
              </a:tblGrid>
              <a:tr h="50355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- PHASE 1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altLang="en-GB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4041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 gridSpan="10">
                  <a:txBody>
                    <a:bodyPr/>
                    <a:p>
                      <a:pPr algn="l" fontAlgn="ctr"/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CP data in single report should be in float type.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08-Oct-2026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08-Oct-2026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Process Integration from pre heat to tempering - report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Excel mapping to PRISM, Red Charge &amp; Green Charge based on set time and set point.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Charge comparison report for same part number across furnaces and different part numbers in same furnace.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5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Furnace utilization comparison dashboard/report.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22-Oct-2026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Energy dummy data loading for different charges and part numbers.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27-Oct-2026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7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Single chart report as main dashboard.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8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Auto History Card printing based on work order, part number and telemetry data.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15-Oct-2026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9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Instrument calibration due monitoring and API integration to PRISM.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27-Oct-2026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Furnace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35" y="1193800"/>
            <a:ext cx="5844540" cy="4438015"/>
          </a:xfrm>
          <a:prstGeom prst="rect">
            <a:avLst/>
          </a:prstGeom>
        </p:spPr>
      </p:pic>
      <p:pic>
        <p:nvPicPr>
          <p:cNvPr id="16" name="Content Placeholder 1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5810" y="1194435"/>
            <a:ext cx="6345555" cy="4436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8E6BA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IN" altLang="en-US" sz="9000" b="1" dirty="0">
              <a:solidFill>
                <a:srgbClr val="8E6BA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8E6BAE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Operator Buddy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 Buddy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OCTOMBER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375920" y="720090"/>
          <a:ext cx="11409045" cy="3413125"/>
        </p:xfrm>
        <a:graphic>
          <a:graphicData uri="http://schemas.openxmlformats.org/drawingml/2006/table">
            <a:tbl>
              <a:tblPr/>
              <a:tblGrid>
                <a:gridCol w="740410"/>
                <a:gridCol w="3553460"/>
                <a:gridCol w="1566545"/>
                <a:gridCol w="762635"/>
                <a:gridCol w="763270"/>
                <a:gridCol w="811530"/>
                <a:gridCol w="713740"/>
                <a:gridCol w="645795"/>
                <a:gridCol w="1158240"/>
                <a:gridCol w="693420"/>
              </a:tblGrid>
              <a:tr h="37782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- Phase 2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First stage entry in operator buddy (SAP not integrated - POC)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Assembly stage entry development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Hariharasudhan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Plan Vs Actual in WIP screen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08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Process Integration from pre heat to tempering 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8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Press Digitilization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Press Digitilization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OCTOMBER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375920" y="720090"/>
          <a:ext cx="11409045" cy="4196715"/>
        </p:xfrm>
        <a:graphic>
          <a:graphicData uri="http://schemas.openxmlformats.org/drawingml/2006/table">
            <a:tbl>
              <a:tblPr/>
              <a:tblGrid>
                <a:gridCol w="740410"/>
                <a:gridCol w="3553460"/>
                <a:gridCol w="1566545"/>
                <a:gridCol w="762635"/>
                <a:gridCol w="763270"/>
                <a:gridCol w="791845"/>
                <a:gridCol w="733425"/>
                <a:gridCol w="626110"/>
                <a:gridCol w="1177925"/>
                <a:gridCol w="693420"/>
              </a:tblGrid>
              <a:tr h="37782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Press Digitilization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KG Conversion - Maestro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Vishnunirmalan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Work order completion alarm - Maestro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Hariharasudhan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Maestro Stroke count into Prism Dashboard 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Hariharasudhan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  <a:p>
                      <a:pPr indent="0">
                        <a:buNone/>
                      </a:pP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>
                          <a:latin typeface="Cambria" panose="02040503050406030204" pitchFamily="34" charset="0"/>
                          <a:cs typeface="Cambria" panose="02040503050406030204" pitchFamily="34" charset="0"/>
                          <a:sym typeface="+mn-ea"/>
                        </a:rPr>
                        <a:t>Maestro Downtime count into Prism Dashboard 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  <a:p>
                      <a:pPr indent="0">
                        <a:buNone/>
                      </a:pP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Hariharasudhan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7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 panose="020B0604020202020204" charset="-122"/>
                          <a:sym typeface="+mn-ea"/>
                        </a:rPr>
                        <a:t> Machine Reports</a:t>
                      </a:r>
                      <a:endParaRPr lang="en-US" altLang="en-US" sz="1100" b="1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20-Oct-2026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24-Oct-2026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Hariharasudhan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8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15 FPD Digitilization (LSP,FPD 2, Jalna,Pantnagar,Nagpur,Banglore)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IoT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Vishnunirmalan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LAN Survey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184150" y="381000"/>
          <a:ext cx="11169650" cy="600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10"/>
                <a:gridCol w="2054225"/>
                <a:gridCol w="1090295"/>
                <a:gridCol w="1091565"/>
                <a:gridCol w="1155065"/>
                <a:gridCol w="1092200"/>
                <a:gridCol w="1026795"/>
                <a:gridCol w="2182495"/>
              </a:tblGrid>
              <a:tr h="300355">
                <a:tc grid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 Display" charset="-122"/>
                        </a:rPr>
                        <a:t>MAESTRO REPLICATION IN PRISM</a:t>
                      </a:r>
                      <a:endParaRPr lang="en-US" altLang="en-US" sz="1800" b="1">
                        <a:solidFill>
                          <a:srgbClr val="FFFFFF"/>
                        </a:solidFill>
                        <a:latin typeface="Aptos Display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56082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194310">
                <a:tc grid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 i="1">
                          <a:solidFill>
                            <a:srgbClr val="44546A"/>
                          </a:solidFill>
                          <a:latin typeface="Calibri" panose="020F0502020204030204" charset="-122"/>
                        </a:rPr>
                        <a:t>Navigation module implementation checklist and schedule</a:t>
                      </a:r>
                      <a:endParaRPr lang="en-US" altLang="en-US" sz="900" b="0" i="1">
                        <a:solidFill>
                          <a:srgbClr val="44546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32321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800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Navbar Category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Checklist / Menu Item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 Start Date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 End Date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 Date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 Date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B99"/>
                    </a:solidFill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Daily Dashboard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Report Dashboard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Machine Dashboard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Dashboard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Part Management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Work Order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Work Order Schedule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Production Schedule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Manual Entries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Quality Check Sheets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Quality Check Sheets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Required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Maintenance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Maintenance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Asset Hub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Masters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Tool Master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Masters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Quality Master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Not Required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Masters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Maintenance Master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Not Required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Settings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Settings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Shift setting available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Report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Production Reports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Report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17663A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☑</a:t>
                      </a:r>
                      <a:r>
                        <a:rPr lang="en-US" sz="1000" b="0">
                          <a:solidFill>
                            <a:srgbClr val="17663A"/>
                          </a:solidFill>
                          <a:latin typeface="Arial" panose="020B0604020202020204" charset="-122"/>
                        </a:rPr>
                        <a:t>  DownTime Reports</a:t>
                      </a:r>
                      <a:endParaRPr lang="en-US" altLang="en-US" sz="1000" b="0">
                        <a:solidFill>
                          <a:srgbClr val="17663A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17663A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1000" b="1">
                        <a:solidFill>
                          <a:srgbClr val="17663A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D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Report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Quality Checksheet Reports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Not Required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Report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Organisation Reports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Not Required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Report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charset="-122"/>
                        </a:rPr>
                        <a:t>☐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  Machine Reports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20-Oct-2026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24-Oct-2026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7F6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1000" b="0">
                        <a:solidFill>
                          <a:srgbClr val="7F6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 PRESS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Press Dashboard In PRISM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00" y="1120775"/>
            <a:ext cx="6692265" cy="3278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PRISM 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OCTOMBER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391795" y="739775"/>
          <a:ext cx="11614150" cy="3867785"/>
        </p:xfrm>
        <a:graphic>
          <a:graphicData uri="http://schemas.openxmlformats.org/drawingml/2006/table">
            <a:tbl>
              <a:tblPr/>
              <a:tblGrid>
                <a:gridCol w="740410"/>
                <a:gridCol w="2879725"/>
                <a:gridCol w="1390650"/>
                <a:gridCol w="1124585"/>
                <a:gridCol w="889635"/>
                <a:gridCol w="967740"/>
                <a:gridCol w="753110"/>
                <a:gridCol w="606425"/>
                <a:gridCol w="1070610"/>
                <a:gridCol w="1191260"/>
              </a:tblGrid>
              <a:tr h="37782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PRISM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Machine Monitering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 Progress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Under development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All Reports Optimization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Durga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 CNC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CNC Dashboard In PRISM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Content Placeholder 1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1625" y="1880235"/>
            <a:ext cx="6910705" cy="33921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Kit Packing 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4128770" y="6399530"/>
            <a:ext cx="3863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sz="2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204470" y="36195"/>
          <a:ext cx="11832590" cy="664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30"/>
                <a:gridCol w="2898140"/>
                <a:gridCol w="897255"/>
                <a:gridCol w="850900"/>
                <a:gridCol w="852170"/>
                <a:gridCol w="851535"/>
                <a:gridCol w="851535"/>
                <a:gridCol w="1763395"/>
                <a:gridCol w="958850"/>
                <a:gridCol w="1376680"/>
              </a:tblGrid>
              <a:tr h="212725">
                <a:tc grid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KIT PACKING PROJECT – WBS / PROJECT SCHEDULE</a:t>
                      </a:r>
                      <a:endParaRPr lang="en-US" altLang="en-US" sz="10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163195">
                <a:tc grid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 i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STO → Feasibility → Packing → Parent Label → SAP Production Entry → ATD → Invoice → Dispatch</a:t>
                      </a:r>
                      <a:endParaRPr lang="en-US" altLang="en-US" sz="700" b="1" i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22923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2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 No.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Description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Duration (Days)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Finish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Finish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% Completion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</a:tr>
              <a:tr h="163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1.00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INITIATE &amp; REQUIREMENT CONFIRMATION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Review KIT packing business requirement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25.08.2026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30.08.2026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25.08.2026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30.08.2026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Confirm end-to-end process with requester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Confirm project scope, deliverables and priorities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Raise BAPI requirements / requisition to SAP team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2.00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SAP INTEGRATION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STO Plan – BAPI integration and SAP data fetching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Feasibility – BAPI integration and SAP data fetching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 Entry – finalize BAPI with SAP team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Fields to be confirmed with SAP for Production entry  after demo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ATD Location – finalize BAPI/interface with SAP team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Fields to be confirmed with SAP for Production entry  after demo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Invoicing – finalize BAPI/interface with SAP team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Fields to be confirmed with SAP for Production entry  after demo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3.00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UI DEVELOPMENT &amp; PACKING PROCESS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Daily plan UI – STO and feasibility display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Packing screen development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Kit scanning and packing validation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Parent QR / Parent Label generation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21.09.2026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Packing transaction / status handling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Under 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4.00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SAP COMPLETION &amp; END-TO-END PROCESS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 entry after parent label generation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Packed stock management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ATD automatic location assignment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Manual ATD assignment / override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Invoice generation and SAP integration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26.10.2026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31.10.2026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Transporter / LR details and label flow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5.00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TESTING, DEMO &amp; VALIDATION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000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Demo preparation – STO + Feasibility + Packing + Parent Label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Ready for Demo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Demo to requester and collect feedback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changes / final scope freeze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SAP integration testing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End-to-end testing / UAT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6.00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FINAL HANDOVER &amp; GO-LIVE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Final demo and business approval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Production deployment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Project handover / go-live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26.11.2026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30.11.2026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HISTORY REPORT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History Dashboard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4850" y="1919605"/>
            <a:ext cx="6396990" cy="2532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REVERSE TRACEABILITY CARD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Reverse Traceability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4530" y="758825"/>
            <a:ext cx="5287010" cy="52063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7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SMD - AIRBAG STITCH PATTERN ANALYSIS – WBS / PROJECT SCHEDULE 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/>
          <p:nvPr>
            <p:ph idx="1"/>
          </p:nvPr>
        </p:nvGraphicFramePr>
        <p:xfrm>
          <a:off x="77470" y="80010"/>
          <a:ext cx="11959590" cy="6659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/>
                <a:gridCol w="1887855"/>
                <a:gridCol w="595630"/>
                <a:gridCol w="518795"/>
                <a:gridCol w="566420"/>
                <a:gridCol w="448310"/>
                <a:gridCol w="495300"/>
                <a:gridCol w="3355975"/>
                <a:gridCol w="489585"/>
                <a:gridCol w="543560"/>
                <a:gridCol w="765175"/>
                <a:gridCol w="1626235"/>
              </a:tblGrid>
              <a:tr h="201295">
                <a:tc gridSpan="1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AIRBAG STITCH PATTERN ANALYSIS – WBS / PROJECT SCHEDULE</a:t>
                      </a:r>
                      <a:endParaRPr lang="en-US" altLang="en-US" sz="9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169545">
                <a:tc gridSpan="1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 i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Requirements → Camera Setup → Dataset → Segmentation Model → Geometry Analysis → PASS/NOT OK → Integration → Validation → Deployment</a:t>
                      </a:r>
                      <a:endParaRPr lang="en-US" altLang="en-US" sz="700" b="1" i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0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0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Description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Duration (Days)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Finish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Finish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 / Deliverable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% Completion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Weightage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Weighted Score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1.00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PROJECT INITIATION &amp; REQUIREMENTS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Review airbag stitch inspection requirements and current documentation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Define inspection scope, target patterns and production constraints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Confirm stitch classes and defect cases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Inner circle, outer circle, straight,notch,curved line,  incorrect pattern/position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Define measurement tolerances and acceptance rules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Confirm diameter, position, geometry, continuity and image-quality criteria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Finalize hardware, camera, lighting and runtime configuration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Raspberry Pi 4 Test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2.00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CAMERA, LIGHTING &amp; IMAGE ACQUISITION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Install and configure camera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Fixed camera position, focus, exposure and field of view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camera initialization and image capture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Capture inspection image for each inspection cycle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image-quality validation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31-09-26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Check image availability, brightness, blur/focus and ROI visibility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Define and validate stitch ROI extraction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Crop relevant airbag/stitch inspection region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3.00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DATASET PREPARATION &amp; ANNOTATION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Collect representative airbag stitch images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Include target patterns, backgrounds and production variations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Prepare positive and negative/defect examples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Missing stitch,  wrong pattern/position and image-quality failures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Annotate stitch regions with segmentation masks/polygons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Use agreed class names and consistent annotation rules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Review labels and remove duplicate/poor-quality images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Quality-check annotations and dataset coverage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Split dataset into training, validation and test sets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Record dataset version and class distribution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4.00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AI SEGMENTATION MODEL DEVELOPMENT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Configure training and augmentation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Use suitable rotation, scale, brightness and perspective variation where appropriate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Train stitch segmentation model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Train using reviewed segmentation dataset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Evaluate model and inspect false positives/false negatives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Review class-wise results and segmentation masks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Tune confidence/IoU settings and export deployment model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Record model version and deployment artifact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Validate inference on target hardware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Measure inference time on Raspberry Pi 4 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2.8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5.00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OPENCV GEOMETRY &amp; DECISION LOGIC</a:t>
                      </a: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69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circle detection 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Measure inner/outer circular stitch 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straight and curved stitch geometry checks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Evaluate shape and expected pattern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stitch continuity and missing/broken checks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Detect interruptions and missing regions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tolerance-based PASS / NOT OK decision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23/Sep/26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Combine image quality, geometry, position and continuity checks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50%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146050" y="86360"/>
          <a:ext cx="11870690" cy="664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490"/>
                <a:gridCol w="2111375"/>
                <a:gridCol w="666115"/>
                <a:gridCol w="581660"/>
                <a:gridCol w="633095"/>
                <a:gridCol w="501650"/>
                <a:gridCol w="554355"/>
                <a:gridCol w="3754755"/>
                <a:gridCol w="547370"/>
                <a:gridCol w="606425"/>
                <a:gridCol w="481965"/>
                <a:gridCol w="686435"/>
              </a:tblGrid>
              <a:tr h="251460">
                <a:tc gridSpan="1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AIRBAG STITCH PATTERN ANALYSIS – WBS / PROJECT SCHEDULE</a:t>
                      </a:r>
                      <a:endParaRPr lang="en-US" altLang="en-US" sz="12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196215">
                <a:tc gridSpan="1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 i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Requirements → Camera Setup → Dataset → Segmentation Model → Geometry Analysis → PASS/NOT OK → Integration → Validation → Deployment</a:t>
                      </a:r>
                      <a:endParaRPr lang="en-US" altLang="en-US" sz="800" b="1" i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2870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4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400" b="1"/>
                    </a:p>
                  </a:txBody>
                  <a:tcPr marL="12700" marR="12700" marT="12700" vert="horz" anchor="b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Description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Duration (Days)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Finish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Finish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 / Deliverable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% Completion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Weightage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Weighted Score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7365D"/>
                    </a:solidFill>
                  </a:tcPr>
                </a:tc>
              </a:tr>
              <a:tr h="2216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6.00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APPLICATION, DATABASE &amp; IMAGE STORAGE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E2F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20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6.01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Build inspection workflow and result flow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Capture → validate → ROI → segmentation → analysis → decision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Create PostgreSQL inspection result schema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Inspection ID, timestamp, part/serial, pattern, confidence, checks, result, defect reason, image path, model version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UI Design For SMD 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Develop a dashboard for stitch and part validation, store OK and NOT OK inspection reports, customize application settings, and automatically transfer data when storage reaches 80%.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Store inspection images, results and application logs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Organize by date and retain traceability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6.04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error handling and system logging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Camera, model, database, image-quality and storage errors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6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7.00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STORAGE MANAGEMENT &amp; NETWORK TRANSFER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7.01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continuous local-storage monitoring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Check local disk utilization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7.02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Trigger transfer when storage reaches 80%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Transfer older inspection data to configured PC/server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7.03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retry and network-failure handling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Keep untransferred data locally and retry automatically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6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7.04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Verify transferred files before local deletion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Delete only after successful verification; prevent duplicate transfer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7.05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Implement storage warning and critical alarm thresholds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80% transfer; 90% warning and 95% critical as configurable recommendations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8.00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TESTING, VALIDATION &amp; ACCEPTANCE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216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8.01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 each required stitch pattern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15/Sep/26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18/Sep/26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Inner circle, outer circle, straight and curved double stitch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8.02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 missing, wrong pattern/position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20/Sep/26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Expected NOT OK result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8.03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 geometry, diameter, position and continuity tolerances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Valid part PASS; out-of-tolerance part NOT OK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4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8.04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 blur, low light, camera/model/database failures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Expected image-quality/system error handling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8.05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 storage threshold, network outage and recovery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Retain data locally, retry, verify transfer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9.00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17365D"/>
                          </a:solidFill>
                          <a:latin typeface="Calibri" panose="020F0502020204030204" charset="-122"/>
                        </a:rPr>
                        <a:t>DEPLOYMENT, DOCUMENTATION &amp; HANDOVER</a:t>
                      </a: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17365D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216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9.01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 application and model to target Ubuntu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Configure camera, model, database and storage destination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9.02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Handover source code, model, configuration and test evidence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23/Oct/26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Release package and maintenance notes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Not Started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0%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6" name="Rectangle 3"/>
          <p:cNvSpPr/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7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9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Complete List of Digitalization Projects 2026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302260" y="478790"/>
          <a:ext cx="11373485" cy="610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"/>
                <a:gridCol w="342900"/>
                <a:gridCol w="807720"/>
                <a:gridCol w="664210"/>
                <a:gridCol w="1150620"/>
                <a:gridCol w="1814195"/>
                <a:gridCol w="602615"/>
                <a:gridCol w="561975"/>
                <a:gridCol w="520700"/>
                <a:gridCol w="478790"/>
                <a:gridCol w="875665"/>
                <a:gridCol w="657860"/>
                <a:gridCol w="2265680"/>
                <a:gridCol w="398145"/>
              </a:tblGrid>
              <a:tr h="350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493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&amp; Operator Buddy Implementation – Machine Interlock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Interlock completed for 7 machines; remaining 4 machines pending due to Ethernet connectivity issues.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Machine/PLC signal identification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 &amp; 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Interlock logic implementation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PRISM/Operator Buddy integration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Machine-wise testing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 machines completed. KM-TU-13 pending because the IP address is not responding to ping from the DB PC.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14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Partially 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DFE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 machines completed; 1 machine pending due to relay wiring by maintenance.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330835" y="360045"/>
          <a:ext cx="11510645" cy="6260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"/>
                <a:gridCol w="346710"/>
                <a:gridCol w="817880"/>
                <a:gridCol w="672465"/>
                <a:gridCol w="1165225"/>
                <a:gridCol w="1835150"/>
                <a:gridCol w="610235"/>
                <a:gridCol w="568325"/>
                <a:gridCol w="526415"/>
                <a:gridCol w="485140"/>
                <a:gridCol w="887730"/>
                <a:gridCol w="664845"/>
                <a:gridCol w="2293620"/>
                <a:gridCol w="401955"/>
              </a:tblGrid>
              <a:tr h="2590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Grinding Machine Datalogging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Datalogging is pending due to MBD assistance.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653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OPC/PLC/tag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communication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2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IP addresses are mapped; data logging needs to be completed for 8 machines using MT-Link.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CMBF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Partially Completed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DFE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 furnace completed and data integrated into PRISM; remaining 1 furnace pending due to Ethernet connectivity.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Rotary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for 14 furnaces is pending due to MBD assistance.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516255" y="414655"/>
          <a:ext cx="11197590" cy="609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/>
                <a:gridCol w="337820"/>
                <a:gridCol w="795655"/>
                <a:gridCol w="653415"/>
                <a:gridCol w="1132840"/>
                <a:gridCol w="1786255"/>
                <a:gridCol w="593090"/>
                <a:gridCol w="553085"/>
                <a:gridCol w="512445"/>
                <a:gridCol w="472440"/>
                <a:gridCol w="861695"/>
                <a:gridCol w="647700"/>
                <a:gridCol w="2230755"/>
                <a:gridCol w="391795"/>
              </a:tblGrid>
              <a:tr h="2628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Energy Meter Data Collection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Electrical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RS-485 converter device purchase from plant side is pending.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Meter/register mapping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RS-485 converter procurement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Modbus communication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Charge-IN and Charge-OUT Data Collection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Electrical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wiring requirement from plant side.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46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Charge-IN/OUT signal identification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input 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R&amp;D support from OT side is required.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OT/R&amp;D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communication/tag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6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vendor assistance for IP change.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/>
          <p:nvPr>
            <p:ph idx="1"/>
          </p:nvPr>
        </p:nvGraphicFramePr>
        <p:xfrm>
          <a:off x="388620" y="371475"/>
          <a:ext cx="11452860" cy="613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"/>
                <a:gridCol w="345440"/>
                <a:gridCol w="813435"/>
                <a:gridCol w="668655"/>
                <a:gridCol w="1158875"/>
                <a:gridCol w="1826895"/>
                <a:gridCol w="607060"/>
                <a:gridCol w="565150"/>
                <a:gridCol w="523875"/>
                <a:gridCol w="483870"/>
                <a:gridCol w="881380"/>
                <a:gridCol w="662305"/>
                <a:gridCol w="2281555"/>
                <a:gridCol w="400685"/>
              </a:tblGrid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Chain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R&amp;D support from OT side is required.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signal identification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Stroke/data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and Display in PRISM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is pending due to Ethernet connectivity.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Automation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COBOT PLC using Tags and Display in PRISM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Waiting for Ethernet connectivity and switch installation.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COBOT PLC tag mapping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Ethernet/switch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OPC/PLC communication 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 Line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Push Data from SQLite to MongoDB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Development/start activity planned; MongoDB data push implementation to be completed.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272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SQLite data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MongoDB connection/configuration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push script development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Error handling &amp; logging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</p:nvPr>
        </p:nvGraphicFramePr>
        <p:xfrm>
          <a:off x="447040" y="34925"/>
          <a:ext cx="11033760" cy="677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"/>
                <a:gridCol w="332105"/>
                <a:gridCol w="783590"/>
                <a:gridCol w="644525"/>
                <a:gridCol w="1116330"/>
                <a:gridCol w="1760220"/>
                <a:gridCol w="584835"/>
                <a:gridCol w="544195"/>
                <a:gridCol w="504190"/>
                <a:gridCol w="466090"/>
                <a:gridCol w="848995"/>
                <a:gridCol w="638810"/>
                <a:gridCol w="2199005"/>
                <a:gridCol w="384810"/>
              </a:tblGrid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Valiyampalayam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Ethernet connectivity.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CNC Machines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server PC arrival.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OT/R&amp;D communication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communication/tag verification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server PC arrival.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signal identification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wiring/network readiness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Stroke/data logging script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t" anchorCtr="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 Week KPI Summary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41755" y="1980565"/>
            <a:ext cx="615061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Projects Active: 7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Completed: 0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Under Testing: 3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Development Complete / In-Progress: 3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Kickoff Completed: 1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Overall Health: GREEN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Week KPI Summary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8346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Planned Activity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Location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Remarks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Responsibility</a:t>
                      </a:r>
                      <a:endParaRPr lang="en-US" alt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RFID Demo with Zebra Tech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K-Palayam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Technology Evaluation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LAN Laying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Jalna, Bangalore, Pantnagar, Nagpur, FPD2, LSP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Infrastructure Readiness </a:t>
                      </a: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LAN survey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GB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GB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SFQA &amp; PRISM Integration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All Plant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Quality Data Integration need BAPI changes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Vishnunirmalan,Durga,Naveen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KG Conversion Deployment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Annur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Development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&amp; Testing</a:t>
                      </a:r>
                      <a:endParaRPr 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Vishnunirmalan,Maestro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Furnace Reports Enhancement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Under development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SMD - Vision Air Bag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SMD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Under development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Hariharasudhan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Kit Packing 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Ganapathy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Under development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Dispatch management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No Yet Started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Durga, Vinoth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6749415" y="4083050"/>
            <a:ext cx="43694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777240" y="1828800"/>
            <a:ext cx="45720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ptos"/>
              </a:rPr>
              <a:t>Total Projects </a:t>
            </a:r>
            <a:r>
              <a:rPr sz="2600" b="1">
                <a:solidFill>
                  <a:srgbClr val="FFFFFF"/>
                </a:solidFill>
                <a:latin typeface="Aptos"/>
              </a:rPr>
              <a:t>2026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77240" y="239572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0">
                <a:solidFill>
                  <a:srgbClr val="FFFFFF"/>
                </a:solidFill>
                <a:latin typeface="Aptos"/>
              </a:rPr>
              <a:t>Oct </a:t>
            </a:r>
            <a:r>
              <a:rPr sz="2800" b="0">
                <a:solidFill>
                  <a:srgbClr val="FFFFFF"/>
                </a:solidFill>
                <a:latin typeface="Aptos"/>
              </a:rPr>
              <a:t>Project progress review </a:t>
            </a:r>
            <a:endParaRPr sz="2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77240" y="36576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DCDC"/>
                </a:solidFill>
                <a:latin typeface="Aptos"/>
              </a:rPr>
              <a:t>LGB | Operations Technology</a:t>
            </a:r>
            <a:endParaRPr sz="1300" b="1">
              <a:solidFill>
                <a:srgbClr val="91DCD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37569</Words>
  <Application>WPS Presentation</Application>
  <PresentationFormat>Widescreen</PresentationFormat>
  <Paragraphs>4442</Paragraphs>
  <Slides>31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3" baseType="lpstr">
      <vt:lpstr>Arial</vt:lpstr>
      <vt:lpstr>SimSun</vt:lpstr>
      <vt:lpstr>Wingdings</vt:lpstr>
      <vt:lpstr>Aptos</vt:lpstr>
      <vt:lpstr>Segoe Print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Aptos Display</vt:lpstr>
      <vt:lpstr>Arial</vt:lpstr>
      <vt:lpstr>Garet Bold</vt:lpstr>
      <vt:lpstr>Aptos</vt:lpstr>
      <vt:lpstr>Open Sauce Bold</vt:lpstr>
      <vt:lpstr>Aptos Display</vt:lpstr>
      <vt:lpstr>Calibri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m.vishnunirmalan</cp:lastModifiedBy>
  <cp:revision>344</cp:revision>
  <dcterms:created xsi:type="dcterms:W3CDTF">2024-03-07T14:31:00Z</dcterms:created>
  <dcterms:modified xsi:type="dcterms:W3CDTF">2026-10-10T06:48:02Z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A76EE7BB7F1942FEBA1FA2AD388E26D3_13</vt:lpwstr>
  </property>
</Properties>
</file>