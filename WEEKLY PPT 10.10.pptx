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69" r:id="rId4"/>
    <p:sldId id="258" r:id="rId5"/>
    <p:sldId id="266" r:id="rId6"/>
    <p:sldId id="278" r:id="rId7"/>
    <p:sldId id="279" r:id="rId8"/>
    <p:sldId id="280" r:id="rId9"/>
    <p:sldId id="257" r:id="rId10"/>
    <p:sldId id="277" r:id="rId11"/>
    <p:sldId id="270" r:id="rId12"/>
    <p:sldId id="271" r:id="rId13"/>
    <p:sldId id="272" r:id="rId14"/>
    <p:sldId id="265" r:id="rId15"/>
  </p:sldIdLst>
  <p:sldSz cx="18288000" cy="10287000"/>
  <p:notesSz cx="6858000" cy="9144000"/>
  <p:embeddedFontLst>
    <p:embeddedFont>
      <p:font typeface="SimSun" panose="02010600030101010101" pitchFamily="2" charset="-122"/>
      <p:regular r:id="rId19"/>
    </p:embeddedFont>
    <p:embeddedFont>
      <p:font typeface="Cambria" panose="02040503050406030204" charset="0"/>
      <p:regular r:id="rId20"/>
      <p:bold r:id="rId21"/>
      <p:italic r:id="rId22"/>
      <p:boldItalic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3256" b="-518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87559" y="2971164"/>
            <a:ext cx="831288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GB" altLang="en-US" sz="5000">
                <a:solidFill>
                  <a:srgbClr val="F4F1EB"/>
                </a:solidFill>
                <a:latin typeface="Times New Roman" panose="02020603050405020304" charset="0"/>
                <a:ea typeface="Aileron" panose="00000500000000000000"/>
                <a:cs typeface="Times New Roman" panose="02020603050405020304" charset="0"/>
                <a:sym typeface="Aileron" panose="00000500000000000000"/>
              </a:rPr>
              <a:t>WEEKLY TASKS OF </a:t>
            </a:r>
            <a:endParaRPr lang="en-GB" altLang="en-US" sz="5000">
              <a:solidFill>
                <a:srgbClr val="F4F1EB"/>
              </a:solidFill>
              <a:latin typeface="Times New Roman" panose="02020603050405020304" charset="0"/>
              <a:ea typeface="Aileron" panose="00000500000000000000"/>
              <a:cs typeface="Times New Roman" panose="02020603050405020304" charset="0"/>
              <a:sym typeface="Aileron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07743" y="4490720"/>
            <a:ext cx="15072514" cy="205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20"/>
              </a:lnSpc>
            </a:pPr>
            <a:r>
              <a:rPr lang="en-GB" altLang="en-US" sz="15000" spc="-864">
                <a:solidFill>
                  <a:srgbClr val="F4F1EB"/>
                </a:solidFill>
                <a:latin typeface="Times New Roman" panose="02020603050405020304" charset="0"/>
                <a:ea typeface="Aileron Light" panose="00000400000000000000"/>
                <a:cs typeface="Times New Roman" panose="02020603050405020304" charset="0"/>
                <a:sym typeface="Aileron Light" panose="00000400000000000000"/>
              </a:rPr>
              <a:t>OT - RnD Team</a:t>
            </a:r>
            <a:endParaRPr lang="en-GB" altLang="en-US" sz="15000" spc="-864">
              <a:solidFill>
                <a:srgbClr val="F4F1EB"/>
              </a:solidFill>
              <a:latin typeface="Times New Roman" panose="02020603050405020304" charset="0"/>
              <a:ea typeface="Aileron Light" panose="00000400000000000000"/>
              <a:cs typeface="Times New Roman" panose="02020603050405020304" charset="0"/>
              <a:sym typeface="Aileron Light" panose="000004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66675" y="3600450"/>
            <a:ext cx="466889" cy="3086100"/>
            <a:chOff x="0" y="0"/>
            <a:chExt cx="122967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7889932" y="3600450"/>
            <a:ext cx="466889" cy="3086100"/>
            <a:chOff x="0" y="0"/>
            <a:chExt cx="122967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11" name="Text Box 10"/>
          <p:cNvSpPr txBox="1"/>
          <p:nvPr/>
        </p:nvSpPr>
        <p:spPr>
          <a:xfrm>
            <a:off x="1066800" y="647700"/>
            <a:ext cx="4201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OPERATION TECHNOLOGY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10.10.26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6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 rot="0">
            <a:off x="0" y="1293231"/>
            <a:ext cx="400214" cy="3086100"/>
            <a:chOff x="0" y="0"/>
            <a:chExt cx="10540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609090" y="1010920"/>
            <a:ext cx="12792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48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TABLE OF CONTENTS</a:t>
            </a:r>
            <a:endParaRPr lang="en-GB" altLang="en-US" sz="4800" b="1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238375" y="2376805"/>
          <a:ext cx="13305155" cy="5988685"/>
        </p:xfrm>
        <a:graphic>
          <a:graphicData uri="http://schemas.openxmlformats.org/drawingml/2006/table">
            <a:tbl>
              <a:tblPr firstRow="1">
                <a:tableStyleId>{5202B0CA-FC54-4496-8BCA-5EF66A818D29}</a:tableStyleId>
              </a:tblPr>
              <a:tblGrid>
                <a:gridCol w="1544955"/>
                <a:gridCol w="11760200"/>
              </a:tblGrid>
              <a:tr h="906780">
                <a:tc>
                  <a:txBody>
                    <a:bodyPr/>
                    <a:p>
                      <a:pPr algn="ctr">
                        <a:buNone/>
                      </a:pPr>
                      <a:endParaRPr lang="en-GB" altLang="en-US" sz="2000"/>
                    </a:p>
                    <a:p>
                      <a:pPr algn="ctr">
                        <a:buNone/>
                      </a:pPr>
                      <a:r>
                        <a:rPr lang="en-GB" altLang="en-US" sz="2000"/>
                        <a:t>S NO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GB" altLang="en-US" sz="2000"/>
                    </a:p>
                    <a:p>
                      <a:pPr algn="ctr">
                        <a:buNone/>
                      </a:pPr>
                      <a:r>
                        <a:rPr lang="en-GB" altLang="en-US" sz="2000"/>
                        <a:t>CONTENT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06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1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GB" altLang="en-US" sz="2000"/>
                        <a:t> </a:t>
                      </a:r>
                      <a:r>
                        <a:rPr lang="en-GB" altLang="en-US" sz="2000">
                          <a:sym typeface="+mn-ea"/>
                        </a:rPr>
                        <a:t>CURRENT WEEEK  TASKS</a:t>
                      </a:r>
                      <a:endParaRPr lang="en-GB" altLang="en-US" sz="2000"/>
                    </a:p>
                    <a:p>
                      <a:pPr algn="l">
                        <a:buNone/>
                      </a:pP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39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2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NEXT WEEK PLAN TASKS</a:t>
                      </a:r>
                      <a:endParaRPr lang="en-GB" altLang="en-US" sz="2000"/>
                    </a:p>
                    <a:p>
                      <a:pPr algn="l">
                        <a:buNone/>
                      </a:pP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1290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3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HARDWARE, FIRMWARE AND INDUSTRIAL ROBOT STATUS </a:t>
                      </a:r>
                      <a:br>
                        <a:rPr lang="en-GB" altLang="en-US" sz="2000"/>
                      </a:b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1290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4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GB" altLang="en-US" sz="2000"/>
                        <a:t>GATEWAY DEVICE COST BREAKDOWN</a:t>
                      </a:r>
                      <a:endParaRPr lang="en-GB" altLang="en-US" sz="2000"/>
                    </a:p>
                    <a:p>
                      <a:pPr algn="l">
                        <a:buNone/>
                      </a:pP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77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5</a:t>
                      </a: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GB" altLang="en-US" sz="2000"/>
                        <a:t>PO STAGE DEATILS</a:t>
                      </a:r>
                      <a:br>
                        <a:rPr lang="en-GB" altLang="en-US" sz="2000"/>
                      </a:br>
                      <a:endParaRPr lang="en-GB" altLang="en-US" sz="20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2514600" y="-342900"/>
            <a:ext cx="10848340" cy="151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805"/>
              </a:lnSpc>
            </a:pPr>
            <a:r>
              <a:rPr lang="en-GB" altLang="en-US" sz="4400" b="1">
                <a:solidFill>
                  <a:schemeClr val="accent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CURRENT WEEK  TASKS </a:t>
            </a:r>
            <a:r>
              <a:rPr lang="en-GB" altLang="en-US" sz="4400" b="1" spc="-636">
                <a:solidFill>
                  <a:schemeClr val="accent1"/>
                </a:solidFill>
                <a:latin typeface="Cambria" panose="02040503050406030204" charset="0"/>
                <a:ea typeface="Aileron Light" panose="00000400000000000000"/>
                <a:cs typeface="Cambria" panose="02040503050406030204" charset="0"/>
                <a:sym typeface="Aileron Light" panose="00000400000000000000"/>
              </a:rPr>
              <a:t>05.10.26 - 10.10.26</a:t>
            </a:r>
            <a:endParaRPr lang="en-GB" altLang="en-US" sz="4400" b="1" spc="-636">
              <a:solidFill>
                <a:schemeClr val="accent1"/>
              </a:solidFill>
              <a:latin typeface="Cambria" panose="02040503050406030204" charset="0"/>
              <a:ea typeface="Aileron Light" panose="00000400000000000000"/>
              <a:cs typeface="Cambria" panose="02040503050406030204" charset="0"/>
              <a:sym typeface="Aileron Light" panose="000004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9" name="Table 8"/>
          <p:cNvGraphicFramePr/>
          <p:nvPr/>
        </p:nvGraphicFramePr>
        <p:xfrm>
          <a:off x="762000" y="1409700"/>
          <a:ext cx="12797790" cy="847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895"/>
                <a:gridCol w="1224988"/>
                <a:gridCol w="1683552"/>
                <a:gridCol w="2714242"/>
                <a:gridCol w="1193233"/>
                <a:gridCol w="975360"/>
                <a:gridCol w="974620"/>
                <a:gridCol w="975784"/>
                <a:gridCol w="2480116"/>
              </a:tblGrid>
              <a:tr h="449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S. No.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Name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Project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Task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PLanned </a:t>
                      </a:r>
                      <a:endParaRPr lang="en-GB" alt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Start Date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Planned</a:t>
                      </a:r>
                      <a:endParaRPr lang="en-GB" alt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End Date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Actual Start Date</a:t>
                      </a:r>
                      <a:endParaRPr lang="en-GB" alt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Actual </a:t>
                      </a:r>
                      <a:endParaRPr lang="en-GB" alt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End Date</a:t>
                      </a:r>
                      <a:endParaRPr lang="en-GB" alt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Comments</a:t>
                      </a:r>
                      <a:endParaRPr lang="en-US" sz="1500" b="1">
                        <a:solidFill>
                          <a:srgbClr val="FFFFFF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2105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Firmware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44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Gateway Device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Rollback firmware development and testing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05.10.26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05.10.26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05.10.26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05.10.26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Gateway firmware completion; testing after PCB availability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1470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Hardware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7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Aswin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Gateway Device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PCB silkscreen updates, 3D modelling, and verification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06.10.26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06.10.26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1470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Industrial Robot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03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 &amp; 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Industrial Robot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Robot presentation (PPT)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10.10.26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10.10.26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2105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Stitch Detection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03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10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Stitch Detection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Hardware requirement discussions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09.10.26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09.10.26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09.10.26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09.10.26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1470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Learning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3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ROS 2 / Robotics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Installed ROS 2 on Raspberry Pi and learned Ubuntu commands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03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2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KiCad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KiCad learning and implementation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06.10.26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06.10.26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06.10.26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06.10.26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03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9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Aswin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SolidWorks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SolidWorks learning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31470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PPTs and Excel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ctr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4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 &amp; 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Documentation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SMD, MBD Gateway, and Stitch Analysis presentations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797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5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 &amp; 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Documentation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MBD and CAPEX requirement sheet preparation in Excel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03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8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Aswin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Planning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Two-year plan preparation in Excel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09.10.26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08.10.26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09.10.26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2514600" y="190500"/>
            <a:ext cx="9793605" cy="3027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805"/>
              </a:lnSpc>
            </a:pPr>
            <a:r>
              <a:rPr lang="en-GB" altLang="en-US" sz="4400" b="1">
                <a:solidFill>
                  <a:schemeClr val="accent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NEXT WEEK PLAN TASKS</a:t>
            </a:r>
            <a:r>
              <a:rPr lang="en-GB" altLang="en-US" sz="4400" b="1" spc="-636">
                <a:solidFill>
                  <a:schemeClr val="accent1"/>
                </a:solidFill>
                <a:latin typeface="Cambria" panose="02040503050406030204" charset="0"/>
                <a:ea typeface="Aileron Light" panose="00000400000000000000"/>
                <a:cs typeface="Cambria" panose="02040503050406030204" charset="0"/>
                <a:sym typeface="Aileron Light" panose="00000400000000000000"/>
              </a:rPr>
              <a:t>12.10.26 - 17.10.26  PLAN</a:t>
            </a:r>
            <a:endParaRPr lang="en-GB" altLang="en-US" sz="4400" b="1" spc="-636">
              <a:solidFill>
                <a:schemeClr val="accent1"/>
              </a:solidFill>
              <a:latin typeface="Cambria" panose="02040503050406030204" charset="0"/>
              <a:ea typeface="Aileron Light" panose="00000400000000000000"/>
              <a:cs typeface="Cambria" panose="02040503050406030204" charset="0"/>
              <a:sym typeface="Aileron Light" panose="000004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9" name="Table 8"/>
          <p:cNvGraphicFramePr/>
          <p:nvPr/>
        </p:nvGraphicFramePr>
        <p:xfrm>
          <a:off x="762000" y="2019300"/>
          <a:ext cx="12797790" cy="446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450"/>
                <a:gridCol w="1445441"/>
                <a:gridCol w="1986280"/>
                <a:gridCol w="3202305"/>
                <a:gridCol w="1407342"/>
                <a:gridCol w="1459865"/>
                <a:gridCol w="2617107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S NO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NAME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PROJECT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TASK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START DATE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END DATE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500">
                          <a:latin typeface="Cambria" panose="02040503050406030204" charset="0"/>
                          <a:cs typeface="Cambria" panose="02040503050406030204" charset="0"/>
                        </a:rPr>
                        <a:t>COMMENTS</a:t>
                      </a:r>
                      <a:endParaRPr lang="en-GB" altLang="en-US" sz="15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 gridSpan="7"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Learning / Hardware</a:t>
                      </a:r>
                      <a:endParaRPr lang="en-GB" altLang="en-US" sz="15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Aswin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Gateway Device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Learning and implementing enclosure design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12.10.26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2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Industrial Robot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Learning ROS 2</a:t>
                      </a: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, and try a basic project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12.10.26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17.10.26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 gridSpan="7"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5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Industrial Robot</a:t>
                      </a:r>
                      <a:endParaRPr lang="en-GB" altLang="en-US" sz="15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3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Industrial Robot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Requirement collection for the robot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12.10.26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</a:t>
                      </a:r>
                      <a:r>
                        <a:rPr lang="en-GB" alt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4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4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Rithani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Industrial Robot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Documentation of robot requirements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12.10.26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</a:t>
                      </a:r>
                      <a:r>
                        <a:rPr lang="en-GB" alt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4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.10.26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5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Industrial Robot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Initiate </a:t>
                      </a: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AC servo testing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15.10.26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17.10.26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 gridSpan="7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500" b="1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  <a:latin typeface="Cambria" panose="02040503050406030204" charset="0"/>
                          <a:cs typeface="Cambria" panose="02040503050406030204" charset="0"/>
                        </a:rPr>
                        <a:t>Stitch Detection</a:t>
                      </a:r>
                      <a:endParaRPr lang="en-US" altLang="zh-CN" sz="1500" b="1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12700" marR="12700" marT="12700" vert="horz" anchor="t" anchorCtr="0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41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Noufal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Stitch Detection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Explanation of the project to SMD people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12.10.26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12.10.26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7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Noufal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Stitch Detection</a:t>
                      </a: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Conduct weekly meeting on stich detection project progress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16.10.26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5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16.10.26</a:t>
                      </a:r>
                      <a:endParaRPr lang="en-GB" alt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0" y="549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4" name="Table 3"/>
          <p:cNvGraphicFramePr/>
          <p:nvPr/>
        </p:nvGraphicFramePr>
        <p:xfrm>
          <a:off x="1270000" y="989330"/>
          <a:ext cx="15793720" cy="891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6860"/>
                <a:gridCol w="7896860"/>
              </a:tblGrid>
              <a:tr h="44577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THIS WEEK: 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Complete PCB routing by finalizing track connections, optimizing component placement, and ensuring proper routing clearances.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Perform PCB design verification to check electrical connectivity, design rule compliance, and potential layout errors before fabrication.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Generate 3D models for all components to validate component dimensions, placement accuracy, and compatibility with the overall PCB assembly.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None/>
                      </a:pPr>
                      <a:endParaRPr lang="en-GB" altLang="en-US"/>
                    </a:p>
                    <a:p>
                      <a:pPr>
                        <a:buNone/>
                      </a:pPr>
                      <a:endParaRPr lang="en-GB" altLang="en-US"/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NEXT WEEK: 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Design the top enclosure of the Gateway Device, considering component accessibility, mounting provisions, and external interface requirements.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Design the bottom enclosure with suitable PCB mounting points, structural support, and provisions for secure assembly.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Finalize the enclosure design for sheet metal fabrication by validating dimensions, material requirements, and mechanical fit.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DEPENDENCIES: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Learn SolidWorks fundamentals to develop the required skills for designing the Gateway Device enclosure.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Focus on sheet metal design techniques, including bends, cutouts, and mounting features.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Understand sheet metal fabrication requirements to ensure the enclosure design is practical, manufacturable, and cost-effective.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577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b="1" u="sng"/>
                        <a:t>RISKS:</a:t>
                      </a:r>
                      <a:endParaRPr lang="en-GB" altLang="en-US" sz="2000" b="1" u="sng"/>
                    </a:p>
                    <a:p>
                      <a:pPr>
                        <a:buNone/>
                      </a:pP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/>
                        <a:t>Delay in receiving the Purchase Order (PO) may postpone PCB fabrication and procurement activities.</a:t>
                      </a: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/>
                        <a:t>Procurement delays could affect the planned development, assembly, and testing schedule.</a:t>
                      </a: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/>
                        <a:t>Timely PO release and confirmation are essential to minimize schedule disruptions and maintain project progress.</a:t>
                      </a:r>
                      <a:endParaRPr lang="en-GB" altLang="en-US" sz="2000" b="1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767715" y="261620"/>
            <a:ext cx="4718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 b="1">
                <a:latin typeface="Cambria" panose="02040503050406030204" charset="0"/>
                <a:cs typeface="Cambria" panose="02040503050406030204" charset="0"/>
              </a:rPr>
              <a:t>HARDWARE:</a:t>
            </a:r>
            <a:endParaRPr lang="en-GB" altLang="en-US" sz="2800" b="1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0" y="549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4" name="Table 3"/>
          <p:cNvGraphicFramePr/>
          <p:nvPr/>
        </p:nvGraphicFramePr>
        <p:xfrm>
          <a:off x="1270000" y="989330"/>
          <a:ext cx="15793720" cy="891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6860"/>
                <a:gridCol w="7896860"/>
              </a:tblGrid>
              <a:tr h="44577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THIS WEEK: 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Develop OTA rollback functionality for the Gateway Device to ensure automatic recovery to the previous stable firmware in case of an unsuccessful update.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Perform OTA rollback testing by simulating firmware update failures, verifying rollback behavior, and confirming successful device recovery.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Begin learning ROS 2 fundamentals for robotics firmware development.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/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NEXT WEEK: 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Prepare an industrial robotics presentation covering robot architecture, joint mechanisms, key components, motion control, and system integration.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Continue learning ROS 2 concepts.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Implement basic ROS 2 programs.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DEPENDENCIES: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Require the PCB ready for firmware testing.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Complete hardware assembly is required to proceed with integration and system-level testing.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4577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b="1" u="sng"/>
                        <a:t>RISKS:</a:t>
                      </a:r>
                      <a:endParaRPr lang="en-GB" altLang="en-US" sz="2000" b="1" u="sng"/>
                    </a:p>
                    <a:p>
                      <a:pPr>
                        <a:buNone/>
                      </a:pP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/>
                        <a:t>Any unresolved firmware issues may further delay actual deployment if sufficient testing time is unavailable.</a:t>
                      </a:r>
                      <a:endParaRPr lang="en-GB" altLang="en-US" sz="2000" b="1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767715" y="261620"/>
            <a:ext cx="4718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 b="1">
                <a:latin typeface="Cambria" panose="02040503050406030204" charset="0"/>
                <a:cs typeface="Cambria" panose="02040503050406030204" charset="0"/>
              </a:rPr>
              <a:t>FIRMWARE:</a:t>
            </a:r>
            <a:endParaRPr lang="en-GB" altLang="en-US" sz="2800" b="1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0" y="549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4" name="Table 3"/>
          <p:cNvGraphicFramePr/>
          <p:nvPr/>
        </p:nvGraphicFramePr>
        <p:xfrm>
          <a:off x="1270000" y="989330"/>
          <a:ext cx="15793720" cy="891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6860"/>
                <a:gridCol w="7896860"/>
              </a:tblGrid>
              <a:tr h="44577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THIS WEEK: 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Plan and coordinate AC servo testing at Annur, where the required communication cable is available.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Prepare the industrial robotics presentation, covering the project overview and key objectives.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Complete the Robot at a Glance and In-house vs. Outsourcing sections of the presentation.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/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GB" altLang="en-US" sz="2000" u="sng">
                          <a:solidFill>
                            <a:schemeClr val="tx1"/>
                          </a:solidFill>
                        </a:rPr>
                        <a:t>NEXT WEEK: </a:t>
                      </a:r>
                      <a:endParaRPr lang="en-GB" altLang="en-US" sz="2000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Complete the industrial robotics presentation, including the remaining technical details and project scope.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Initiate AC servo testing at Annur using the available communication cable.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Verify servo communication and basic operational functionality as part of the initial testing process.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u="sng">
                          <a:solidFill>
                            <a:schemeClr val="tx1"/>
                          </a:solidFill>
                        </a:rPr>
                        <a:t>DEPENDENCIES:</a:t>
                      </a:r>
                      <a:endParaRPr lang="en-GB" altLang="en-US" u="sng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The AC servo must be transported to Annur through the DC for testing.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>
                          <a:solidFill>
                            <a:schemeClr val="tx1"/>
                          </a:solidFill>
                        </a:rPr>
                        <a:t>Coordination of servo transportation and hardware availability is essential to begin testing as planned.</a:t>
                      </a: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endParaRPr lang="en-GB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4577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b="1" u="sng"/>
                        <a:t>RISKS:</a:t>
                      </a:r>
                      <a:endParaRPr lang="en-GB" altLang="en-US" sz="2000" b="1" u="sng"/>
                    </a:p>
                    <a:p>
                      <a:pPr>
                        <a:buNone/>
                      </a:pPr>
                      <a:endParaRPr lang="en-GB" altLang="en-US" sz="2000" b="1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en-US" sz="2000" b="1"/>
                        <a:t>Delays in servo testing could affect the testing timeline and validation activities.</a:t>
                      </a:r>
                      <a:endParaRPr lang="en-GB" altLang="en-US" sz="2000" b="1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767715" y="261620"/>
            <a:ext cx="4718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 b="1">
                <a:latin typeface="Cambria" panose="02040503050406030204" charset="0"/>
                <a:cs typeface="Cambria" panose="02040503050406030204" charset="0"/>
              </a:rPr>
              <a:t>INDUSTRIAL ROBOT:</a:t>
            </a:r>
            <a:endParaRPr lang="en-GB" altLang="en-US" sz="2800" b="1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6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 rot="0">
            <a:off x="0" y="1293231"/>
            <a:ext cx="400214" cy="3086100"/>
            <a:chOff x="0" y="0"/>
            <a:chExt cx="10540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20" name="Table 19"/>
          <p:cNvGraphicFramePr/>
          <p:nvPr/>
        </p:nvGraphicFramePr>
        <p:xfrm>
          <a:off x="1057275" y="1485900"/>
          <a:ext cx="16173450" cy="7831455"/>
        </p:xfrm>
        <a:graphic>
          <a:graphicData uri="http://schemas.openxmlformats.org/drawingml/2006/table">
            <a:tbl>
              <a:tblPr/>
              <a:tblGrid>
                <a:gridCol w="1211580"/>
                <a:gridCol w="1678305"/>
                <a:gridCol w="2344420"/>
                <a:gridCol w="2049780"/>
                <a:gridCol w="1654175"/>
                <a:gridCol w="2221230"/>
                <a:gridCol w="1559560"/>
                <a:gridCol w="1734185"/>
                <a:gridCol w="1720215"/>
              </a:tblGrid>
              <a:tr h="1075690">
                <a:tc gridSpan="9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GB" sz="2400" b="1" u="sng" dirty="0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UNIVERSAL GATEWAY DEVICE COST DETAILS</a:t>
                      </a:r>
                      <a:endParaRPr lang="en-GB" sz="2400" b="1" i="0" u="sng" dirty="0">
                        <a:solidFill>
                          <a:srgbClr val="FFFFFF"/>
                        </a:solidFill>
                        <a:latin typeface="Cambria" panose="02040503050406030204" charset="0"/>
                        <a:ea typeface="Arial" panose="020B0604020202020204"/>
                        <a:cs typeface="Cambria" panose="02040503050406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77670"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122936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PHASE 1 DEVICE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6,000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-2026 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WAITING FOR APPROVAL AT SMD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22809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PHASE 2 DEVICE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29,000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NOV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-2026 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WAITING FOR APPROVAL AT SMD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49755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WORK BENCH COMPONENTS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85,753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NOV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-2026 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alt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WAITING FOR APPROVAL FROM MD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0890"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600" b="1" i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1,17,753</a:t>
                      </a:r>
                      <a:endParaRPr lang="en-GB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6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>
          <a:xfrm rot="0">
            <a:off x="0" y="1293231"/>
            <a:ext cx="400214" cy="3086100"/>
            <a:chOff x="0" y="0"/>
            <a:chExt cx="10540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id="20" name="Table 19"/>
          <p:cNvGraphicFramePr/>
          <p:nvPr/>
        </p:nvGraphicFramePr>
        <p:xfrm>
          <a:off x="838835" y="818515"/>
          <a:ext cx="16877030" cy="8478520"/>
        </p:xfrm>
        <a:graphic>
          <a:graphicData uri="http://schemas.openxmlformats.org/drawingml/2006/table">
            <a:tbl>
              <a:tblPr/>
              <a:tblGrid>
                <a:gridCol w="680084"/>
                <a:gridCol w="2551203"/>
                <a:gridCol w="1257371"/>
                <a:gridCol w="1710592"/>
                <a:gridCol w="1668561"/>
                <a:gridCol w="1697355"/>
                <a:gridCol w="1708637"/>
                <a:gridCol w="1709073"/>
                <a:gridCol w="1709072"/>
                <a:gridCol w="2185082"/>
              </a:tblGrid>
              <a:tr h="1160780"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Vendor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Cost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1: quotation and vendor details collection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2: vendor code creation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3: Component info creation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4: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/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generation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5: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profama invoice from vendor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6: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GB"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from our side</a:t>
                      </a:r>
                      <a:endParaRPr lang="en-GB"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848995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Robu - gateway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31,833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 i="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6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5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side waiting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9789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Sharvi - gateway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3,833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5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Vendor side waiting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Element14 - gateway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2,489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24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r>
                        <a:rPr sz="24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</a:rPr>
                        <a:t>⏳</a:t>
                      </a:r>
                      <a:endParaRPr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alt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should create ASN for further process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6042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lang="en-GB" alt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Vichrak - vamaan board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18,999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8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8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8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8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8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Veeraboopathy Sir yet to place order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5153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lang="en-GB" alt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Robu - pi, cam, for stich detection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6,935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8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Veeraboopathy Sir yet to place order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03314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  <a:endParaRPr lang="en-GB" alt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Amazon - encloser for stich detection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500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8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2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US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Veeraboopathy Sir yet to place order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9677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endParaRPr lang="en-GB" alt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Robu - Workbench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31,636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GB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Waiting for MD aprroval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93408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lang="en-GB" alt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Sharvi - workbench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18,763</a:t>
                      </a:r>
                      <a:endParaRPr lang="en-GB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24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GB" sz="24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Waiting for MD aprroval</a:t>
                      </a:r>
                      <a:endParaRPr lang="en-GB" alt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0" y="549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22683" y="5008364"/>
            <a:ext cx="417395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>
              <a:lnSpc>
                <a:spcPts val="3240"/>
              </a:lnSpc>
            </a:pPr>
            <a:r>
              <a:rPr lang="en-US" sz="3600" b="1" spc="-215">
                <a:solidFill>
                  <a:srgbClr val="000000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Vision 0</a:t>
            </a:r>
            <a:endParaRPr lang="en-US" sz="3600" b="1" spc="-215">
              <a:solidFill>
                <a:srgbClr val="000000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6730" y="524510"/>
            <a:ext cx="6808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3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GATEWAY DEVICE:</a:t>
            </a:r>
            <a:endParaRPr lang="en-GB" altLang="en-US" sz="3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38200" y="1714500"/>
            <a:ext cx="1260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 b="1">
                <a:solidFill>
                  <a:schemeClr val="tx1"/>
                </a:solidFill>
                <a:highlight>
                  <a:srgbClr val="00FFFF"/>
                </a:highlight>
              </a:rPr>
              <a:t>Currently firmware completed, initial testing will proceed after we get PCB</a:t>
            </a:r>
            <a:endParaRPr lang="en-GB" altLang="en-US" sz="2400" b="1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7940" y="2908300"/>
            <a:ext cx="13705205" cy="7367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0" y="-38100"/>
            <a:ext cx="5640070" cy="7520305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7467600" y="7710805"/>
            <a:ext cx="778510" cy="19431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7086600" y="8039100"/>
            <a:ext cx="778510" cy="19431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Left Arrow 14"/>
          <p:cNvSpPr/>
          <p:nvPr/>
        </p:nvSpPr>
        <p:spPr>
          <a:xfrm>
            <a:off x="12877800" y="9486900"/>
            <a:ext cx="778510" cy="19431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5-Point Star 16"/>
          <p:cNvSpPr/>
          <p:nvPr/>
        </p:nvSpPr>
        <p:spPr>
          <a:xfrm>
            <a:off x="8679180" y="7505700"/>
            <a:ext cx="541020" cy="51054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5-Point Star 17"/>
          <p:cNvSpPr/>
          <p:nvPr/>
        </p:nvSpPr>
        <p:spPr>
          <a:xfrm>
            <a:off x="8229600" y="7880985"/>
            <a:ext cx="541020" cy="51054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5-Point Star 18"/>
          <p:cNvSpPr/>
          <p:nvPr/>
        </p:nvSpPr>
        <p:spPr>
          <a:xfrm>
            <a:off x="13106400" y="8871585"/>
            <a:ext cx="541020" cy="51054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22683" y="5008364"/>
            <a:ext cx="417395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>
              <a:lnSpc>
                <a:spcPts val="3240"/>
              </a:lnSpc>
            </a:pPr>
            <a:r>
              <a:rPr lang="en-US" sz="3600" b="1" spc="-215">
                <a:solidFill>
                  <a:srgbClr val="000000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Vision 0</a:t>
            </a:r>
            <a:endParaRPr lang="en-US" sz="3600" b="1" spc="-215">
              <a:solidFill>
                <a:srgbClr val="000000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6730" y="524510"/>
            <a:ext cx="6808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3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GATEWAY DEVICE:</a:t>
            </a:r>
            <a:endParaRPr lang="en-GB" altLang="en-US" sz="3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700905" y="394970"/>
            <a:ext cx="12602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 b="1">
                <a:solidFill>
                  <a:schemeClr val="tx1"/>
                </a:solidFill>
                <a:highlight>
                  <a:srgbClr val="00FFFF"/>
                </a:highlight>
              </a:rPr>
              <a:t>Components acquring is in process of SMD PR approval. PCB designing completed, encloser design ongoing</a:t>
            </a:r>
            <a:endParaRPr lang="en-GB" altLang="en-US" sz="2400" b="1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" y="1485900"/>
            <a:ext cx="16796385" cy="39223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600700"/>
            <a:ext cx="16807815" cy="4406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4019530" y="0"/>
            <a:ext cx="4268470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0" y="549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4500"/>
            <a:ext cx="16329025" cy="778129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06730" y="524510"/>
            <a:ext cx="6808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3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GATEWAY DEVICE:</a:t>
            </a:r>
            <a:endParaRPr lang="en-GB" altLang="en-US" sz="3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22" b="-922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07743" y="3633829"/>
            <a:ext cx="15072514" cy="205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20"/>
              </a:lnSpc>
            </a:pPr>
            <a:r>
              <a:rPr lang="en-US" sz="18000" spc="-864">
                <a:solidFill>
                  <a:srgbClr val="F4F1EB"/>
                </a:solidFill>
                <a:latin typeface="Times New Roman" panose="02020603050405020304" charset="0"/>
                <a:ea typeface="Aileron Light" panose="00000400000000000000"/>
                <a:cs typeface="Times New Roman" panose="02020603050405020304" charset="0"/>
                <a:sym typeface="Aileron Light" panose="00000400000000000000"/>
              </a:rPr>
              <a:t>Thank you</a:t>
            </a:r>
            <a:endParaRPr lang="en-US" sz="18000" spc="-864">
              <a:solidFill>
                <a:srgbClr val="F4F1EB"/>
              </a:solidFill>
              <a:latin typeface="Times New Roman" panose="02020603050405020304" charset="0"/>
              <a:ea typeface="Aileron Light" panose="00000400000000000000"/>
              <a:cs typeface="Times New Roman" panose="02020603050405020304" charset="0"/>
              <a:sym typeface="Aileron Light" panose="000004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-66675" y="3600450"/>
            <a:ext cx="466889" cy="3086100"/>
            <a:chOff x="0" y="0"/>
            <a:chExt cx="122967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7889932" y="3600450"/>
            <a:ext cx="466889" cy="3086100"/>
            <a:chOff x="0" y="0"/>
            <a:chExt cx="122967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9908</Words>
  <Application>WPS Presentation</Application>
  <PresentationFormat>On-screen Show (4:3)</PresentationFormat>
  <Paragraphs>900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Aileron</vt:lpstr>
      <vt:lpstr>Segoe Print</vt:lpstr>
      <vt:lpstr>Aileron Light</vt:lpstr>
      <vt:lpstr>Cambria</vt:lpstr>
      <vt:lpstr>Arial</vt:lpstr>
      <vt:lpstr>Open Sauce 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Red Minimalist Corporate Business Social Media Management Plan Presentation</dc:title>
  <dc:creator/>
  <cp:lastModifiedBy>rithani</cp:lastModifiedBy>
  <cp:revision>19</cp:revision>
  <dcterms:created xsi:type="dcterms:W3CDTF">2006-08-16T00:00:00Z</dcterms:created>
  <dcterms:modified xsi:type="dcterms:W3CDTF">2026-10-10T06:36:26Z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2EC2D5BA14764329A79C32EAE873D915</vt:lpwstr>
  </property>
  <property fmtid="{D5CDD505-2E9C-101B-9397-08002B2CF9AE}" pid="3" name="KSOProductBuildVer">
    <vt:lpwstr>1033-11.2.0.10463</vt:lpwstr>
  </property>
</Properties>
</file>