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3"/>
    <p:sldId id="258" r:id="rId4"/>
    <p:sldId id="266" r:id="rId5"/>
    <p:sldId id="419" r:id="rId6"/>
    <p:sldId id="439" r:id="rId7"/>
    <p:sldId id="440" r:id="rId8"/>
    <p:sldId id="441" r:id="rId9"/>
    <p:sldId id="442" r:id="rId10"/>
    <p:sldId id="452" r:id="rId11"/>
    <p:sldId id="443" r:id="rId12"/>
    <p:sldId id="444" r:id="rId13"/>
    <p:sldId id="445" r:id="rId14"/>
    <p:sldId id="446" r:id="rId15"/>
    <p:sldId id="453" r:id="rId16"/>
    <p:sldId id="454" r:id="rId17"/>
    <p:sldId id="447" r:id="rId18"/>
    <p:sldId id="448" r:id="rId19"/>
    <p:sldId id="449" r:id="rId20"/>
    <p:sldId id="450" r:id="rId21"/>
    <p:sldId id="464" r:id="rId22"/>
    <p:sldId id="465" r:id="rId23"/>
    <p:sldId id="29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LGB</a:t>
            </a:r>
            <a:endParaRPr sz="2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1DCDC"/>
                </a:solidFill>
                <a:latin typeface="Aptos"/>
              </a:rPr>
              <a:t>OPERATIONS TECHNOLOGY</a:t>
            </a:r>
            <a:endParaRPr sz="1100" b="1">
              <a:solidFill>
                <a:srgbClr val="91DCD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2057400"/>
            <a:ext cx="530352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ptos"/>
              </a:rPr>
              <a:t>October</a:t>
            </a:r>
            <a:r>
              <a:rPr sz="3200" b="1">
                <a:solidFill>
                  <a:srgbClr val="FFFFFF"/>
                </a:solidFill>
                <a:latin typeface="Aptos"/>
              </a:rPr>
              <a:t> 2026</a:t>
            </a:r>
            <a:endParaRPr sz="3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749808" y="2998978"/>
            <a:ext cx="7772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0">
                <a:solidFill>
                  <a:srgbClr val="CDD8E1"/>
                </a:solidFill>
                <a:latin typeface="Aptos"/>
              </a:rPr>
              <a:t>Plant Digitalization</a:t>
            </a:r>
            <a:r>
              <a:rPr sz="2800" b="0">
                <a:solidFill>
                  <a:srgbClr val="CDD8E1"/>
                </a:solidFill>
                <a:latin typeface="Aptos"/>
              </a:rPr>
              <a:t> Projects</a:t>
            </a:r>
            <a:r>
              <a:rPr lang="en-US" sz="2800" b="0">
                <a:solidFill>
                  <a:srgbClr val="CDD8E1"/>
                </a:solidFill>
                <a:latin typeface="Aptos"/>
              </a:rPr>
              <a:t> </a:t>
            </a:r>
            <a:r>
              <a:rPr sz="2800" b="0">
                <a:solidFill>
                  <a:srgbClr val="CDD8E1"/>
                </a:solidFill>
                <a:latin typeface="Aptos"/>
              </a:rPr>
              <a:t> </a:t>
            </a:r>
            <a:endParaRPr sz="2800" b="0">
              <a:solidFill>
                <a:srgbClr val="CDD8E1"/>
              </a:solidFill>
              <a:latin typeface="Aptos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749808" y="5394960"/>
            <a:ext cx="91440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>
                <a:solidFill>
                  <a:srgbClr val="B4C4D2"/>
                </a:solidFill>
                <a:latin typeface="Aptos"/>
              </a:rPr>
              <a:t>K.Palayam, P.Palayam, Pongalur, Annur</a:t>
            </a:r>
            <a:endParaRPr lang="en-US" sz="1400" b="1">
              <a:solidFill>
                <a:srgbClr val="B4C4D2"/>
              </a:solidFill>
              <a:latin typeface="Aptos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LGB | Operations Technology</a:t>
            </a:r>
            <a:endParaRPr sz="800" b="0">
              <a:solidFill>
                <a:srgbClr val="5A69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0922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ROJECT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OVERALL LIST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0" y="617220"/>
          <a:ext cx="12182475" cy="570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525"/>
                <a:gridCol w="1362075"/>
                <a:gridCol w="1440815"/>
                <a:gridCol w="2520315"/>
                <a:gridCol w="4130040"/>
                <a:gridCol w="1080135"/>
                <a:gridCol w="1131570"/>
              </a:tblGrid>
              <a:tr h="2901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S.No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Line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Task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Description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Start Date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End Date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1084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RAD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BMW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 &amp; Operator Buddy Implementation, Machine Interlock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RAD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BMW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form Machine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BOSCH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Bosch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form Machine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1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BMW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BMW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Grinding Machine Datalogging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3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BOSCH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Bosch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form Machine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Annur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CMBF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from furnace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Annur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Rotary Furnace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from furnace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PGR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SQF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Energy Meter Data Collection from Furnace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27.10.2026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PGR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SQF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Charge in and Charge OUT Data Collection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05.11.2026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12.11.2026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1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PGR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CNC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CNC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form Machine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SQF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Furnace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1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Chain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Press Dashboard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Stamping Press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01.11.2026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01.11.206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Daimler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Daimler Line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Machines and Showing it in PRISM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05.11.2026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Daimler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Daimler Line Automation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COBOT PLC using its tags and display it in Prism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05.11.2026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Stellantis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Stellantis Line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need to pushed from SQLite to MongoDB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Vaiyampalayam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SQF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Furnace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27.10.2026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Nagpur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Sprocket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CNC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CNC Machines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01.12.2026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Nagpur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Sprocket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Press Dashboard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Stamping Press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01.12.2026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r>
              <a:rPr lang="en-IN" alt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43000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BMW Digitalization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" name="Text 4"/>
          <p:cNvSpPr/>
          <p:nvPr/>
        </p:nvSpPr>
        <p:spPr>
          <a:xfrm>
            <a:off x="1143000" y="488315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</a:rPr>
              <a:t>K.Palayam Plant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35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0922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BMW Line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0" y="595630"/>
          <a:ext cx="12192000" cy="5539105"/>
        </p:xfrm>
        <a:graphic>
          <a:graphicData uri="http://schemas.openxmlformats.org/drawingml/2006/table">
            <a:tbl>
              <a:tblPr/>
              <a:tblGrid>
                <a:gridCol w="837565"/>
                <a:gridCol w="3486785"/>
                <a:gridCol w="1673860"/>
                <a:gridCol w="1019810"/>
                <a:gridCol w="813435"/>
                <a:gridCol w="794385"/>
                <a:gridCol w="915035"/>
                <a:gridCol w="836295"/>
                <a:gridCol w="684530"/>
                <a:gridCol w="1130300"/>
              </a:tblGrid>
              <a:tr h="622300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 BMW Line</a:t>
                      </a:r>
                      <a:endParaRPr lang="en-US" sz="1300" b="1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1625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038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New Machines </a:t>
                      </a:r>
                      <a:r>
                        <a:rPr lang="en-US" sz="1300" b="0" i="0" dirty="0" err="1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DataLogging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IT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05</a:t>
                      </a:r>
                      <a:r>
                        <a:rPr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-Sep-26</a:t>
                      </a:r>
                      <a:endParaRPr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</a:t>
                      </a:r>
                      <a:r>
                        <a:rPr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-Sep-26</a:t>
                      </a:r>
                      <a:endParaRPr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09-Oct-26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17-Oct-26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InProgress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50%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4 machines pending for Ethernet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8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Operator Buddy </a:t>
                      </a:r>
                      <a:r>
                        <a:rPr lang="en-US" sz="1300" b="0" i="0" dirty="0" err="1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Implentation</a:t>
                      </a:r>
                      <a:r>
                        <a:rPr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RAD</a:t>
                      </a:r>
                      <a:endParaRPr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Gowtham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Aug</a:t>
                      </a:r>
                      <a:r>
                        <a:rPr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17-Oct-26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80%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side testing in Progress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Grinding Machine Data 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MBD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19-Aug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17-Oct-26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 Interlock in B Block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Gowtham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31-Oct-26</a:t>
                      </a:r>
                      <a:endParaRPr lang="en-US" altLang="en-GB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31-Nov-26</a:t>
                      </a:r>
                      <a:endParaRPr lang="en-US" altLang="en-GB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Started</a:t>
                      </a:r>
                      <a:endParaRPr lang="en-US" altLang="en-US" sz="1300" b="0" i="0" dirty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IOT device needed</a:t>
                      </a:r>
                      <a:endParaRPr lang="en-US" altLang="en-GB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Operator Buddy </a:t>
                      </a:r>
                      <a:r>
                        <a:rPr lang="en-US" sz="1300" b="0" i="0" dirty="0" err="1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Implentation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Klinke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Gowtham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14-oct-26</a:t>
                      </a:r>
                      <a:endParaRPr lang="en-US" altLang="en-GB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14-Nov-26</a:t>
                      </a:r>
                      <a:endParaRPr lang="en-US" altLang="en-GB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300" b="0" i="0" dirty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Started</a:t>
                      </a:r>
                      <a:endParaRPr lang="en-US" altLang="en-US" sz="1300" b="0" i="0" dirty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GB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26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Overall machine BMW data collection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Team 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01-Aug-26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31-Sep-26</a:t>
                      </a:r>
                      <a:endParaRPr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07-Sep-26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01-Nov-26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25%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32 machine  17 machines displaying in prism balance  (mail has been given to plant side for ethernet)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43000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Bosch Digitalization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" name="Text 4"/>
          <p:cNvSpPr/>
          <p:nvPr/>
        </p:nvSpPr>
        <p:spPr>
          <a:xfrm>
            <a:off x="1143000" y="488315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</a:rPr>
              <a:t>K.Palayam Plant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Bosch Line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0" y="595630"/>
          <a:ext cx="12191365" cy="5540691"/>
        </p:xfrm>
        <a:graphic>
          <a:graphicData uri="http://schemas.openxmlformats.org/drawingml/2006/table">
            <a:tbl>
              <a:tblPr/>
              <a:tblGrid>
                <a:gridCol w="836930"/>
                <a:gridCol w="3484245"/>
                <a:gridCol w="1672590"/>
                <a:gridCol w="1019175"/>
                <a:gridCol w="812165"/>
                <a:gridCol w="793750"/>
                <a:gridCol w="915035"/>
                <a:gridCol w="902335"/>
                <a:gridCol w="684530"/>
                <a:gridCol w="1070610"/>
              </a:tblGrid>
              <a:tr h="214630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 Bosch Line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4612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New Machines Datalogging 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IT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17-Oct-26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60%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 </a:t>
                      </a:r>
                      <a:r>
                        <a:rPr lang="en-US" sz="1300" b="0" i="0" dirty="0" err="1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Macines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Pending for IP Assignment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Operator Buddy Implentation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Gowtham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Aug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Edge Device need to Purchase (Mail has been given to plant team)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Deburring Machine DataCollection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Production Team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19-Aug</a:t>
                      </a:r>
                      <a:r>
                        <a:rPr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r>
                        <a:rPr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17-Oct-26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Vendor Assistance is pending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Overall machine Bosch data collection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Team 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01-Aug-26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31-Sep-26</a:t>
                      </a:r>
                      <a:endParaRPr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07-Oct-26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07-Nov-26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  <a:p>
                      <a:pPr algn="ctr" fontAlgn="ctr"/>
                      <a:endParaRPr 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25%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60 machine  15 machines displaying in prism balance no device and ethernet cables (mail has been given to plant side for BOM)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43000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Annur Plant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Annur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0" y="595630"/>
          <a:ext cx="12191365" cy="3286759"/>
        </p:xfrm>
        <a:graphic>
          <a:graphicData uri="http://schemas.openxmlformats.org/drawingml/2006/table">
            <a:tbl>
              <a:tblPr/>
              <a:tblGrid>
                <a:gridCol w="836930"/>
                <a:gridCol w="3484245"/>
                <a:gridCol w="1672590"/>
                <a:gridCol w="1019175"/>
                <a:gridCol w="812165"/>
                <a:gridCol w="793750"/>
                <a:gridCol w="915035"/>
                <a:gridCol w="902335"/>
                <a:gridCol w="684530"/>
                <a:gridCol w="1070610"/>
              </a:tblGrid>
              <a:tr h="634365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 Annur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4612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Elco Device Datalogging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Gowtham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16-Oct-26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Completed</a:t>
                      </a:r>
                      <a:endParaRPr lang="en-US" sz="1300" b="0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-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CMB Furnace Data Collection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Gowtham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17-Oct-26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50%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Out of 2 Furnaces, 1 furnace is Pending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Rotary Furnace Data Collection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MBD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Aug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MBD Visit is Pending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63695" y="640842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Completed Tasks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92480" y="1026795"/>
            <a:ext cx="35667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/>
              <a:t>Elco Device Data Collection : </a:t>
            </a:r>
            <a:endParaRPr lang="en-US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6250" y="1630123"/>
            <a:ext cx="9115514" cy="44613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43000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Pongalur Plant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08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Pongalur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0" y="595630"/>
          <a:ext cx="12191365" cy="4385625"/>
        </p:xfrm>
        <a:graphic>
          <a:graphicData uri="http://schemas.openxmlformats.org/drawingml/2006/table">
            <a:tbl>
              <a:tblPr/>
              <a:tblGrid>
                <a:gridCol w="836930"/>
                <a:gridCol w="2761615"/>
                <a:gridCol w="1438910"/>
                <a:gridCol w="1370330"/>
                <a:gridCol w="929005"/>
                <a:gridCol w="920750"/>
                <a:gridCol w="963930"/>
                <a:gridCol w="1029335"/>
                <a:gridCol w="742950"/>
                <a:gridCol w="1197610"/>
              </a:tblGrid>
              <a:tr h="634365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 Pongalur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4612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CNC &amp; VMC Data 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Electrical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30-Oct-26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InProgress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Waiting for IOT device(Texonics device demo on Tuesday)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Operator Buddy Implementation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IT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07-Nov-26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 Collection &amp; Device Purchase is Pending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SQF Data Collection (Charge In and Charge Out)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Electrical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Aug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Wiring is Pending(Remainder mail has been given )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Energy Meter Data Collection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Electrical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01-Aug-26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31-Oct-26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alt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Order has been placed device  need to arrive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 drawing view feedback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Team 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28-Sep-26</a:t>
                      </a:r>
                      <a:endParaRPr lang="en-US" altLang="en-GB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altLang="en-GB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05-OCT-26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31-OCT-26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alt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  <a:p>
                      <a:pPr algn="ctr" fontAlgn="ctr">
                        <a:buNone/>
                      </a:pPr>
                      <a:endParaRPr lang="en-US" altLang="en-US" sz="1300" b="0" i="0" dirty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50%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Team give the Feedback on month end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43000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P.Palayam Plant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63695" y="640842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P.Palayam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0" y="595630"/>
          <a:ext cx="12191365" cy="4327206"/>
        </p:xfrm>
        <a:graphic>
          <a:graphicData uri="http://schemas.openxmlformats.org/drawingml/2006/table">
            <a:tbl>
              <a:tblPr/>
              <a:tblGrid>
                <a:gridCol w="783166"/>
                <a:gridCol w="783166"/>
                <a:gridCol w="2584211"/>
                <a:gridCol w="1346475"/>
                <a:gridCol w="1282301"/>
                <a:gridCol w="869326"/>
                <a:gridCol w="861602"/>
                <a:gridCol w="902007"/>
                <a:gridCol w="963211"/>
                <a:gridCol w="695224"/>
                <a:gridCol w="1120676"/>
              </a:tblGrid>
              <a:tr h="634365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 P.Palayam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Line</a:t>
                      </a:r>
                      <a:endParaRPr lang="en-US" alt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4612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SQF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Furnace Data 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IT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16-Oct-26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Completed</a:t>
                      </a:r>
                      <a:endParaRPr 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Chain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Press Data 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 err="1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Noufal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17-Nov-26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R&amp;D  is pending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Daimler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 Data 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IT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Ethernet is Pending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Daimler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 Collection from Cobot PLC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IT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27-Sep-26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27-Oct-26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31-Oct-26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alt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40%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Ethernet and Switch Installation is Pending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Stellantis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Dashboard Stellantis line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 err="1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Vendor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01-Sep-26</a:t>
                      </a:r>
                      <a:endParaRPr lang="en-US" altLang="en-GB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30-Sep-26</a:t>
                      </a:r>
                      <a:endParaRPr lang="en-US" altLang="en-GB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17-Oct-26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Completed</a:t>
                      </a:r>
                      <a:endParaRPr lang="en-US" altLang="en-US" sz="1300" b="0" i="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Stellantis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OP20 Machine Data Collection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Production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30-Sep-26</a:t>
                      </a:r>
                      <a:endParaRPr lang="en-US" altLang="en-GB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30-Oct-26</a:t>
                      </a:r>
                      <a:endParaRPr lang="en-US" altLang="en-GB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30-Oct-26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altLang="en-US" sz="1300" b="0" i="0" dirty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Device Purchase is Pending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63695" y="640842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Completed Tasks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4580" y="616941"/>
          <a:ext cx="2273300" cy="361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3300"/>
              </a:tblGrid>
              <a:tr h="3619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SQF furnace 1&amp;2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29360" y="1122045"/>
            <a:ext cx="9733915" cy="47809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63695" y="640842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Completed Tasks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92480" y="1026795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dirty="0"/>
              <a:t>: </a:t>
            </a:r>
            <a:endParaRPr lang="en-US" altLang="en-GB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92209" y="949046"/>
          <a:ext cx="3471485" cy="361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1485"/>
              </a:tblGrid>
              <a:tr h="3619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Dashboard Stellantis shopfloor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" name="Current Shift"/>
          <p:cNvPicPr/>
          <p:nvPr/>
        </p:nvPicPr>
        <p:blipFill>
          <a:blip r:embed="rId1"/>
          <a:stretch>
            <a:fillRect/>
          </a:stretch>
        </p:blipFill>
        <p:spPr>
          <a:xfrm>
            <a:off x="1683521" y="1462682"/>
            <a:ext cx="8963188" cy="46827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43000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Vaiyampalayam Plant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63695" y="640842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Vaiyampalayam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0" y="595630"/>
          <a:ext cx="12191365" cy="2166937"/>
        </p:xfrm>
        <a:graphic>
          <a:graphicData uri="http://schemas.openxmlformats.org/drawingml/2006/table">
            <a:tbl>
              <a:tblPr/>
              <a:tblGrid>
                <a:gridCol w="783166"/>
                <a:gridCol w="783166"/>
                <a:gridCol w="2584211"/>
                <a:gridCol w="1346475"/>
                <a:gridCol w="1282301"/>
                <a:gridCol w="869326"/>
                <a:gridCol w="861602"/>
                <a:gridCol w="902007"/>
                <a:gridCol w="963211"/>
                <a:gridCol w="695224"/>
                <a:gridCol w="1120676"/>
              </a:tblGrid>
              <a:tr h="634365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 Vaiyampalayam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Line</a:t>
                      </a:r>
                      <a:endParaRPr lang="en-US" alt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4612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SQF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Furnace Data 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Gowtham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Aug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30-Oct-26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1&amp;2 Modbus Protocol not available, need support from MBD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43000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Nagpur Plant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63695" y="640842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Nagpur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0" y="595630"/>
          <a:ext cx="12184903" cy="2166937"/>
        </p:xfrm>
        <a:graphic>
          <a:graphicData uri="http://schemas.openxmlformats.org/drawingml/2006/table">
            <a:tbl>
              <a:tblPr/>
              <a:tblGrid>
                <a:gridCol w="783166"/>
                <a:gridCol w="2584211"/>
                <a:gridCol w="1346475"/>
                <a:gridCol w="1282301"/>
                <a:gridCol w="869326"/>
                <a:gridCol w="861602"/>
                <a:gridCol w="902007"/>
                <a:gridCol w="963211"/>
                <a:gridCol w="695224"/>
                <a:gridCol w="1897380"/>
              </a:tblGrid>
              <a:tr h="634365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 Nagpur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4612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CNC Data 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IT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13-Nov-26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30-Dec-26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Not Started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Server PC Purchase is Pending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IN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08</a:t>
            </a:r>
            <a:endParaRPr lang="en-US" altLang="en-IN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43000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New Projects 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63695" y="640842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Project list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0" y="595630"/>
          <a:ext cx="12185015" cy="2791460"/>
        </p:xfrm>
        <a:graphic>
          <a:graphicData uri="http://schemas.openxmlformats.org/drawingml/2006/table">
            <a:tbl>
              <a:tblPr/>
              <a:tblGrid>
                <a:gridCol w="783166"/>
                <a:gridCol w="2584211"/>
                <a:gridCol w="1346475"/>
                <a:gridCol w="1282301"/>
                <a:gridCol w="869326"/>
                <a:gridCol w="861602"/>
                <a:gridCol w="902007"/>
                <a:gridCol w="963211"/>
                <a:gridCol w="695224"/>
                <a:gridCol w="1897380"/>
              </a:tblGrid>
              <a:tr h="634365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 Nagpur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4612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ST588 Tensioner Qr code data capturing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Mynthan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14-Nov-26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20-Nov-26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Not Started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Need to prepare SRS document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734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CCTV-Based Cobot Safety System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Mynthan &amp; Dinesh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01-DEC-26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01-Jan-27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30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Not Started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Voice-Controlled PLC Cobot Using Python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Mynthan &amp; Dinesh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01-Nov-26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01-Dec-26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  <a:p>
                      <a:pPr algn="ctr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30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Not Started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Box 1"/>
          <p:cNvSpPr txBox="1"/>
          <p:nvPr/>
        </p:nvSpPr>
        <p:spPr>
          <a:xfrm>
            <a:off x="6749415" y="4083050"/>
            <a:ext cx="436943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6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altLang="en-US" sz="66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777240" y="1828800"/>
            <a:ext cx="4572000" cy="491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ptos"/>
              </a:rPr>
              <a:t>October</a:t>
            </a:r>
            <a:r>
              <a:rPr sz="2600" b="1">
                <a:solidFill>
                  <a:srgbClr val="FFFFFF"/>
                </a:solidFill>
                <a:latin typeface="Aptos"/>
              </a:rPr>
              <a:t> 2026</a:t>
            </a:r>
            <a:endParaRPr sz="2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777240" y="2395728"/>
            <a:ext cx="7772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Aptos"/>
              </a:rPr>
              <a:t>Project progress review </a:t>
            </a:r>
            <a:endParaRPr sz="2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777240" y="3667125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1DCDC"/>
                </a:solidFill>
                <a:latin typeface="Aptos"/>
              </a:rPr>
              <a:t>LGB | Operations Technology</a:t>
            </a:r>
            <a:endParaRPr sz="1300" b="1">
              <a:solidFill>
                <a:srgbClr val="91DCDC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8476</Words>
  <Application>WPS Presentation</Application>
  <PresentationFormat>Widescreen</PresentationFormat>
  <Paragraphs>1462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8" baseType="lpstr">
      <vt:lpstr>Arial</vt:lpstr>
      <vt:lpstr>SimSun</vt:lpstr>
      <vt:lpstr>Wingdings</vt:lpstr>
      <vt:lpstr>Aptos</vt:lpstr>
      <vt:lpstr>Segoe Print</vt:lpstr>
      <vt:lpstr>Calibri</vt:lpstr>
      <vt:lpstr>Calibri</vt:lpstr>
      <vt:lpstr>Cambria</vt:lpstr>
      <vt:lpstr>Cambria</vt:lpstr>
      <vt:lpstr>Cambria</vt:lpstr>
      <vt:lpstr>Calibri</vt:lpstr>
      <vt:lpstr>Microsoft YaHei</vt:lpstr>
      <vt:lpstr>Arial Unicode MS</vt:lpstr>
      <vt:lpstr>Aptos Display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Karthik M</dc:creator>
  <cp:lastModifiedBy>i.mynthanchandru</cp:lastModifiedBy>
  <cp:revision>343</cp:revision>
  <dcterms:created xsi:type="dcterms:W3CDTF">2024-03-07T14:31:00Z</dcterms:created>
  <dcterms:modified xsi:type="dcterms:W3CDTF">2026-10-17T04:15:25Z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2057-11.2.0.10017</vt:lpwstr>
  </property>
  <property fmtid="{D5CDD505-2E9C-101B-9397-08002B2CF9AE}" pid="3" name="ICV">
    <vt:lpwstr>A76EE7BB7F1942FEBA1FA2AD388E26D3_13</vt:lpwstr>
  </property>
</Properties>
</file>