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47" r:id="rId3"/>
    <p:sldId id="439" r:id="rId4"/>
    <p:sldId id="419" r:id="rId6"/>
    <p:sldId id="456" r:id="rId7"/>
    <p:sldId id="392" r:id="rId8"/>
    <p:sldId id="457" r:id="rId9"/>
    <p:sldId id="396" r:id="rId10"/>
    <p:sldId id="393" r:id="rId11"/>
    <p:sldId id="458" r:id="rId12"/>
    <p:sldId id="408" r:id="rId13"/>
    <p:sldId id="44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A21"/>
    <a:srgbClr val="0029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00" d="100"/>
          <a:sy n="100" d="100"/>
        </p:scale>
        <p:origin x="990"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4923FDB8-831A-4D00-ABBE-BFAA424254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4923FDB8-831A-4D00-ABBE-BFAA42425457}"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923FDB8-831A-4D00-ABBE-BFAA42425457}"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23FDB8-831A-4D00-ABBE-BFAA42425457}"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923FDB8-831A-4D00-ABBE-BFAA424254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923FDB8-831A-4D00-ABBE-BFAA424254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923FDB8-831A-4D00-ABBE-BFAA424254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C3FF61-63F6-4C4B-AD49-5AE561B1CA0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23FDB8-831A-4D00-ABBE-BFAA42425457}"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C3FF61-63F6-4C4B-AD49-5AE561B1CA0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png"/><Relationship Id="rId2" Type="http://schemas.microsoft.com/office/2007/relationships/media" Target="file:///C:\Users\anandakumar\Downloads\WhatsApp%20Video%202026-10-15%20at%204.12.14%20AM.mp4" TargetMode="External"/><Relationship Id="rId1" Type="http://schemas.openxmlformats.org/officeDocument/2006/relationships/video" Target="file:///C:\Users\anandakumar\Downloads\WhatsApp%20Video%202026-10-15%20at%204.12.14%20AM.mp4"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file:///C:\Users\anandakumar\Downloads\OCT%20Video\OCT%20Video\WhatsApp%20Video%202026-10-16%20at%204.45.03%20AM.mp4" TargetMode="External"/><Relationship Id="rId1" Type="http://schemas.openxmlformats.org/officeDocument/2006/relationships/video" Target="file:///C:\Users\anandakumar\Downloads\OCT%20Video\OCT%20Video\WhatsApp%20Video%202026-10-16%20at%204.45.03%20AM.mp4"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jpe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extBox 1"/>
          <p:cNvSpPr txBox="1"/>
          <p:nvPr/>
        </p:nvSpPr>
        <p:spPr>
          <a:xfrm>
            <a:off x="731520" y="685800"/>
            <a:ext cx="1828800" cy="521970"/>
          </a:xfrm>
          <a:prstGeom prst="rect">
            <a:avLst/>
          </a:prstGeom>
          <a:noFill/>
        </p:spPr>
        <p:txBody>
          <a:bodyPr wrap="square" anchor="t">
            <a:spAutoFit/>
          </a:bodyPr>
          <a:lstStyle/>
          <a:p>
            <a:pPr algn="l"/>
            <a:r>
              <a:rPr sz="2800" b="1">
                <a:solidFill>
                  <a:srgbClr val="FFFFFF"/>
                </a:solidFill>
                <a:latin typeface="Calibri" panose="020F0502020204030204" pitchFamily="34" charset="0"/>
                <a:cs typeface="Calibri" panose="020F0502020204030204" pitchFamily="34" charset="0"/>
              </a:rPr>
              <a:t>LGB</a:t>
            </a:r>
            <a:endParaRPr sz="2800" b="1">
              <a:solidFill>
                <a:srgbClr val="FFFFFF"/>
              </a:solidFill>
              <a:latin typeface="Calibri" panose="020F0502020204030204" pitchFamily="34" charset="0"/>
              <a:cs typeface="Calibri" panose="020F0502020204030204" pitchFamily="34" charset="0"/>
            </a:endParaRPr>
          </a:p>
        </p:txBody>
      </p:sp>
      <p:sp>
        <p:nvSpPr>
          <p:cNvPr id="3" name="TextBox 2"/>
          <p:cNvSpPr txBox="1"/>
          <p:nvPr/>
        </p:nvSpPr>
        <p:spPr>
          <a:xfrm>
            <a:off x="749808" y="1143000"/>
            <a:ext cx="4114800" cy="274320"/>
          </a:xfrm>
          <a:prstGeom prst="rect">
            <a:avLst/>
          </a:prstGeom>
          <a:noFill/>
        </p:spPr>
        <p:txBody>
          <a:bodyPr wrap="square" anchor="t">
            <a:spAutoFit/>
          </a:bodyPr>
          <a:lstStyle/>
          <a:p>
            <a:pPr algn="l"/>
            <a:r>
              <a:rPr sz="1100" b="1">
                <a:solidFill>
                  <a:srgbClr val="91DCDC"/>
                </a:solidFill>
                <a:latin typeface="Calibri" panose="020F0502020204030204" pitchFamily="34" charset="0"/>
                <a:cs typeface="Calibri" panose="020F0502020204030204" pitchFamily="34" charset="0"/>
              </a:rPr>
              <a:t>OPERATIONS TECHNOLOGY</a:t>
            </a:r>
            <a:endParaRPr sz="1100" b="1">
              <a:solidFill>
                <a:srgbClr val="91DCDC"/>
              </a:solidFill>
              <a:latin typeface="Calibri" panose="020F0502020204030204" pitchFamily="34" charset="0"/>
              <a:cs typeface="Calibri" panose="020F0502020204030204" pitchFamily="34" charset="0"/>
            </a:endParaRPr>
          </a:p>
        </p:txBody>
      </p:sp>
      <p:sp>
        <p:nvSpPr>
          <p:cNvPr id="4" name="TextBox 3"/>
          <p:cNvSpPr txBox="1"/>
          <p:nvPr/>
        </p:nvSpPr>
        <p:spPr>
          <a:xfrm>
            <a:off x="749808" y="2057400"/>
            <a:ext cx="5303520" cy="583565"/>
          </a:xfrm>
          <a:prstGeom prst="rect">
            <a:avLst/>
          </a:prstGeom>
          <a:noFill/>
        </p:spPr>
        <p:txBody>
          <a:bodyPr wrap="square" anchor="t">
            <a:spAutoFit/>
          </a:bodyPr>
          <a:lstStyle/>
          <a:p>
            <a:pPr algn="l"/>
            <a:r>
              <a:rPr lang="en-US" sz="3200" b="1">
                <a:solidFill>
                  <a:srgbClr val="FFFFFF"/>
                </a:solidFill>
                <a:latin typeface="Calibri" panose="020F0502020204030204" pitchFamily="34" charset="0"/>
                <a:cs typeface="Calibri" panose="020F0502020204030204" pitchFamily="34" charset="0"/>
              </a:rPr>
              <a:t>October</a:t>
            </a:r>
            <a:r>
              <a:rPr sz="3200" b="1">
                <a:solidFill>
                  <a:srgbClr val="FFFFFF"/>
                </a:solidFill>
                <a:latin typeface="Calibri" panose="020F0502020204030204" pitchFamily="34" charset="0"/>
                <a:cs typeface="Calibri" panose="020F0502020204030204" pitchFamily="34" charset="0"/>
              </a:rPr>
              <a:t> 2026</a:t>
            </a:r>
            <a:endParaRPr sz="3200" b="1">
              <a:solidFill>
                <a:srgbClr val="FFFFFF"/>
              </a:solidFill>
              <a:latin typeface="Calibri" panose="020F0502020204030204" pitchFamily="34" charset="0"/>
              <a:cs typeface="Calibri" panose="020F0502020204030204" pitchFamily="34" charset="0"/>
            </a:endParaRPr>
          </a:p>
        </p:txBody>
      </p:sp>
      <p:sp>
        <p:nvSpPr>
          <p:cNvPr id="6" name="TextBox 4"/>
          <p:cNvSpPr txBox="1"/>
          <p:nvPr/>
        </p:nvSpPr>
        <p:spPr>
          <a:xfrm>
            <a:off x="731393" y="2660650"/>
            <a:ext cx="8046720" cy="491490"/>
          </a:xfrm>
          <a:prstGeom prst="rect">
            <a:avLst/>
          </a:prstGeom>
          <a:noFill/>
        </p:spPr>
        <p:txBody>
          <a:bodyPr wrap="square" anchor="t">
            <a:spAutoFit/>
          </a:bodyPr>
          <a:lstStyle/>
          <a:p>
            <a:pPr algn="l"/>
            <a:r>
              <a:rPr lang="en-US" sz="2600" b="0">
                <a:solidFill>
                  <a:srgbClr val="FFFFFF"/>
                </a:solidFill>
                <a:latin typeface="Calibri" panose="020F0502020204030204" pitchFamily="34" charset="0"/>
                <a:cs typeface="Calibri" panose="020F0502020204030204" pitchFamily="34" charset="0"/>
              </a:rPr>
              <a:t>Weekly</a:t>
            </a:r>
            <a:r>
              <a:rPr sz="2600" b="0">
                <a:solidFill>
                  <a:srgbClr val="FFFFFF"/>
                </a:solidFill>
                <a:latin typeface="Calibri" panose="020F0502020204030204" pitchFamily="34" charset="0"/>
                <a:cs typeface="Calibri" panose="020F0502020204030204" pitchFamily="34" charset="0"/>
              </a:rPr>
              <a:t> Project Progress</a:t>
            </a:r>
            <a:endParaRPr sz="2600" b="0">
              <a:solidFill>
                <a:srgbClr val="FFFFFF"/>
              </a:solidFill>
              <a:latin typeface="Calibri" panose="020F0502020204030204" pitchFamily="34" charset="0"/>
              <a:cs typeface="Calibri" panose="020F0502020204030204" pitchFamily="34" charset="0"/>
            </a:endParaRPr>
          </a:p>
        </p:txBody>
      </p:sp>
      <p:sp>
        <p:nvSpPr>
          <p:cNvPr id="8" name="TextBox 5"/>
          <p:cNvSpPr txBox="1"/>
          <p:nvPr/>
        </p:nvSpPr>
        <p:spPr>
          <a:xfrm>
            <a:off x="749808" y="3310128"/>
            <a:ext cx="7772400" cy="291465"/>
          </a:xfrm>
          <a:prstGeom prst="rect">
            <a:avLst/>
          </a:prstGeom>
          <a:noFill/>
        </p:spPr>
        <p:txBody>
          <a:bodyPr wrap="square" anchor="t">
            <a:spAutoFit/>
          </a:bodyPr>
          <a:lstStyle/>
          <a:p>
            <a:pPr algn="l"/>
            <a:r>
              <a:rPr sz="1300" b="0">
                <a:solidFill>
                  <a:srgbClr val="CDD8E1"/>
                </a:solidFill>
                <a:latin typeface="Calibri" panose="020F0502020204030204" pitchFamily="34" charset="0"/>
                <a:cs typeface="Calibri" panose="020F0502020204030204" pitchFamily="34" charset="0"/>
              </a:rPr>
              <a:t>Robotic Automation Projects </a:t>
            </a:r>
            <a:endParaRPr sz="1300" b="0">
              <a:solidFill>
                <a:srgbClr val="CDD8E1"/>
              </a:solidFill>
              <a:latin typeface="Calibri" panose="020F0502020204030204" pitchFamily="34" charset="0"/>
              <a:cs typeface="Calibri" panose="020F0502020204030204" pitchFamily="34" charset="0"/>
            </a:endParaRPr>
          </a:p>
        </p:txBody>
      </p:sp>
      <p:sp>
        <p:nvSpPr>
          <p:cNvPr id="9" name="TextBox 6"/>
          <p:cNvSpPr txBox="1"/>
          <p:nvPr/>
        </p:nvSpPr>
        <p:spPr>
          <a:xfrm>
            <a:off x="749808" y="5394960"/>
            <a:ext cx="9144000" cy="320040"/>
          </a:xfrm>
          <a:prstGeom prst="rect">
            <a:avLst/>
          </a:prstGeom>
          <a:noFill/>
        </p:spPr>
        <p:txBody>
          <a:bodyPr wrap="square" anchor="t">
            <a:spAutoFit/>
          </a:bodyPr>
          <a:lstStyle/>
          <a:p>
            <a:pPr algn="l"/>
            <a:r>
              <a:rPr sz="1100" b="0">
                <a:solidFill>
                  <a:srgbClr val="B4C4D2"/>
                </a:solidFill>
                <a:latin typeface="Aptos"/>
              </a:rPr>
              <a:t>Stellantis • Daimler • Helical • Ather • BMW RAD</a:t>
            </a:r>
            <a:endParaRPr sz="1100" b="0">
              <a:solidFill>
                <a:srgbClr val="B4C4D2"/>
              </a:solidFill>
              <a:latin typeface="Aptos"/>
            </a:endParaRPr>
          </a:p>
        </p:txBody>
      </p:sp>
      <p:sp>
        <p:nvSpPr>
          <p:cNvPr id="10" name="TextBox 8"/>
          <p:cNvSpPr txBox="1"/>
          <p:nvPr/>
        </p:nvSpPr>
        <p:spPr>
          <a:xfrm>
            <a:off x="594360" y="6510528"/>
            <a:ext cx="4572000" cy="182880"/>
          </a:xfrm>
          <a:prstGeom prst="rect">
            <a:avLst/>
          </a:prstGeom>
          <a:noFill/>
        </p:spPr>
        <p:txBody>
          <a:bodyPr wrap="square" anchor="t">
            <a:spAutoFit/>
          </a:bodyPr>
          <a:lstStyle/>
          <a:p>
            <a:pPr algn="l"/>
            <a:r>
              <a:rPr sz="800" b="0">
                <a:solidFill>
                  <a:srgbClr val="5A6978"/>
                </a:solidFill>
                <a:latin typeface="Aptos"/>
              </a:rPr>
              <a:t>LGB | Operations Technology</a:t>
            </a:r>
            <a:endParaRPr sz="800" b="0">
              <a:solidFill>
                <a:srgbClr val="5A6978"/>
              </a:solidFill>
              <a:latin typeface="Aptos"/>
            </a:endParaRPr>
          </a:p>
        </p:txBody>
      </p:sp>
      <p:sp>
        <p:nvSpPr>
          <p:cNvPr id="5" name="Rectangle 2"/>
          <p:cNvSpPr/>
          <p:nvPr/>
        </p:nvSpPr>
        <p:spPr>
          <a:xfrm>
            <a:off x="0" y="0"/>
            <a:ext cx="201168" cy="6858000"/>
          </a:xfrm>
          <a:prstGeom prst="rect">
            <a:avLst/>
          </a:prstGeom>
          <a:solidFill>
            <a:srgbClr val="238584"/>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a:latin typeface="Times New Roman" panose="02020603050405020304" charset="0"/>
              <a:cs typeface="Times New Roman" panose="02020603050405020304" charset="0"/>
            </a:endParaRPr>
          </a:p>
        </p:txBody>
      </p:sp>
      <p:sp>
        <p:nvSpPr>
          <p:cNvPr id="7" name="Rectangle 1"/>
          <p:cNvSpPr/>
          <p:nvPr/>
        </p:nvSpPr>
        <p:spPr>
          <a:xfrm>
            <a:off x="0" y="0"/>
            <a:ext cx="12191695" cy="6858000"/>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11" name="TextBox 1"/>
          <p:cNvSpPr txBox="1"/>
          <p:nvPr/>
        </p:nvSpPr>
        <p:spPr>
          <a:xfrm>
            <a:off x="731520" y="705485"/>
            <a:ext cx="1828800" cy="521970"/>
          </a:xfrm>
          <a:prstGeom prst="rect">
            <a:avLst/>
          </a:prstGeom>
          <a:noFill/>
        </p:spPr>
        <p:txBody>
          <a:bodyPr wrap="square" anchor="t">
            <a:spAutoFit/>
          </a:bodyPr>
          <a:p>
            <a:pPr algn="l"/>
            <a:r>
              <a:rPr sz="2800" b="1">
                <a:solidFill>
                  <a:srgbClr val="FFFFFF"/>
                </a:solidFill>
                <a:latin typeface="Calibri" panose="020F0502020204030204" pitchFamily="34" charset="0"/>
                <a:cs typeface="Calibri" panose="020F0502020204030204" pitchFamily="34" charset="0"/>
              </a:rPr>
              <a:t>LGB</a:t>
            </a:r>
            <a:endParaRPr sz="2800" b="1">
              <a:solidFill>
                <a:srgbClr val="FFFFFF"/>
              </a:solidFill>
              <a:latin typeface="Calibri" panose="020F0502020204030204" pitchFamily="34" charset="0"/>
              <a:cs typeface="Calibri" panose="020F0502020204030204" pitchFamily="34" charset="0"/>
            </a:endParaRPr>
          </a:p>
        </p:txBody>
      </p:sp>
      <p:sp>
        <p:nvSpPr>
          <p:cNvPr id="12" name="TextBox 2"/>
          <p:cNvSpPr txBox="1"/>
          <p:nvPr/>
        </p:nvSpPr>
        <p:spPr>
          <a:xfrm>
            <a:off x="749808" y="1162685"/>
            <a:ext cx="4114800" cy="274320"/>
          </a:xfrm>
          <a:prstGeom prst="rect">
            <a:avLst/>
          </a:prstGeom>
          <a:noFill/>
        </p:spPr>
        <p:txBody>
          <a:bodyPr wrap="square" anchor="t">
            <a:spAutoFit/>
          </a:bodyPr>
          <a:p>
            <a:pPr algn="l"/>
            <a:r>
              <a:rPr sz="1100" b="1">
                <a:solidFill>
                  <a:srgbClr val="91DCDC"/>
                </a:solidFill>
                <a:latin typeface="Calibri" panose="020F0502020204030204" pitchFamily="34" charset="0"/>
                <a:cs typeface="Calibri" panose="020F0502020204030204" pitchFamily="34" charset="0"/>
              </a:rPr>
              <a:t>OPERATIONS TECHNOLOGY</a:t>
            </a:r>
            <a:endParaRPr sz="1100" b="1">
              <a:solidFill>
                <a:srgbClr val="91DCDC"/>
              </a:solidFill>
              <a:latin typeface="Calibri" panose="020F0502020204030204" pitchFamily="34" charset="0"/>
              <a:cs typeface="Calibri" panose="020F0502020204030204" pitchFamily="34" charset="0"/>
            </a:endParaRPr>
          </a:p>
        </p:txBody>
      </p:sp>
      <p:sp>
        <p:nvSpPr>
          <p:cNvPr id="13" name="TextBox 3"/>
          <p:cNvSpPr txBox="1"/>
          <p:nvPr/>
        </p:nvSpPr>
        <p:spPr>
          <a:xfrm>
            <a:off x="749808" y="2077085"/>
            <a:ext cx="5303520" cy="583565"/>
          </a:xfrm>
          <a:prstGeom prst="rect">
            <a:avLst/>
          </a:prstGeom>
          <a:noFill/>
        </p:spPr>
        <p:txBody>
          <a:bodyPr wrap="square" anchor="t">
            <a:spAutoFit/>
          </a:bodyPr>
          <a:p>
            <a:pPr algn="l"/>
            <a:r>
              <a:rPr lang="en-US" sz="3200" b="1">
                <a:solidFill>
                  <a:srgbClr val="FFFFFF"/>
                </a:solidFill>
                <a:latin typeface="Calibri" panose="020F0502020204030204" pitchFamily="34" charset="0"/>
                <a:cs typeface="Calibri" panose="020F0502020204030204" pitchFamily="34" charset="0"/>
              </a:rPr>
              <a:t>October</a:t>
            </a:r>
            <a:r>
              <a:rPr sz="3200" b="1">
                <a:solidFill>
                  <a:srgbClr val="FFFFFF"/>
                </a:solidFill>
                <a:latin typeface="Calibri" panose="020F0502020204030204" pitchFamily="34" charset="0"/>
                <a:cs typeface="Calibri" panose="020F0502020204030204" pitchFamily="34" charset="0"/>
              </a:rPr>
              <a:t> 2026</a:t>
            </a:r>
            <a:endParaRPr sz="3200" b="1">
              <a:solidFill>
                <a:srgbClr val="FFFFFF"/>
              </a:solidFill>
              <a:latin typeface="Calibri" panose="020F0502020204030204" pitchFamily="34" charset="0"/>
              <a:cs typeface="Calibri" panose="020F0502020204030204" pitchFamily="34" charset="0"/>
            </a:endParaRPr>
          </a:p>
        </p:txBody>
      </p:sp>
      <p:sp>
        <p:nvSpPr>
          <p:cNvPr id="14" name="TextBox 4"/>
          <p:cNvSpPr txBox="1"/>
          <p:nvPr/>
        </p:nvSpPr>
        <p:spPr>
          <a:xfrm>
            <a:off x="731393" y="2680335"/>
            <a:ext cx="8046720" cy="491490"/>
          </a:xfrm>
          <a:prstGeom prst="rect">
            <a:avLst/>
          </a:prstGeom>
          <a:noFill/>
        </p:spPr>
        <p:txBody>
          <a:bodyPr wrap="square" anchor="t">
            <a:spAutoFit/>
          </a:bodyPr>
          <a:p>
            <a:pPr algn="l"/>
            <a:r>
              <a:rPr lang="en-US" sz="2600" b="0">
                <a:solidFill>
                  <a:srgbClr val="FFFFFF"/>
                </a:solidFill>
                <a:latin typeface="Calibri" panose="020F0502020204030204" pitchFamily="34" charset="0"/>
                <a:cs typeface="Calibri" panose="020F0502020204030204" pitchFamily="34" charset="0"/>
              </a:rPr>
              <a:t>Weekly</a:t>
            </a:r>
            <a:r>
              <a:rPr sz="2600" b="0">
                <a:solidFill>
                  <a:srgbClr val="FFFFFF"/>
                </a:solidFill>
                <a:latin typeface="Calibri" panose="020F0502020204030204" pitchFamily="34" charset="0"/>
                <a:cs typeface="Calibri" panose="020F0502020204030204" pitchFamily="34" charset="0"/>
              </a:rPr>
              <a:t> Project Progress</a:t>
            </a:r>
            <a:endParaRPr sz="2600" b="0">
              <a:solidFill>
                <a:srgbClr val="FFFFFF"/>
              </a:solidFill>
              <a:latin typeface="Calibri" panose="020F0502020204030204" pitchFamily="34" charset="0"/>
              <a:cs typeface="Calibri" panose="020F0502020204030204" pitchFamily="34" charset="0"/>
            </a:endParaRPr>
          </a:p>
        </p:txBody>
      </p:sp>
      <p:sp>
        <p:nvSpPr>
          <p:cNvPr id="15" name="TextBox 5"/>
          <p:cNvSpPr txBox="1"/>
          <p:nvPr/>
        </p:nvSpPr>
        <p:spPr>
          <a:xfrm>
            <a:off x="749808" y="3329813"/>
            <a:ext cx="7772400" cy="291465"/>
          </a:xfrm>
          <a:prstGeom prst="rect">
            <a:avLst/>
          </a:prstGeom>
          <a:noFill/>
        </p:spPr>
        <p:txBody>
          <a:bodyPr wrap="square" anchor="t">
            <a:spAutoFit/>
          </a:bodyPr>
          <a:p>
            <a:pPr algn="l"/>
            <a:r>
              <a:rPr sz="1300" b="0">
                <a:solidFill>
                  <a:srgbClr val="CDD8E1"/>
                </a:solidFill>
                <a:latin typeface="Calibri" panose="020F0502020204030204" pitchFamily="34" charset="0"/>
                <a:cs typeface="Calibri" panose="020F0502020204030204" pitchFamily="34" charset="0"/>
              </a:rPr>
              <a:t>Robotic Automation Projects </a:t>
            </a:r>
            <a:endParaRPr sz="1300" b="0">
              <a:solidFill>
                <a:srgbClr val="CDD8E1"/>
              </a:solidFill>
              <a:latin typeface="Calibri" panose="020F0502020204030204" pitchFamily="34" charset="0"/>
              <a:cs typeface="Calibri" panose="020F0502020204030204" pitchFamily="34" charset="0"/>
            </a:endParaRPr>
          </a:p>
        </p:txBody>
      </p:sp>
      <p:sp>
        <p:nvSpPr>
          <p:cNvPr id="16" name="TextBox 8"/>
          <p:cNvSpPr txBox="1"/>
          <p:nvPr/>
        </p:nvSpPr>
        <p:spPr>
          <a:xfrm>
            <a:off x="594360" y="6530213"/>
            <a:ext cx="4572000" cy="182880"/>
          </a:xfrm>
          <a:prstGeom prst="rect">
            <a:avLst/>
          </a:prstGeom>
          <a:noFill/>
        </p:spPr>
        <p:txBody>
          <a:bodyPr wrap="square" anchor="t">
            <a:spAutoFit/>
          </a:bodyPr>
          <a:p>
            <a:pPr algn="l"/>
            <a:r>
              <a:rPr sz="800" b="0">
                <a:solidFill>
                  <a:srgbClr val="5A6978"/>
                </a:solidFill>
                <a:latin typeface="Aptos"/>
              </a:rPr>
              <a:t>LGB | Operations Technology</a:t>
            </a:r>
            <a:endParaRPr sz="800" b="0">
              <a:solidFill>
                <a:srgbClr val="5A6978"/>
              </a:solidFill>
              <a:latin typeface="Aptos"/>
            </a:endParaRPr>
          </a:p>
        </p:txBody>
      </p:sp>
      <p:sp>
        <p:nvSpPr>
          <p:cNvPr id="17" name="Rectangle 2"/>
          <p:cNvSpPr/>
          <p:nvPr/>
        </p:nvSpPr>
        <p:spPr>
          <a:xfrm>
            <a:off x="0" y="19685"/>
            <a:ext cx="201168" cy="6858000"/>
          </a:xfrm>
          <a:prstGeom prst="rect">
            <a:avLst/>
          </a:prstGeom>
          <a:solidFill>
            <a:srgbClr val="238584"/>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a:latin typeface="Times New Roman" panose="02020603050405020304" charset="0"/>
              <a:cs typeface="Times New Roman" panose="02020603050405020304" charset="0"/>
            </a:endParaRPr>
          </a:p>
        </p:txBody>
      </p:sp>
      <p:pic>
        <p:nvPicPr>
          <p:cNvPr id="20" name="Picture 19" descr="LGB-Logo-1024x409"/>
          <p:cNvPicPr>
            <a:picLocks noChangeAspect="1"/>
          </p:cNvPicPr>
          <p:nvPr/>
        </p:nvPicPr>
        <p:blipFill>
          <a:blip r:embed="rId1"/>
          <a:stretch>
            <a:fillRect/>
          </a:stretch>
        </p:blipFill>
        <p:spPr>
          <a:xfrm>
            <a:off x="9766935" y="5481955"/>
            <a:ext cx="1800225" cy="718820"/>
          </a:xfrm>
          <a:prstGeom prst="rect">
            <a:avLst/>
          </a:prstGeom>
        </p:spPr>
      </p:pic>
      <p:sp>
        <p:nvSpPr>
          <p:cNvPr id="18" name="TextBox 6"/>
          <p:cNvSpPr txBox="1"/>
          <p:nvPr/>
        </p:nvSpPr>
        <p:spPr>
          <a:xfrm>
            <a:off x="876808" y="5521960"/>
            <a:ext cx="9144000" cy="320040"/>
          </a:xfrm>
          <a:prstGeom prst="rect">
            <a:avLst/>
          </a:prstGeom>
          <a:noFill/>
        </p:spPr>
        <p:txBody>
          <a:bodyPr wrap="square" anchor="t">
            <a:spAutoFit/>
          </a:bodyPr>
          <a:p>
            <a:pPr algn="l"/>
            <a:r>
              <a:rPr sz="1100" b="0">
                <a:solidFill>
                  <a:srgbClr val="B4C4D2"/>
                </a:solidFill>
                <a:latin typeface="Aptos"/>
              </a:rPr>
              <a:t>Stellantis • Daimler • Helical • Ather • BMW RAD</a:t>
            </a:r>
            <a:endParaRPr sz="1100" b="0">
              <a:solidFill>
                <a:srgbClr val="B4C4D2"/>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4"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5" name="TextBox 4"/>
          <p:cNvSpPr txBox="1"/>
          <p:nvPr/>
        </p:nvSpPr>
        <p:spPr>
          <a:xfrm>
            <a:off x="222094" y="114300"/>
            <a:ext cx="11747811" cy="39878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sz="2000" b="1" dirty="0">
                <a:solidFill>
                  <a:schemeClr val="bg1"/>
                </a:solidFill>
                <a:latin typeface="Calibri" panose="020F0502020204030204" pitchFamily="34" charset="0"/>
                <a:cs typeface="Calibri" panose="020F0502020204030204" pitchFamily="34" charset="0"/>
              </a:rPr>
              <a:t>P</a:t>
            </a:r>
            <a:r>
              <a:rPr lang="en-IN" altLang="en-US" sz="2000" b="1" dirty="0">
                <a:solidFill>
                  <a:schemeClr val="bg1"/>
                </a:solidFill>
                <a:latin typeface="Calibri" panose="020F0502020204030204" pitchFamily="34" charset="0"/>
                <a:cs typeface="Calibri" panose="020F0502020204030204" pitchFamily="34" charset="0"/>
              </a:rPr>
              <a:t>ROJECT OVERVIEW</a:t>
            </a:r>
            <a:endParaRPr lang="en-IN" altLang="en-US" sz="2000" b="1" dirty="0">
              <a:solidFill>
                <a:schemeClr val="bg1"/>
              </a:solidFill>
              <a:latin typeface="Calibri" panose="020F0502020204030204" pitchFamily="34" charset="0"/>
              <a:cs typeface="Calibri" panose="020F0502020204030204" pitchFamily="34" charset="0"/>
            </a:endParaRPr>
          </a:p>
        </p:txBody>
      </p:sp>
      <p:graphicFrame>
        <p:nvGraphicFramePr>
          <p:cNvPr id="3" name="Table 2"/>
          <p:cNvGraphicFramePr/>
          <p:nvPr/>
        </p:nvGraphicFramePr>
        <p:xfrm>
          <a:off x="102870" y="1337310"/>
          <a:ext cx="12002135" cy="4079240"/>
        </p:xfrm>
        <a:graphic>
          <a:graphicData uri="http://schemas.openxmlformats.org/drawingml/2006/table">
            <a:tbl>
              <a:tblPr/>
              <a:tblGrid>
                <a:gridCol w="525145"/>
                <a:gridCol w="1737360"/>
                <a:gridCol w="2602230"/>
                <a:gridCol w="1780540"/>
                <a:gridCol w="1287780"/>
                <a:gridCol w="1289685"/>
                <a:gridCol w="2779395"/>
              </a:tblGrid>
              <a:tr h="508635">
                <a:tc>
                  <a:txBody>
                    <a:bodyPr/>
                    <a:lstStyle/>
                    <a:p>
                      <a:pPr algn="ctr" fontAlgn="ctr"/>
                      <a:r>
                        <a:rPr sz="1600" b="1" i="0">
                          <a:solidFill>
                            <a:schemeClr val="bg1"/>
                          </a:solidFill>
                          <a:latin typeface="Calibri" panose="020F0502020204030204"/>
                          <a:ea typeface="Calibri" panose="020F0502020204030204"/>
                        </a:rPr>
                        <a:t>S.No</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Project</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Process Scope</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Robots / Cobots</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Start Date</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End Date </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c>
                  <a:txBody>
                    <a:bodyPr/>
                    <a:lstStyle/>
                    <a:p>
                      <a:pPr algn="ctr" fontAlgn="ctr"/>
                      <a:r>
                        <a:rPr sz="1600" b="1" i="0">
                          <a:solidFill>
                            <a:schemeClr val="bg1"/>
                          </a:solidFill>
                          <a:latin typeface="Calibri" panose="020F0502020204030204"/>
                          <a:ea typeface="Calibri" panose="020F0502020204030204"/>
                        </a:rPr>
                        <a:t>Current Status</a:t>
                      </a:r>
                      <a:endParaRPr sz="1600" b="1" i="0">
                        <a:solidFill>
                          <a:schemeClr val="bg1"/>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chemeClr val="tx2">
                        <a:lumMod val="75000"/>
                        <a:lumOff val="25000"/>
                      </a:schemeClr>
                    </a:solidFill>
                  </a:tcPr>
                </a:tc>
              </a:tr>
              <a:tr h="709295">
                <a:tc>
                  <a:txBody>
                    <a:bodyPr/>
                    <a:lstStyle/>
                    <a:p>
                      <a:pPr algn="ctr" fontAlgn="ctr"/>
                      <a:r>
                        <a:rPr sz="1600" b="1" i="0">
                          <a:solidFill>
                            <a:srgbClr val="1A2433"/>
                          </a:solidFill>
                          <a:latin typeface="Calibri" panose="020F0502020204030204"/>
                          <a:ea typeface="Calibri" panose="020F0502020204030204"/>
                        </a:rPr>
                        <a:t>1</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1A2433"/>
                          </a:solidFill>
                          <a:latin typeface="Calibri" panose="020F0502020204030204"/>
                          <a:ea typeface="Calibri" panose="020F0502020204030204"/>
                        </a:rPr>
                        <a:t>Stellantis line 1-Phase</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OP10 , Ultrasonic washing , Vision , OilWashing</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2 × UR12e Cobots</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07-07-2025</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lang="en-IN" sz="1600" b="1" i="0">
                          <a:solidFill>
                            <a:srgbClr val="5B6B7F"/>
                          </a:solidFill>
                          <a:latin typeface="Calibri" panose="020F0502020204030204"/>
                          <a:ea typeface="Calibri" panose="020F0502020204030204"/>
                        </a:rPr>
                        <a:t>20-07-2026</a:t>
                      </a:r>
                      <a:endParaRPr 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Installation &amp; inprogress</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r>
              <a:tr h="709295">
                <a:tc>
                  <a:txBody>
                    <a:bodyPr/>
                    <a:lstStyle/>
                    <a:p>
                      <a:pPr algn="ctr" fontAlgn="ctr"/>
                      <a:r>
                        <a:rPr lang="en-US" sz="1600" b="1" i="0">
                          <a:solidFill>
                            <a:srgbClr val="1A2433"/>
                          </a:solidFill>
                          <a:latin typeface="Calibri" panose="020F0502020204030204"/>
                          <a:ea typeface="Calibri" panose="020F0502020204030204"/>
                        </a:rPr>
                        <a:t>2</a:t>
                      </a:r>
                      <a:endParaRPr lang="en-US"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1A2433"/>
                          </a:solidFill>
                          <a:latin typeface="Calibri" panose="020F0502020204030204"/>
                          <a:ea typeface="Calibri" panose="020F0502020204030204"/>
                        </a:rPr>
                        <a:t>Helical Line</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OP10 → OP20</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2 UR12e Cobot + 1 yaska</a:t>
                      </a:r>
                      <a:r>
                        <a:rPr lang="en-US" sz="1600" b="1" i="0">
                          <a:solidFill>
                            <a:srgbClr val="5B6B7F"/>
                          </a:solidFill>
                          <a:latin typeface="Calibri" panose="020F0502020204030204"/>
                          <a:ea typeface="Calibri" panose="020F0502020204030204"/>
                        </a:rPr>
                        <a:t>w</a:t>
                      </a:r>
                      <a:r>
                        <a:rPr sz="1600" b="1" i="0">
                          <a:solidFill>
                            <a:srgbClr val="5B6B7F"/>
                          </a:solidFill>
                          <a:latin typeface="Calibri" panose="020F0502020204030204"/>
                          <a:ea typeface="Calibri" panose="020F0502020204030204"/>
                        </a:rPr>
                        <a:t>a 20kg robot</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31-03-2026</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lang="en-IN" sz="1600" b="1" i="0">
                          <a:solidFill>
                            <a:srgbClr val="5B6B7F"/>
                          </a:solidFill>
                          <a:latin typeface="Calibri" panose="020F0502020204030204"/>
                          <a:ea typeface="Calibri" panose="020F0502020204030204"/>
                        </a:rPr>
                        <a:t>20-</a:t>
                      </a:r>
                      <a:r>
                        <a:rPr lang="en-US" altLang="en-IN" sz="1600" b="1" i="0">
                          <a:solidFill>
                            <a:srgbClr val="5B6B7F"/>
                          </a:solidFill>
                          <a:latin typeface="Calibri" panose="020F0502020204030204"/>
                          <a:ea typeface="Calibri" panose="020F0502020204030204"/>
                        </a:rPr>
                        <a:t>10</a:t>
                      </a:r>
                      <a:r>
                        <a:rPr lang="en-IN" sz="1600" b="1" i="0">
                          <a:solidFill>
                            <a:srgbClr val="5B6B7F"/>
                          </a:solidFill>
                          <a:latin typeface="Calibri" panose="020F0502020204030204"/>
                          <a:ea typeface="Calibri" panose="020F0502020204030204"/>
                        </a:rPr>
                        <a:t>-2026</a:t>
                      </a:r>
                      <a:endParaRPr 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lang="en-US" sz="1600" b="1" i="0">
                          <a:solidFill>
                            <a:srgbClr val="5B6B7F"/>
                          </a:solidFill>
                          <a:latin typeface="Calibri" panose="020F0502020204030204"/>
                          <a:ea typeface="Calibri" panose="020F0502020204030204"/>
                        </a:rPr>
                        <a:t>2 Cobot cell installation &amp; commissioning inprogress</a:t>
                      </a:r>
                      <a:endParaRPr lang="en-US"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r>
              <a:tr h="896620">
                <a:tc>
                  <a:txBody>
                    <a:bodyPr/>
                    <a:lstStyle/>
                    <a:p>
                      <a:pPr algn="ctr" fontAlgn="ctr"/>
                      <a:r>
                        <a:rPr lang="en-US" sz="1600" b="1" i="0">
                          <a:solidFill>
                            <a:srgbClr val="1A2433"/>
                          </a:solidFill>
                          <a:latin typeface="Calibri" panose="020F0502020204030204"/>
                          <a:ea typeface="Calibri" panose="020F0502020204030204"/>
                        </a:rPr>
                        <a:t>3</a:t>
                      </a:r>
                      <a:endParaRPr lang="en-US"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1A2433"/>
                          </a:solidFill>
                          <a:latin typeface="Calibri" panose="020F0502020204030204"/>
                          <a:ea typeface="Calibri" panose="020F0502020204030204"/>
                        </a:rPr>
                        <a:t>Daimler Line</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OP10 → OP20</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4 × UR12e Cobots</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24-04-2026</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lang="en-IN" sz="1600" b="1" i="0">
                          <a:solidFill>
                            <a:srgbClr val="5B6B7F"/>
                          </a:solidFill>
                          <a:latin typeface="Calibri" panose="020F0502020204030204"/>
                          <a:ea typeface="Calibri" panose="020F0502020204030204"/>
                        </a:rPr>
                        <a:t>15-10-2026</a:t>
                      </a:r>
                      <a:endParaRPr 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lang="en-US" altLang="en-IN" sz="1600" b="1" i="0">
                          <a:solidFill>
                            <a:srgbClr val="5B6B7F"/>
                          </a:solidFill>
                          <a:latin typeface="Calibri" panose="020F0502020204030204"/>
                          <a:ea typeface="Calibri" panose="020F0502020204030204"/>
                        </a:rPr>
                        <a:t>One cell production trail done, </a:t>
                      </a:r>
                      <a:endParaRPr lang="en-US" altLang="en-IN" sz="1600" b="1" i="0">
                        <a:solidFill>
                          <a:srgbClr val="5B6B7F"/>
                        </a:solidFill>
                        <a:latin typeface="Calibri" panose="020F0502020204030204"/>
                        <a:ea typeface="Calibri" panose="020F0502020204030204"/>
                      </a:endParaRPr>
                    </a:p>
                    <a:p>
                      <a:pPr algn="ctr" fontAlgn="ctr"/>
                      <a:r>
                        <a:rPr lang="en-US" altLang="en-IN" sz="1600" b="1" i="0">
                          <a:solidFill>
                            <a:srgbClr val="5B6B7F"/>
                          </a:solidFill>
                          <a:latin typeface="Calibri" panose="020F0502020204030204"/>
                          <a:ea typeface="Calibri" panose="020F0502020204030204"/>
                        </a:rPr>
                        <a:t>To start program for next cell</a:t>
                      </a:r>
                      <a:endParaRPr lang="en-US" alt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r>
              <a:tr h="746760">
                <a:tc>
                  <a:txBody>
                    <a:bodyPr/>
                    <a:lstStyle/>
                    <a:p>
                      <a:pPr algn="ctr" fontAlgn="ctr"/>
                      <a:r>
                        <a:rPr lang="en-US" sz="1600" b="1" i="0">
                          <a:solidFill>
                            <a:srgbClr val="1A2433"/>
                          </a:solidFill>
                          <a:latin typeface="Calibri" panose="020F0502020204030204"/>
                          <a:ea typeface="Calibri" panose="020F0502020204030204"/>
                        </a:rPr>
                        <a:t>4</a:t>
                      </a:r>
                      <a:endParaRPr lang="en-US"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1A2433"/>
                          </a:solidFill>
                          <a:latin typeface="Calibri" panose="020F0502020204030204"/>
                          <a:ea typeface="Calibri" panose="020F0502020204030204"/>
                        </a:rPr>
                        <a:t>Ather Line</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OP10 → OP20</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5 × ABB 12kg Cobots</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sz="1600" b="1" i="0">
                          <a:solidFill>
                            <a:srgbClr val="5B6B7F"/>
                          </a:solidFill>
                          <a:latin typeface="Calibri" panose="020F0502020204030204"/>
                          <a:ea typeface="Calibri" panose="020F0502020204030204"/>
                        </a:rPr>
                        <a:t>15-02-2026</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lang="en-US" altLang="en-IN" sz="1600" b="1" i="0">
                          <a:solidFill>
                            <a:srgbClr val="5B6B7F"/>
                          </a:solidFill>
                          <a:latin typeface="Calibri" panose="020F0502020204030204"/>
                          <a:ea typeface="Calibri" panose="020F0502020204030204"/>
                        </a:rPr>
                        <a:t>24</a:t>
                      </a:r>
                      <a:r>
                        <a:rPr lang="en-IN" sz="1600" b="1" i="0">
                          <a:solidFill>
                            <a:srgbClr val="5B6B7F"/>
                          </a:solidFill>
                          <a:latin typeface="Calibri" panose="020F0502020204030204"/>
                          <a:ea typeface="Calibri" panose="020F0502020204030204"/>
                        </a:rPr>
                        <a:t>-10-2026</a:t>
                      </a:r>
                      <a:endParaRPr 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c>
                  <a:txBody>
                    <a:bodyPr/>
                    <a:lstStyle/>
                    <a:p>
                      <a:pPr algn="ctr" fontAlgn="ctr"/>
                      <a:r>
                        <a:rPr lang="en-US" altLang="en-IN" sz="1600" b="1" i="0">
                          <a:solidFill>
                            <a:srgbClr val="5B6B7F"/>
                          </a:solidFill>
                          <a:latin typeface="Calibri" panose="020F0502020204030204"/>
                          <a:ea typeface="Calibri" panose="020F0502020204030204"/>
                        </a:rPr>
                        <a:t>Waiting for FAT</a:t>
                      </a:r>
                      <a:endParaRPr lang="en-US" alt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FFFFF"/>
                    </a:solidFill>
                  </a:tcPr>
                </a:tc>
              </a:tr>
              <a:tr h="508635">
                <a:tc>
                  <a:txBody>
                    <a:bodyPr/>
                    <a:lstStyle/>
                    <a:p>
                      <a:pPr algn="ctr" fontAlgn="ctr"/>
                      <a:r>
                        <a:rPr lang="en-US" sz="1600" b="1" i="0">
                          <a:solidFill>
                            <a:srgbClr val="1A2433"/>
                          </a:solidFill>
                          <a:latin typeface="Calibri" panose="020F0502020204030204"/>
                          <a:ea typeface="Calibri" panose="020F0502020204030204"/>
                        </a:rPr>
                        <a:t>5</a:t>
                      </a:r>
                      <a:endParaRPr lang="en-US"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1A2433"/>
                          </a:solidFill>
                          <a:latin typeface="Calibri" panose="020F0502020204030204"/>
                          <a:ea typeface="Calibri" panose="020F0502020204030204"/>
                        </a:rPr>
                        <a:t>BMW RAD Line</a:t>
                      </a:r>
                      <a:endParaRPr sz="1600" b="1" i="0">
                        <a:solidFill>
                          <a:srgbClr val="1A2433"/>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OP10 → OP20→OP30→OP40</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4 Cobots + 1 AMR</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sz="1600" b="1" i="0">
                          <a:solidFill>
                            <a:srgbClr val="5B6B7F"/>
                          </a:solidFill>
                          <a:latin typeface="Calibri" panose="020F0502020204030204"/>
                          <a:ea typeface="Calibri" panose="020F0502020204030204"/>
                        </a:rPr>
                        <a:t>02-02-2026</a:t>
                      </a:r>
                      <a:endParaRPr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lang="en-US" altLang="en-IN" sz="1600" b="1" i="0">
                          <a:solidFill>
                            <a:srgbClr val="5B6B7F"/>
                          </a:solidFill>
                          <a:latin typeface="Calibri" panose="020F0502020204030204"/>
                          <a:ea typeface="Calibri" panose="020F0502020204030204"/>
                        </a:rPr>
                        <a:t>28</a:t>
                      </a:r>
                      <a:r>
                        <a:rPr lang="en-IN" sz="1600" b="1" i="0">
                          <a:solidFill>
                            <a:srgbClr val="5B6B7F"/>
                          </a:solidFill>
                          <a:latin typeface="Calibri" panose="020F0502020204030204"/>
                          <a:ea typeface="Calibri" panose="020F0502020204030204"/>
                        </a:rPr>
                        <a:t>-</a:t>
                      </a:r>
                      <a:r>
                        <a:rPr lang="en-US" altLang="en-IN" sz="1600" b="1" i="0">
                          <a:solidFill>
                            <a:srgbClr val="5B6B7F"/>
                          </a:solidFill>
                          <a:latin typeface="Calibri" panose="020F0502020204030204"/>
                          <a:ea typeface="Calibri" panose="020F0502020204030204"/>
                        </a:rPr>
                        <a:t>10</a:t>
                      </a:r>
                      <a:r>
                        <a:rPr lang="en-IN" sz="1600" b="1" i="0">
                          <a:solidFill>
                            <a:srgbClr val="5B6B7F"/>
                          </a:solidFill>
                          <a:latin typeface="Calibri" panose="020F0502020204030204"/>
                          <a:ea typeface="Calibri" panose="020F0502020204030204"/>
                        </a:rPr>
                        <a:t>-2026</a:t>
                      </a:r>
                      <a:endParaRPr lang="en-IN"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c>
                  <a:txBody>
                    <a:bodyPr/>
                    <a:lstStyle/>
                    <a:p>
                      <a:pPr algn="ctr" fontAlgn="ctr"/>
                      <a:r>
                        <a:rPr lang="en-US" sz="1600" b="1" i="0">
                          <a:solidFill>
                            <a:srgbClr val="5B6B7F"/>
                          </a:solidFill>
                          <a:latin typeface="Calibri" panose="020F0502020204030204"/>
                          <a:ea typeface="Calibri" panose="020F0502020204030204"/>
                        </a:rPr>
                        <a:t>DAP Review Completed, 24.10.2026 Materail Inward</a:t>
                      </a:r>
                      <a:endParaRPr lang="en-US" sz="1600" b="1" i="0">
                        <a:solidFill>
                          <a:srgbClr val="5B6B7F"/>
                        </a:solidFill>
                        <a:latin typeface="Calibri" panose="020F0502020204030204"/>
                        <a:ea typeface="Calibri" panose="020F0502020204030204"/>
                      </a:endParaRPr>
                    </a:p>
                  </a:txBody>
                  <a:tcPr marL="7937" marR="7937" marT="7937" marB="0" anchor="ctr">
                    <a:lnL w="12700" cap="flat" cmpd="sng">
                      <a:solidFill>
                        <a:srgbClr val="DDD8CC"/>
                      </a:solidFill>
                      <a:prstDash val="solid"/>
                      <a:headEnd type="none" w="med" len="med"/>
                      <a:tailEnd type="none" w="med" len="med"/>
                    </a:lnL>
                    <a:lnR w="12700" cap="flat" cmpd="sng">
                      <a:solidFill>
                        <a:srgbClr val="DDD8CC"/>
                      </a:solidFill>
                      <a:prstDash val="solid"/>
                      <a:headEnd type="none" w="med" len="med"/>
                      <a:tailEnd type="none" w="med" len="med"/>
                    </a:lnR>
                    <a:lnT w="12700" cap="flat" cmpd="sng">
                      <a:solidFill>
                        <a:srgbClr val="DDD8CC"/>
                      </a:solidFill>
                      <a:prstDash val="solid"/>
                      <a:headEnd type="none" w="med" len="med"/>
                      <a:tailEnd type="none" w="med" len="med"/>
                    </a:lnT>
                    <a:lnB w="12700" cap="flat" cmpd="sng">
                      <a:solidFill>
                        <a:srgbClr val="DDD8CC"/>
                      </a:solidFill>
                      <a:prstDash val="solid"/>
                      <a:headEnd type="none" w="med" len="med"/>
                      <a:tailEnd type="none" w="med" len="med"/>
                    </a:lnB>
                    <a:solidFill>
                      <a:srgbClr val="F1EEE6"/>
                    </a:solidFill>
                  </a:tcPr>
                </a:tc>
              </a:tr>
            </a:tbl>
          </a:graphicData>
        </a:graphic>
      </p:graphicFrame>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7"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IN" altLang="en-US" sz="2000" b="1" dirty="0">
                <a:solidFill>
                  <a:schemeClr val="bg1"/>
                </a:solidFill>
                <a:latin typeface="Calibri" panose="020F0502020204030204" pitchFamily="34" charset="0"/>
                <a:cs typeface="Calibri" panose="020F0502020204030204" pitchFamily="34" charset="0"/>
              </a:rPr>
              <a:t>STELLANTIS LINE - PHASE</a:t>
            </a:r>
            <a:r>
              <a:rPr lang="en-US" altLang="en-IN" sz="2000" b="1" dirty="0">
                <a:solidFill>
                  <a:schemeClr val="bg1"/>
                </a:solidFill>
                <a:latin typeface="Calibri" panose="020F0502020204030204" pitchFamily="34" charset="0"/>
                <a:cs typeface="Calibri" panose="020F0502020204030204" pitchFamily="34" charset="0"/>
              </a:rPr>
              <a:t> 1 </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11" name="Text Box 10"/>
          <p:cNvSpPr txBox="1"/>
          <p:nvPr/>
        </p:nvSpPr>
        <p:spPr>
          <a:xfrm>
            <a:off x="356870" y="75692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02 (PLAN vs ACTUAL)</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sp>
        <p:nvSpPr>
          <p:cNvPr id="12" name="Text Box 11"/>
          <p:cNvSpPr txBox="1"/>
          <p:nvPr/>
        </p:nvSpPr>
        <p:spPr>
          <a:xfrm>
            <a:off x="356870" y="4184015"/>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03 (PLANNED ACTIVITY)</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cxnSp>
        <p:nvCxnSpPr>
          <p:cNvPr id="15" name="Straight Connector 14"/>
          <p:cNvCxnSpPr/>
          <p:nvPr/>
        </p:nvCxnSpPr>
        <p:spPr>
          <a:xfrm flipV="1">
            <a:off x="466725" y="109918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cxnSp>
        <p:nvCxnSpPr>
          <p:cNvPr id="16" name="Straight Connector 15"/>
          <p:cNvCxnSpPr/>
          <p:nvPr/>
        </p:nvCxnSpPr>
        <p:spPr>
          <a:xfrm flipV="1">
            <a:off x="466725" y="4526280"/>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graphicFrame>
        <p:nvGraphicFramePr>
          <p:cNvPr id="7" name="Table 6"/>
          <p:cNvGraphicFramePr/>
          <p:nvPr>
            <p:custDataLst>
              <p:tags r:id="rId1"/>
            </p:custDataLst>
          </p:nvPr>
        </p:nvGraphicFramePr>
        <p:xfrm>
          <a:off x="466725" y="1169670"/>
          <a:ext cx="11181080" cy="3116580"/>
        </p:xfrm>
        <a:graphic>
          <a:graphicData uri="http://schemas.openxmlformats.org/drawingml/2006/table">
            <a:tbl>
              <a:tblPr/>
              <a:tblGrid>
                <a:gridCol w="676910"/>
                <a:gridCol w="2698750"/>
                <a:gridCol w="1345565"/>
                <a:gridCol w="676275"/>
                <a:gridCol w="676910"/>
                <a:gridCol w="677545"/>
                <a:gridCol w="676910"/>
                <a:gridCol w="677545"/>
                <a:gridCol w="3074670"/>
              </a:tblGrid>
              <a:tr h="311785">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3111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1242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OP10 Plunger mechanism Implementation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01.10.2026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01.10.2026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sz="1200" b="0" i="0">
                          <a:solidFill>
                            <a:srgbClr val="000000"/>
                          </a:solidFill>
                          <a:latin typeface="Calibri" panose="020F0502020204030204"/>
                          <a:ea typeface="Calibri" panose="020F0502020204030204"/>
                        </a:rPr>
                        <a:t>Robonetics working on Plunger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1150">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UW - Complete Cobot Programming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CLOSE</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solidFill>
                  </a:tcPr>
                </a:tc>
                <a:tc>
                  <a:txBody>
                    <a:bodyPr/>
                    <a:p>
                      <a:pPr algn="l" fontAlgn="ctr"/>
                      <a:r>
                        <a:rPr sz="1200" b="0" i="0">
                          <a:solidFill>
                            <a:srgbClr val="000000"/>
                          </a:solidFill>
                          <a:latin typeface="Calibri" panose="020F0502020204030204"/>
                          <a:ea typeface="Calibri" panose="020F0502020204030204"/>
                        </a:rPr>
                        <a:t>Complete program completed</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623570">
                <a:tc>
                  <a:txBody>
                    <a:bodyPr/>
                    <a:p>
                      <a:pPr algn="ctr" fontAlgn="ctr"/>
                      <a:r>
                        <a:rPr sz="1200" b="0" i="0">
                          <a:solidFill>
                            <a:srgbClr val="000000"/>
                          </a:solidFill>
                          <a:latin typeface="Calibri" panose="020F0502020204030204"/>
                          <a:ea typeface="Calibri" panose="020F0502020204030204"/>
                        </a:rPr>
                        <a:t>3</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UW - Oil dipping station grouting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LGB/Robenetics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sz="1200" b="0" i="0">
                          <a:solidFill>
                            <a:srgbClr val="000000"/>
                          </a:solidFill>
                          <a:latin typeface="Calibri" panose="020F0502020204030204"/>
                          <a:ea typeface="Calibri" panose="020F0502020204030204"/>
                        </a:rPr>
                        <a:t>Station position done and grouting pending for robonetics team input</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1150">
                <a:tc>
                  <a:txBody>
                    <a:bodyPr/>
                    <a:p>
                      <a:pPr algn="ctr" fontAlgn="ctr"/>
                      <a:r>
                        <a:rPr sz="1200" b="0" i="0">
                          <a:solidFill>
                            <a:srgbClr val="000000"/>
                          </a:solidFill>
                          <a:latin typeface="Calibri" panose="020F0502020204030204"/>
                          <a:ea typeface="Calibri" panose="020F0502020204030204"/>
                        </a:rPr>
                        <a:t>4</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UW - Metal bin modification for programming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CLOSE</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solidFill>
                  </a:tcPr>
                </a:tc>
                <a:tc>
                  <a:txBody>
                    <a:bodyPr/>
                    <a:p>
                      <a:pPr algn="l" fontAlgn="ctr"/>
                      <a:r>
                        <a:rPr sz="1200" b="0" i="0">
                          <a:solidFill>
                            <a:srgbClr val="000000"/>
                          </a:solidFill>
                          <a:latin typeface="Calibri" panose="020F0502020204030204"/>
                          <a:ea typeface="Calibri" panose="020F0502020204030204"/>
                        </a:rPr>
                        <a:t>Completed</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623570">
                <a:tc>
                  <a:txBody>
                    <a:bodyPr/>
                    <a:p>
                      <a:pPr algn="ctr" fontAlgn="ctr"/>
                      <a:r>
                        <a:rPr sz="1200" b="0" i="0">
                          <a:solidFill>
                            <a:srgbClr val="000000"/>
                          </a:solidFill>
                          <a:latin typeface="Calibri" panose="020F0502020204030204"/>
                          <a:ea typeface="Calibri" panose="020F0502020204030204"/>
                        </a:rPr>
                        <a:t>5</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UW - Complete Trail without pusher setup</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sz="1200" b="0" i="0">
                          <a:solidFill>
                            <a:srgbClr val="000000"/>
                          </a:solidFill>
                          <a:latin typeface="Calibri" panose="020F0502020204030204"/>
                          <a:ea typeface="Calibri" panose="020F0502020204030204"/>
                        </a:rPr>
                        <a:t>Bin in lifter not aligned in same position on continous process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graphicFrame>
        <p:nvGraphicFramePr>
          <p:cNvPr id="18" name="Table 17"/>
          <p:cNvGraphicFramePr/>
          <p:nvPr>
            <p:custDataLst>
              <p:tags r:id="rId2"/>
            </p:custDataLst>
          </p:nvPr>
        </p:nvGraphicFramePr>
        <p:xfrm>
          <a:off x="466725" y="4619625"/>
          <a:ext cx="11181715" cy="1305560"/>
        </p:xfrm>
        <a:graphic>
          <a:graphicData uri="http://schemas.openxmlformats.org/drawingml/2006/table">
            <a:tbl>
              <a:tblPr/>
              <a:tblGrid>
                <a:gridCol w="676910"/>
                <a:gridCol w="2698750"/>
                <a:gridCol w="1345565"/>
                <a:gridCol w="676910"/>
                <a:gridCol w="676910"/>
                <a:gridCol w="677545"/>
                <a:gridCol w="676910"/>
                <a:gridCol w="677545"/>
                <a:gridCol w="3074670"/>
              </a:tblGrid>
              <a:tr h="326390">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3263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2639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Alignment correction for bin in lifter</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100" b="0" i="0">
                          <a:solidFill>
                            <a:srgbClr val="000000"/>
                          </a:solidFill>
                          <a:latin typeface="Calibri" panose="020F0502020204030204"/>
                          <a:ea typeface="Calibri" panose="020F0502020204030204"/>
                        </a:rPr>
                        <a:t>20.10.2026</a:t>
                      </a: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100" b="0" i="0">
                          <a:solidFill>
                            <a:srgbClr val="000000"/>
                          </a:solidFill>
                          <a:latin typeface="Calibri" panose="020F0502020204030204"/>
                          <a:ea typeface="Calibri" panose="020F0502020204030204"/>
                        </a:rPr>
                        <a:t>22.10.2026</a:t>
                      </a: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200" b="0" i="0">
                          <a:solidFill>
                            <a:srgbClr val="000000"/>
                          </a:solidFill>
                          <a:latin typeface="Calibri" panose="020F0502020204030204"/>
                          <a:ea typeface="Calibri" panose="020F0502020204030204"/>
                        </a:rPr>
                        <a:t>Design Team work</a:t>
                      </a:r>
                      <a:endParaRPr lang="en-US"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26390">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Continous running of UW station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100" b="0" i="0">
                          <a:solidFill>
                            <a:srgbClr val="000000"/>
                          </a:solidFill>
                          <a:latin typeface="Calibri" panose="020F0502020204030204"/>
                          <a:ea typeface="Calibri" panose="020F0502020204030204"/>
                        </a:rPr>
                        <a:t>22.10.2026</a:t>
                      </a: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100" b="0" i="0">
                          <a:solidFill>
                            <a:srgbClr val="000000"/>
                          </a:solidFill>
                          <a:latin typeface="Calibri" panose="020F0502020204030204"/>
                          <a:ea typeface="Calibri" panose="020F0502020204030204"/>
                        </a:rPr>
                        <a:t>24.10.2026</a:t>
                      </a: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1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19"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11" name="TextBox 4"/>
          <p:cNvSpPr txBox="1"/>
          <p:nvPr/>
        </p:nvSpPr>
        <p:spPr>
          <a:xfrm>
            <a:off x="222094" y="114300"/>
            <a:ext cx="11747811" cy="398780"/>
          </a:xfrm>
          <a:prstGeom prst="rect">
            <a:avLst/>
          </a:prstGeom>
          <a:noFill/>
        </p:spPr>
        <p:txBody>
          <a:bodyPr wrap="square" rtlCol="0">
            <a:spAutoFit/>
          </a:bodyPr>
          <a:p>
            <a:pPr marL="0" marR="0" lvl="0" indent="0" algn="ctr" defTabSz="457200" rtl="0" eaLnBrk="1" fontAlgn="auto" latinLnBrk="0" hangingPunct="1">
              <a:lnSpc>
                <a:spcPct val="100000"/>
              </a:lnSpc>
              <a:spcBef>
                <a:spcPts val="0"/>
              </a:spcBef>
              <a:spcAft>
                <a:spcPts val="0"/>
              </a:spcAft>
              <a:buClrTx/>
              <a:buSzTx/>
              <a:buFontTx/>
              <a:buNone/>
              <a:defRPr/>
            </a:pPr>
            <a:r>
              <a:rPr lang="en-IN" altLang="en-US" sz="2000" b="1" dirty="0">
                <a:solidFill>
                  <a:schemeClr val="bg1"/>
                </a:solidFill>
                <a:latin typeface="Calibri" panose="020F0502020204030204" pitchFamily="34" charset="0"/>
                <a:cs typeface="Calibri" panose="020F0502020204030204" pitchFamily="34" charset="0"/>
              </a:rPr>
              <a:t>STELLANTIS LINE - PHASE</a:t>
            </a:r>
            <a:r>
              <a:rPr lang="en-US" altLang="en-IN" sz="2000" b="1" dirty="0">
                <a:solidFill>
                  <a:schemeClr val="bg1"/>
                </a:solidFill>
                <a:latin typeface="Calibri" panose="020F0502020204030204" pitchFamily="34" charset="0"/>
                <a:cs typeface="Calibri" panose="020F0502020204030204" pitchFamily="34" charset="0"/>
              </a:rPr>
              <a:t> 1</a:t>
            </a:r>
            <a:r>
              <a:rPr lang="en-US" altLang="en-IN" sz="2000" b="1" dirty="0">
                <a:solidFill>
                  <a:srgbClr val="002994"/>
                </a:solidFill>
                <a:latin typeface="Calibri" panose="020F0502020204030204" pitchFamily="34" charset="0"/>
                <a:cs typeface="Calibri" panose="020F0502020204030204" pitchFamily="34" charset="0"/>
              </a:rPr>
              <a:t> </a:t>
            </a:r>
            <a:endParaRPr lang="en-US" altLang="en-IN" sz="2000" b="1" dirty="0">
              <a:solidFill>
                <a:srgbClr val="002994"/>
              </a:solidFill>
              <a:latin typeface="Calibri" panose="020F0502020204030204" pitchFamily="34" charset="0"/>
              <a:cs typeface="Calibri" panose="020F0502020204030204" pitchFamily="34" charset="0"/>
            </a:endParaRPr>
          </a:p>
        </p:txBody>
      </p:sp>
      <p:sp>
        <p:nvSpPr>
          <p:cNvPr id="13"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pic>
        <p:nvPicPr>
          <p:cNvPr id="12" name="WhatsApp Video 2026-10-15 at 4.12.14 AM">
            <a:hlinkClick r:id="" action="ppaction://media"/>
          </p:cNvPr>
          <p:cNvPicPr/>
          <p:nvPr>
            <p:ph sz="half" idx="2"/>
            <a:videoFile r:link="rId1"/>
            <p:extLst>
              <p:ext uri="{DAA4B4D4-6D71-4841-9C94-3DE7FCFB9230}">
                <p14:media xmlns:p14="http://schemas.microsoft.com/office/powerpoint/2010/main" r:link="rId2"/>
              </p:ext>
            </p:extLst>
          </p:nvPr>
        </p:nvPicPr>
        <p:blipFill>
          <a:blip r:embed="rId3"/>
          <a:stretch>
            <a:fillRect/>
          </a:stretch>
        </p:blipFill>
        <p:spPr>
          <a:xfrm>
            <a:off x="4213225" y="789305"/>
            <a:ext cx="7657465" cy="5251450"/>
          </a:xfrm>
          <a:prstGeom prst="rect">
            <a:avLst/>
          </a:prstGeom>
        </p:spPr>
      </p:pic>
      <p:sp>
        <p:nvSpPr>
          <p:cNvPr id="17" name="Rectangles 16"/>
          <p:cNvSpPr/>
          <p:nvPr/>
        </p:nvSpPr>
        <p:spPr>
          <a:xfrm>
            <a:off x="503555" y="2947670"/>
            <a:ext cx="3466465" cy="1053465"/>
          </a:xfrm>
          <a:prstGeom prst="rect">
            <a:avLst/>
          </a:prstGeom>
        </p:spPr>
        <p:txBody>
          <a:bodyPr vert="horz" wrap="square" lIns="91440" tIns="45720" rIns="91440" bIns="45720" rtlCol="0">
            <a:normAutofit fontScale="80000"/>
          </a:bodyPr>
          <a:p>
            <a:pPr lvl="0" algn="l">
              <a:lnSpc>
                <a:spcPct val="90000"/>
              </a:lnSpc>
              <a:spcBef>
                <a:spcPts val="1000"/>
              </a:spcBef>
              <a:buClrTx/>
              <a:buSzTx/>
              <a:buFont typeface="Arial" panose="020B0604020202020204" pitchFamily="34" charset="0"/>
            </a:pPr>
            <a:r>
              <a:rPr lang="en-US" altLang="en-IN" sz="3000" b="1" dirty="0">
                <a:solidFill>
                  <a:schemeClr val="accent1"/>
                </a:solidFill>
                <a:latin typeface="Calibri" panose="020F0502020204030204" pitchFamily="34" charset="0"/>
                <a:cs typeface="Calibri" panose="020F0502020204030204" pitchFamily="34" charset="0"/>
                <a:sym typeface="+mn-ea"/>
              </a:rPr>
              <a:t>Stellantis line UW cobot program completion</a:t>
            </a:r>
            <a:endParaRPr lang="en-US" altLang="en-IN" sz="3000" b="1" dirty="0">
              <a:solidFill>
                <a:schemeClr val="accent1"/>
              </a:solidFill>
              <a:latin typeface="Calibri" panose="020F0502020204030204" pitchFamily="34" charset="0"/>
              <a:cs typeface="Calibri" panose="020F0502020204030204" pitchFamily="34" charset="0"/>
              <a:sym typeface="+mn-ea"/>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7"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indefinite"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mute="1">
                <p:cTn id="7" fill="hold" display="1">
                  <p:stCondLst>
                    <p:cond delay="indefinite"/>
                  </p:stCondLst>
                  <p:endCondLst>
                    <p:cond evt="onNext">
                      <p:tgtEl>
                        <p:sldTgt/>
                      </p:tgtEl>
                    </p:cond>
                    <p:cond evt="onPrev">
                      <p:tgtEl>
                        <p:sldTgt/>
                      </p:tgtEl>
                    </p:cond>
                  </p:end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7" name="Text Box 6"/>
          <p:cNvSpPr txBox="1"/>
          <p:nvPr/>
        </p:nvSpPr>
        <p:spPr>
          <a:xfrm>
            <a:off x="4128770" y="6399530"/>
            <a:ext cx="3863975" cy="368300"/>
          </a:xfrm>
          <a:prstGeom prst="rect">
            <a:avLst/>
          </a:prstGeom>
          <a:noFill/>
        </p:spPr>
        <p:txBody>
          <a:bodyPr wrap="square" rtlCol="0">
            <a:spAutoFit/>
          </a:bodyPr>
          <a:lstStyle/>
          <a:p>
            <a:r>
              <a:rPr lang="en-IN" altLang="en-US" b="1">
                <a:solidFill>
                  <a:schemeClr val="bg1"/>
                </a:solidFill>
                <a:latin typeface="Calibri" panose="020F0502020204030204" pitchFamily="34" charset="0"/>
                <a:cs typeface="Calibri" panose="020F0502020204030204" pitchFamily="34" charset="0"/>
              </a:rPr>
              <a:t>LGB l  Operations Technology</a:t>
            </a:r>
            <a:endParaRPr lang="en-IN" altLang="en-US" b="1">
              <a:solidFill>
                <a:schemeClr val="bg1"/>
              </a:solidFill>
              <a:latin typeface="Calibri" panose="020F0502020204030204" pitchFamily="34" charset="0"/>
              <a:cs typeface="Calibri" panose="020F0502020204030204" pitchFamily="34" charset="0"/>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marR="0" indent="0" algn="ctr" defTabSz="457200" fontAlgn="auto">
              <a:lnSpc>
                <a:spcPct val="100000"/>
              </a:lnSpc>
              <a:spcBef>
                <a:spcPts val="0"/>
              </a:spcBef>
              <a:spcAft>
                <a:spcPts val="0"/>
              </a:spcAft>
              <a:buClrTx/>
              <a:buSzTx/>
              <a:buFontTx/>
              <a:buNone/>
              <a:defRPr/>
            </a:pPr>
            <a:r>
              <a:rPr lang="en-US" altLang="en-IN" sz="2000" b="1" dirty="0">
                <a:solidFill>
                  <a:schemeClr val="bg1"/>
                </a:solidFill>
                <a:latin typeface="Calibri" panose="020F0502020204030204" pitchFamily="34" charset="0"/>
                <a:cs typeface="Calibri" panose="020F0502020204030204" pitchFamily="34" charset="0"/>
              </a:rPr>
              <a:t>HELICAL LINE</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11" name="Text Box 10"/>
          <p:cNvSpPr txBox="1"/>
          <p:nvPr/>
        </p:nvSpPr>
        <p:spPr>
          <a:xfrm>
            <a:off x="356870" y="75692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02 (PLAN vs ACTUAL)</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sp>
        <p:nvSpPr>
          <p:cNvPr id="12" name="Text Box 11"/>
          <p:cNvSpPr txBox="1"/>
          <p:nvPr/>
        </p:nvSpPr>
        <p:spPr>
          <a:xfrm>
            <a:off x="356870" y="390906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03 (PLANNED ACTIVITY)</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cxnSp>
        <p:nvCxnSpPr>
          <p:cNvPr id="15" name="Straight Connector 14"/>
          <p:cNvCxnSpPr/>
          <p:nvPr/>
        </p:nvCxnSpPr>
        <p:spPr>
          <a:xfrm flipV="1">
            <a:off x="466725" y="109918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cxnSp>
        <p:nvCxnSpPr>
          <p:cNvPr id="16" name="Straight Connector 15"/>
          <p:cNvCxnSpPr/>
          <p:nvPr/>
        </p:nvCxnSpPr>
        <p:spPr>
          <a:xfrm flipV="1">
            <a:off x="466725" y="425132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graphicFrame>
        <p:nvGraphicFramePr>
          <p:cNvPr id="4" name="Table 3"/>
          <p:cNvGraphicFramePr/>
          <p:nvPr>
            <p:custDataLst>
              <p:tags r:id="rId1"/>
            </p:custDataLst>
          </p:nvPr>
        </p:nvGraphicFramePr>
        <p:xfrm>
          <a:off x="466725" y="1176655"/>
          <a:ext cx="10972800" cy="2620645"/>
        </p:xfrm>
        <a:graphic>
          <a:graphicData uri="http://schemas.openxmlformats.org/drawingml/2006/table">
            <a:tbl>
              <a:tblPr/>
              <a:tblGrid>
                <a:gridCol w="664210"/>
                <a:gridCol w="2648585"/>
                <a:gridCol w="1320165"/>
                <a:gridCol w="664210"/>
                <a:gridCol w="667385"/>
                <a:gridCol w="661670"/>
                <a:gridCol w="664210"/>
                <a:gridCol w="664845"/>
                <a:gridCol w="3017520"/>
              </a:tblGrid>
              <a:tr h="291465">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29083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58293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Cobot cells Mechanical setup assembly and grouting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rowSpan="4">
                  <a:txBody>
                    <a:bodyPr/>
                    <a:p>
                      <a:pPr algn="l" fontAlgn="ctr"/>
                      <a:r>
                        <a:rPr sz="1200" b="0" i="0">
                          <a:solidFill>
                            <a:srgbClr val="000000"/>
                          </a:solidFill>
                          <a:latin typeface="Calibri" panose="020F0502020204030204"/>
                          <a:ea typeface="Calibri" panose="020F0502020204030204"/>
                        </a:rPr>
                        <a:t>Waiting for part confirmation and trail taken for 1790 OP10 machined part with exixting setup and shared for quality check. Confirmed line operator for scratch issue and observed parallelism around 100-200 micron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90195">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Cobot programming for 1 cell</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10.10.2026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91465">
                <a:tc>
                  <a:txBody>
                    <a:bodyPr/>
                    <a:p>
                      <a:pPr algn="ctr" fontAlgn="ctr"/>
                      <a:r>
                        <a:rPr sz="1200" b="0" i="0">
                          <a:solidFill>
                            <a:srgbClr val="000000"/>
                          </a:solidFill>
                          <a:latin typeface="Calibri" panose="020F0502020204030204"/>
                          <a:ea typeface="Calibri" panose="020F0502020204030204"/>
                        </a:rPr>
                        <a:t>3</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Completion of PLC logic for 1 cell</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91465">
                <a:tc>
                  <a:txBody>
                    <a:bodyPr/>
                    <a:p>
                      <a:pPr algn="ctr" fontAlgn="ctr"/>
                      <a:r>
                        <a:rPr sz="1200" b="0" i="0">
                          <a:solidFill>
                            <a:srgbClr val="000000"/>
                          </a:solidFill>
                          <a:latin typeface="Calibri" panose="020F0502020204030204"/>
                          <a:ea typeface="Calibri" panose="020F0502020204030204"/>
                        </a:rPr>
                        <a:t>4</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Complete trail in 1 cell</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90830">
                <a:tc>
                  <a:txBody>
                    <a:bodyPr/>
                    <a:p>
                      <a:pPr algn="ctr" fontAlgn="ctr"/>
                      <a:r>
                        <a:rPr sz="1200" b="0" i="0">
                          <a:solidFill>
                            <a:srgbClr val="000000"/>
                          </a:solidFill>
                          <a:latin typeface="Calibri" panose="020F0502020204030204"/>
                          <a:ea typeface="Calibri" panose="020F0502020204030204"/>
                        </a:rPr>
                        <a:t>5</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Machine Movement for robot cells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08.10.2026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rowSpan="2">
                  <a:txBody>
                    <a:bodyPr/>
                    <a:p>
                      <a:pPr algn="l" fontAlgn="ctr"/>
                      <a:r>
                        <a:rPr sz="1200" b="0" i="0">
                          <a:solidFill>
                            <a:srgbClr val="000000"/>
                          </a:solidFill>
                          <a:latin typeface="Calibri" panose="020F0502020204030204"/>
                          <a:ea typeface="Calibri" panose="020F0502020204030204"/>
                        </a:rPr>
                        <a:t>Pending with plant team</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91465">
                <a:tc>
                  <a:txBody>
                    <a:bodyPr/>
                    <a:p>
                      <a:pPr algn="ctr" fontAlgn="ctr"/>
                      <a:r>
                        <a:rPr sz="1200" b="0" i="0">
                          <a:solidFill>
                            <a:srgbClr val="000000"/>
                          </a:solidFill>
                          <a:latin typeface="Calibri" panose="020F0502020204030204"/>
                          <a:ea typeface="Calibri" panose="020F0502020204030204"/>
                        </a:rPr>
                        <a:t>6</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Robot reach check confirmation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17" name="Table 16"/>
          <p:cNvGraphicFramePr/>
          <p:nvPr>
            <p:custDataLst>
              <p:tags r:id="rId2"/>
            </p:custDataLst>
          </p:nvPr>
        </p:nvGraphicFramePr>
        <p:xfrm>
          <a:off x="466725" y="4313555"/>
          <a:ext cx="10972800" cy="1837055"/>
        </p:xfrm>
        <a:graphic>
          <a:graphicData uri="http://schemas.openxmlformats.org/drawingml/2006/table">
            <a:tbl>
              <a:tblPr/>
              <a:tblGrid>
                <a:gridCol w="664210"/>
                <a:gridCol w="2648585"/>
                <a:gridCol w="1320165"/>
                <a:gridCol w="664210"/>
                <a:gridCol w="664210"/>
                <a:gridCol w="664845"/>
                <a:gridCol w="664210"/>
                <a:gridCol w="664845"/>
                <a:gridCol w="3017520"/>
              </a:tblGrid>
              <a:tr h="331470">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3009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0099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Confirmation on 1790 part to proceed</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00990">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Cobot programming for 1 cell</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20.10.2026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21.10.2026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01625">
                <a:tc>
                  <a:txBody>
                    <a:bodyPr/>
                    <a:p>
                      <a:pPr algn="ctr" fontAlgn="ctr"/>
                      <a:r>
                        <a:rPr sz="1200" b="0" i="0">
                          <a:solidFill>
                            <a:srgbClr val="000000"/>
                          </a:solidFill>
                          <a:latin typeface="Calibri" panose="020F0502020204030204"/>
                          <a:ea typeface="Calibri" panose="020F0502020204030204"/>
                        </a:rPr>
                        <a:t>3</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Complete trail in 1 cell for 1790</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Flipping station pending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00990">
                <a:tc>
                  <a:txBody>
                    <a:bodyPr/>
                    <a:p>
                      <a:pPr algn="ctr" fontAlgn="ctr"/>
                      <a:r>
                        <a:rPr sz="1200" b="0" i="0">
                          <a:solidFill>
                            <a:srgbClr val="000000"/>
                          </a:solidFill>
                          <a:latin typeface="Calibri" panose="020F0502020204030204"/>
                          <a:ea typeface="Calibri" panose="020F0502020204030204"/>
                        </a:rPr>
                        <a:t>4</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Confirmation on parts for commissioning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LGB </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20.10.2026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20.10.2026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18"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7" name="Text Box 6"/>
          <p:cNvSpPr txBox="1"/>
          <p:nvPr/>
        </p:nvSpPr>
        <p:spPr>
          <a:xfrm>
            <a:off x="4128770" y="6399530"/>
            <a:ext cx="3863975" cy="368300"/>
          </a:xfrm>
          <a:prstGeom prst="rect">
            <a:avLst/>
          </a:prstGeom>
          <a:noFill/>
        </p:spPr>
        <p:txBody>
          <a:bodyPr wrap="square" rtlCol="0">
            <a:spAutoFit/>
          </a:bodyPr>
          <a:lstStyle/>
          <a:p>
            <a:r>
              <a:rPr lang="en-IN" altLang="en-US" b="1">
                <a:solidFill>
                  <a:schemeClr val="bg1"/>
                </a:solidFill>
                <a:latin typeface="Calibri" panose="020F0502020204030204" pitchFamily="34" charset="0"/>
                <a:cs typeface="Calibri" panose="020F0502020204030204" pitchFamily="34" charset="0"/>
              </a:rPr>
              <a:t>LGB l  Operations Technology</a:t>
            </a:r>
            <a:endParaRPr lang="en-IN" altLang="en-US" b="1">
              <a:solidFill>
                <a:schemeClr val="bg1"/>
              </a:solidFill>
              <a:latin typeface="Calibri" panose="020F0502020204030204" pitchFamily="34" charset="0"/>
              <a:cs typeface="Calibri" panose="020F0502020204030204" pitchFamily="34" charset="0"/>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marR="0" indent="0" algn="ctr" defTabSz="457200" fontAlgn="auto">
              <a:lnSpc>
                <a:spcPct val="100000"/>
              </a:lnSpc>
              <a:spcBef>
                <a:spcPts val="0"/>
              </a:spcBef>
              <a:spcAft>
                <a:spcPts val="0"/>
              </a:spcAft>
              <a:buClrTx/>
              <a:buSzTx/>
              <a:buFontTx/>
              <a:buNone/>
              <a:defRPr/>
            </a:pPr>
            <a:r>
              <a:rPr lang="en-US" altLang="en-IN" sz="2000" b="1" dirty="0">
                <a:solidFill>
                  <a:schemeClr val="bg1"/>
                </a:solidFill>
                <a:latin typeface="Calibri" panose="020F0502020204030204" pitchFamily="34" charset="0"/>
                <a:cs typeface="Calibri" panose="020F0502020204030204" pitchFamily="34" charset="0"/>
              </a:rPr>
              <a:t>HELICAL LINE</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pic>
        <p:nvPicPr>
          <p:cNvPr id="19" name="WhatsApp Video 2026-10-16 at 4.45.03 AM">
            <a:hlinkClick r:id="" action="ppaction://media"/>
          </p:cNvPr>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22250" y="831850"/>
            <a:ext cx="7395210" cy="5187315"/>
          </a:xfrm>
          <a:prstGeom prst="rect">
            <a:avLst/>
          </a:prstGeom>
        </p:spPr>
      </p:pic>
      <p:sp>
        <p:nvSpPr>
          <p:cNvPr id="20" name="TextBox 4"/>
          <p:cNvSpPr txBox="1"/>
          <p:nvPr/>
        </p:nvSpPr>
        <p:spPr>
          <a:xfrm>
            <a:off x="7839075" y="2875915"/>
            <a:ext cx="4203065" cy="588645"/>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lang="en-US" altLang="en-IN" sz="2000" b="1" dirty="0">
                <a:solidFill>
                  <a:schemeClr val="accent1"/>
                </a:solidFill>
                <a:latin typeface="Calibri" panose="020F0502020204030204" pitchFamily="34" charset="0"/>
                <a:cs typeface="Calibri" panose="020F0502020204030204" pitchFamily="34" charset="0"/>
              </a:rPr>
              <a:t>HELICAL LINE 1790 CELL TRAIL ON SCRATCH WITH OP10 MACHINED PARTS </a:t>
            </a:r>
            <a:r>
              <a:rPr lang="en-IN" altLang="en-US" sz="2000" b="1" dirty="0">
                <a:solidFill>
                  <a:schemeClr val="accent1"/>
                </a:solidFill>
                <a:latin typeface="Calibri" panose="020F0502020204030204" pitchFamily="34" charset="0"/>
                <a:cs typeface="Calibri" panose="020F0502020204030204" pitchFamily="34" charset="0"/>
              </a:rPr>
              <a:t> </a:t>
            </a:r>
            <a:endParaRPr lang="en-IN" altLang="en-US" sz="2000" b="1" dirty="0">
              <a:solidFill>
                <a:schemeClr val="accent1"/>
              </a:solidFill>
              <a:latin typeface="Calibri" panose="020F0502020204030204" pitchFamily="34" charset="0"/>
              <a:cs typeface="Calibri" panose="020F0502020204030204" pitchFamily="34" charset="0"/>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4"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indefinite"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mute="1">
                <p:cTn id="7" fill="hold" display="1">
                  <p:stCondLst>
                    <p:cond delay="indefinite"/>
                  </p:stCondLst>
                  <p:endCondLst>
                    <p:cond evt="onNext">
                      <p:tgtEl>
                        <p:sldTgt/>
                      </p:tgtEl>
                    </p:cond>
                    <p:cond evt="onPrev">
                      <p:tgtEl>
                        <p:sldTgt/>
                      </p:tgtEl>
                    </p:cond>
                  </p:end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7" name="Text Box 6"/>
          <p:cNvSpPr txBox="1"/>
          <p:nvPr/>
        </p:nvSpPr>
        <p:spPr>
          <a:xfrm>
            <a:off x="4128770" y="6399530"/>
            <a:ext cx="3863975" cy="368300"/>
          </a:xfrm>
          <a:prstGeom prst="rect">
            <a:avLst/>
          </a:prstGeom>
          <a:noFill/>
        </p:spPr>
        <p:txBody>
          <a:bodyPr wrap="square" rtlCol="0">
            <a:spAutoFit/>
          </a:bodyPr>
          <a:lstStyle/>
          <a:p>
            <a:r>
              <a:rPr lang="en-IN" altLang="en-US" b="1">
                <a:solidFill>
                  <a:schemeClr val="bg1"/>
                </a:solidFill>
                <a:latin typeface="Calibri" panose="020F0502020204030204" pitchFamily="34" charset="0"/>
                <a:cs typeface="Calibri" panose="020F0502020204030204" pitchFamily="34" charset="0"/>
              </a:rPr>
              <a:t>LGB l  Operations Technology</a:t>
            </a:r>
            <a:endParaRPr lang="en-IN" altLang="en-US" b="1">
              <a:solidFill>
                <a:schemeClr val="bg1"/>
              </a:solidFill>
              <a:latin typeface="Calibri" panose="020F0502020204030204" pitchFamily="34" charset="0"/>
              <a:cs typeface="Calibri" panose="020F0502020204030204" pitchFamily="34" charset="0"/>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en-IN" sz="2000" b="1" dirty="0">
                <a:solidFill>
                  <a:schemeClr val="bg1"/>
                </a:solidFill>
                <a:latin typeface="Calibri" panose="020F0502020204030204" pitchFamily="34" charset="0"/>
                <a:cs typeface="Calibri" panose="020F0502020204030204" pitchFamily="34" charset="0"/>
              </a:rPr>
              <a:t>DAIMLER LINE </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11" name="Text Box 10"/>
          <p:cNvSpPr txBox="1"/>
          <p:nvPr/>
        </p:nvSpPr>
        <p:spPr>
          <a:xfrm>
            <a:off x="356870" y="75692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02 (PLAN vs ACTUAL)</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sp>
        <p:nvSpPr>
          <p:cNvPr id="12" name="Text Box 11"/>
          <p:cNvSpPr txBox="1"/>
          <p:nvPr/>
        </p:nvSpPr>
        <p:spPr>
          <a:xfrm>
            <a:off x="356870" y="4164965"/>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03 (PLANNED ACTIVITY)</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cxnSp>
        <p:nvCxnSpPr>
          <p:cNvPr id="15" name="Straight Connector 14"/>
          <p:cNvCxnSpPr/>
          <p:nvPr/>
        </p:nvCxnSpPr>
        <p:spPr>
          <a:xfrm flipV="1">
            <a:off x="466725" y="109918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cxnSp>
        <p:nvCxnSpPr>
          <p:cNvPr id="16" name="Straight Connector 15"/>
          <p:cNvCxnSpPr/>
          <p:nvPr/>
        </p:nvCxnSpPr>
        <p:spPr>
          <a:xfrm flipV="1">
            <a:off x="466725" y="4507230"/>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2"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graphicFrame>
        <p:nvGraphicFramePr>
          <p:cNvPr id="14" name="Table 13"/>
          <p:cNvGraphicFramePr/>
          <p:nvPr>
            <p:custDataLst>
              <p:tags r:id="rId1"/>
            </p:custDataLst>
          </p:nvPr>
        </p:nvGraphicFramePr>
        <p:xfrm>
          <a:off x="466725" y="1154430"/>
          <a:ext cx="11153775" cy="2941320"/>
        </p:xfrm>
        <a:graphic>
          <a:graphicData uri="http://schemas.openxmlformats.org/drawingml/2006/table">
            <a:tbl>
              <a:tblPr/>
              <a:tblGrid>
                <a:gridCol w="675005"/>
                <a:gridCol w="2692400"/>
                <a:gridCol w="1341755"/>
                <a:gridCol w="675640"/>
                <a:gridCol w="675005"/>
                <a:gridCol w="675640"/>
                <a:gridCol w="675005"/>
                <a:gridCol w="676275"/>
                <a:gridCol w="3067050"/>
              </a:tblGrid>
              <a:tr h="241300">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2413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40640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1361 - Production trail</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10.10.2026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CLOSE</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solid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06400">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1361 - HMI stand mounting</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CLOSE</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solid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06400">
                <a:tc>
                  <a:txBody>
                    <a:bodyPr/>
                    <a:p>
                      <a:pPr algn="ctr" fontAlgn="ctr"/>
                      <a:r>
                        <a:rPr sz="1200" b="0" i="0">
                          <a:solidFill>
                            <a:srgbClr val="000000"/>
                          </a:solidFill>
                          <a:latin typeface="Calibri" panose="020F0502020204030204"/>
                          <a:ea typeface="Calibri" panose="020F0502020204030204"/>
                        </a:rPr>
                        <a:t>3</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LMW team support I/O configuration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09.10.2026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a:txBody>
                    <a:bodyPr/>
                    <a:p>
                      <a:pPr algn="l" fontAlgn="ctr"/>
                      <a:r>
                        <a:rPr sz="1200" b="0" i="0">
                          <a:solidFill>
                            <a:srgbClr val="000000"/>
                          </a:solidFill>
                          <a:latin typeface="Calibri" panose="020F0502020204030204"/>
                          <a:ea typeface="Calibri" panose="020F0502020204030204"/>
                        </a:rPr>
                        <a:t>2 machines completed, 2 machines planned on 17.10.2026</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06400">
                <a:tc>
                  <a:txBody>
                    <a:bodyPr/>
                    <a:p>
                      <a:pPr algn="ctr" fontAlgn="ctr"/>
                      <a:r>
                        <a:rPr sz="1200" b="0" i="0">
                          <a:solidFill>
                            <a:srgbClr val="000000"/>
                          </a:solidFill>
                          <a:latin typeface="Calibri" panose="020F0502020204030204"/>
                          <a:ea typeface="Calibri" panose="020F0502020204030204"/>
                        </a:rPr>
                        <a:t>4</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Remaining cell cobot installation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CLOSE</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2D050"/>
                    </a:solid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8280">
                <a:tc>
                  <a:txBody>
                    <a:bodyPr/>
                    <a:p>
                      <a:pPr algn="ctr" fontAlgn="ctr"/>
                      <a:r>
                        <a:rPr sz="1200" b="0" i="0">
                          <a:solidFill>
                            <a:srgbClr val="000000"/>
                          </a:solidFill>
                          <a:latin typeface="Calibri" panose="020F0502020204030204"/>
                          <a:ea typeface="Calibri" panose="020F0502020204030204"/>
                        </a:rPr>
                        <a:t>5</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Remaining cell mechanical assembly</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rowSpan="4">
                  <a:txBody>
                    <a:bodyPr/>
                    <a:p>
                      <a:pPr algn="ctr" fontAlgn="ctr"/>
                      <a:r>
                        <a:rPr sz="1200" b="0" i="0">
                          <a:solidFill>
                            <a:srgbClr val="000000"/>
                          </a:solidFill>
                          <a:latin typeface="Calibri" panose="020F0502020204030204"/>
                          <a:ea typeface="Calibri" panose="020F0502020204030204"/>
                        </a:rPr>
                        <a:t>Delayed in confirmation of part and machine handover from plant team</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08280">
                <a:tc>
                  <a:txBody>
                    <a:bodyPr/>
                    <a:p>
                      <a:pPr algn="ctr" fontAlgn="ctr"/>
                      <a:r>
                        <a:rPr sz="1200" b="0" i="0">
                          <a:solidFill>
                            <a:srgbClr val="000000"/>
                          </a:solidFill>
                          <a:latin typeface="Calibri" panose="020F0502020204030204"/>
                          <a:ea typeface="Calibri" panose="020F0502020204030204"/>
                        </a:rPr>
                        <a:t>6</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Cobot programming for 1 cell - 1217</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8280">
                <a:tc>
                  <a:txBody>
                    <a:bodyPr/>
                    <a:p>
                      <a:pPr algn="ctr" fontAlgn="ctr"/>
                      <a:r>
                        <a:rPr sz="1200" b="0" i="0">
                          <a:solidFill>
                            <a:srgbClr val="000000"/>
                          </a:solidFill>
                          <a:latin typeface="Calibri" panose="020F0502020204030204"/>
                          <a:ea typeface="Calibri" panose="020F0502020204030204"/>
                        </a:rPr>
                        <a:t>7</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Completion of PLC logic for 1 cell - 1217</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8280">
                <a:tc>
                  <a:txBody>
                    <a:bodyPr/>
                    <a:p>
                      <a:pPr algn="ctr" fontAlgn="ctr"/>
                      <a:r>
                        <a:rPr sz="1200" b="0" i="0">
                          <a:solidFill>
                            <a:srgbClr val="000000"/>
                          </a:solidFill>
                          <a:latin typeface="Calibri" panose="020F0502020204030204"/>
                          <a:ea typeface="Calibri" panose="020F0502020204030204"/>
                        </a:rPr>
                        <a:t>8</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Complete trail in 1 cell - 1217</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17.10.2026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OPEN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00"/>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18" name="Table 17"/>
          <p:cNvGraphicFramePr/>
          <p:nvPr>
            <p:custDataLst>
              <p:tags r:id="rId2"/>
            </p:custDataLst>
          </p:nvPr>
        </p:nvGraphicFramePr>
        <p:xfrm>
          <a:off x="466725" y="4602480"/>
          <a:ext cx="11154410" cy="1525270"/>
        </p:xfrm>
        <a:graphic>
          <a:graphicData uri="http://schemas.openxmlformats.org/drawingml/2006/table">
            <a:tbl>
              <a:tblPr/>
              <a:tblGrid>
                <a:gridCol w="675005"/>
                <a:gridCol w="2692400"/>
                <a:gridCol w="1342390"/>
                <a:gridCol w="675005"/>
                <a:gridCol w="675005"/>
                <a:gridCol w="676275"/>
                <a:gridCol w="675005"/>
                <a:gridCol w="675640"/>
                <a:gridCol w="3067685"/>
              </a:tblGrid>
              <a:tr h="254635">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25336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54635">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1361 - Handover to production</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Multivista/LGB</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22.10.2026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54635">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Dry run and Cycle time optimization - 1217</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23.10.2026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08000">
                <a:tc>
                  <a:txBody>
                    <a:bodyPr/>
                    <a:p>
                      <a:pPr algn="ctr" fontAlgn="ctr"/>
                      <a:r>
                        <a:rPr sz="1200" b="0" i="0">
                          <a:solidFill>
                            <a:srgbClr val="000000"/>
                          </a:solidFill>
                          <a:latin typeface="Calibri" panose="020F0502020204030204"/>
                          <a:ea typeface="Calibri" panose="020F0502020204030204"/>
                        </a:rPr>
                        <a:t>3</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Electrical wiring and cable connections for all cells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Multivista</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16.10.2026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19.10.1026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1720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4"/>
          <p:cNvSpPr txBox="1"/>
          <p:nvPr/>
        </p:nvSpPr>
        <p:spPr>
          <a:xfrm>
            <a:off x="222094" y="114300"/>
            <a:ext cx="11747811" cy="39878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en-IN" sz="2000" b="1" dirty="0">
                <a:solidFill>
                  <a:schemeClr val="bg1"/>
                </a:solidFill>
                <a:latin typeface="Calibri" panose="020F0502020204030204" pitchFamily="34" charset="0"/>
                <a:cs typeface="Calibri" panose="020F0502020204030204" pitchFamily="34" charset="0"/>
              </a:rPr>
              <a:t>DAIMLER LINE  </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5" name="TextBox 4"/>
          <p:cNvSpPr txBox="1"/>
          <p:nvPr/>
        </p:nvSpPr>
        <p:spPr>
          <a:xfrm>
            <a:off x="4858385" y="4546600"/>
            <a:ext cx="3101340" cy="588645"/>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en-IN" b="1" dirty="0">
                <a:solidFill>
                  <a:schemeClr val="accent1"/>
                </a:solidFill>
                <a:latin typeface="Calibri" panose="020F0502020204030204" pitchFamily="34" charset="0"/>
                <a:cs typeface="Calibri" panose="020F0502020204030204" pitchFamily="34" charset="0"/>
              </a:rPr>
              <a:t>DAIMLER LINE 1217 PART INPUT TABLE &amp; OUTPUT TABLE IS GROUTED </a:t>
            </a:r>
            <a:r>
              <a:rPr lang="en-IN" altLang="en-US" b="1" dirty="0">
                <a:solidFill>
                  <a:schemeClr val="accent1"/>
                </a:solidFill>
                <a:latin typeface="Calibri" panose="020F0502020204030204" pitchFamily="34" charset="0"/>
                <a:cs typeface="Calibri" panose="020F0502020204030204" pitchFamily="34" charset="0"/>
              </a:rPr>
              <a:t> </a:t>
            </a:r>
            <a:endParaRPr lang="en-IN" altLang="en-US" b="1" dirty="0">
              <a:solidFill>
                <a:schemeClr val="accent1"/>
              </a:solidFill>
              <a:latin typeface="Calibri" panose="020F0502020204030204" pitchFamily="34" charset="0"/>
              <a:cs typeface="Calibri" panose="020F0502020204030204" pitchFamily="34" charset="0"/>
            </a:endParaRPr>
          </a:p>
        </p:txBody>
      </p: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pic>
        <p:nvPicPr>
          <p:cNvPr id="13" name="Content Placeholder 12" descr="WhatsApp Image 2026-10-16 at 4.45.02 AM (1)"/>
          <p:cNvPicPr>
            <a:picLocks noChangeAspect="1"/>
          </p:cNvPicPr>
          <p:nvPr>
            <p:ph sz="half" idx="1"/>
          </p:nvPr>
        </p:nvPicPr>
        <p:blipFill>
          <a:blip r:embed="rId1"/>
          <a:stretch>
            <a:fillRect/>
          </a:stretch>
        </p:blipFill>
        <p:spPr>
          <a:xfrm>
            <a:off x="222250" y="845185"/>
            <a:ext cx="4110355" cy="5170170"/>
          </a:xfrm>
          <a:prstGeom prst="rect">
            <a:avLst/>
          </a:prstGeom>
        </p:spPr>
      </p:pic>
      <p:pic>
        <p:nvPicPr>
          <p:cNvPr id="15" name="Content Placeholder 14" descr="WhatsApp Image 2026-10-16 at 4.45.02 AM"/>
          <p:cNvPicPr>
            <a:picLocks noChangeAspect="1"/>
          </p:cNvPicPr>
          <p:nvPr>
            <p:ph sz="half" idx="2"/>
          </p:nvPr>
        </p:nvPicPr>
        <p:blipFill>
          <a:blip r:embed="rId2"/>
          <a:stretch>
            <a:fillRect/>
          </a:stretch>
        </p:blipFill>
        <p:spPr>
          <a:xfrm>
            <a:off x="7859395" y="856615"/>
            <a:ext cx="4110355" cy="5144770"/>
          </a:xfrm>
          <a:prstGeom prst="rect">
            <a:avLst/>
          </a:prstGeom>
        </p:spPr>
      </p:pic>
      <p:sp>
        <p:nvSpPr>
          <p:cNvPr id="17" name="TextBox 4"/>
          <p:cNvSpPr txBox="1"/>
          <p:nvPr/>
        </p:nvSpPr>
        <p:spPr>
          <a:xfrm>
            <a:off x="4097020" y="1287780"/>
            <a:ext cx="2630170" cy="588645"/>
          </a:xfrm>
          <a:prstGeom prst="rect">
            <a:avLst/>
          </a:prstGeom>
          <a:noFill/>
        </p:spPr>
        <p:txBody>
          <a:bodyPr wrap="square" rtlCol="0">
            <a:noAutofit/>
          </a:bodyPr>
          <a:p>
            <a:pPr marL="0" marR="0" lvl="0" indent="0" algn="ctr" defTabSz="457200" rtl="0" eaLnBrk="1" fontAlgn="auto" latinLnBrk="0" hangingPunct="1">
              <a:lnSpc>
                <a:spcPct val="100000"/>
              </a:lnSpc>
              <a:spcBef>
                <a:spcPts val="0"/>
              </a:spcBef>
              <a:spcAft>
                <a:spcPts val="0"/>
              </a:spcAft>
              <a:buClrTx/>
              <a:buSzTx/>
              <a:buFontTx/>
              <a:buNone/>
              <a:defRPr/>
            </a:pPr>
            <a:r>
              <a:rPr lang="en-US" altLang="en-IN" b="1" dirty="0">
                <a:solidFill>
                  <a:schemeClr val="accent1"/>
                </a:solidFill>
                <a:latin typeface="Calibri" panose="020F0502020204030204" pitchFamily="34" charset="0"/>
                <a:cs typeface="Calibri" panose="020F0502020204030204" pitchFamily="34" charset="0"/>
              </a:rPr>
              <a:t>DAIMLER LINE 4 CELL COBOT GROUTING</a:t>
            </a:r>
            <a:r>
              <a:rPr lang="en-IN" altLang="en-US" b="1" dirty="0">
                <a:solidFill>
                  <a:schemeClr val="accent1"/>
                </a:solidFill>
                <a:latin typeface="Calibri" panose="020F0502020204030204" pitchFamily="34" charset="0"/>
                <a:cs typeface="Calibri" panose="020F0502020204030204" pitchFamily="34" charset="0"/>
              </a:rPr>
              <a:t> </a:t>
            </a:r>
            <a:endParaRPr lang="en-IN" altLang="en-US" b="1" dirty="0">
              <a:solidFill>
                <a:schemeClr val="accent1"/>
              </a:solidFill>
              <a:latin typeface="Calibri" panose="020F0502020204030204" pitchFamily="34" charset="0"/>
              <a:cs typeface="Calibri" panose="020F0502020204030204" pitchFamily="34" charset="0"/>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7"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7" name="Text Box 6"/>
          <p:cNvSpPr txBox="1"/>
          <p:nvPr/>
        </p:nvSpPr>
        <p:spPr>
          <a:xfrm>
            <a:off x="4128770" y="6399530"/>
            <a:ext cx="3863975" cy="368300"/>
          </a:xfrm>
          <a:prstGeom prst="rect">
            <a:avLst/>
          </a:prstGeom>
          <a:noFill/>
        </p:spPr>
        <p:txBody>
          <a:bodyPr wrap="square" rtlCol="0">
            <a:spAutoFit/>
          </a:bodyPr>
          <a:lstStyle/>
          <a:p>
            <a:r>
              <a:rPr lang="en-IN" altLang="en-US" b="1">
                <a:solidFill>
                  <a:schemeClr val="bg1"/>
                </a:solidFill>
                <a:latin typeface="Calibri" panose="020F0502020204030204" pitchFamily="34" charset="0"/>
                <a:cs typeface="Calibri" panose="020F0502020204030204" pitchFamily="34" charset="0"/>
              </a:rPr>
              <a:t>LGB l  Operations Technology</a:t>
            </a:r>
            <a:endParaRPr lang="en-IN" altLang="en-US" b="1">
              <a:solidFill>
                <a:schemeClr val="bg1"/>
              </a:solidFill>
              <a:latin typeface="Calibri" panose="020F0502020204030204" pitchFamily="34" charset="0"/>
              <a:cs typeface="Calibri" panose="020F0502020204030204" pitchFamily="34" charset="0"/>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en-IN" sz="2000" b="1" dirty="0">
                <a:solidFill>
                  <a:schemeClr val="bg1"/>
                </a:solidFill>
                <a:latin typeface="Calibri" panose="020F0502020204030204" pitchFamily="34" charset="0"/>
                <a:cs typeface="Calibri" panose="020F0502020204030204" pitchFamily="34" charset="0"/>
              </a:rPr>
              <a:t>BMW - RAD LINE </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12" name="Text Box 11"/>
          <p:cNvSpPr txBox="1"/>
          <p:nvPr/>
        </p:nvSpPr>
        <p:spPr>
          <a:xfrm>
            <a:off x="356870" y="73279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WEEK 03 (PLANNED ACTIVITY)</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cxnSp>
        <p:nvCxnSpPr>
          <p:cNvPr id="16" name="Straight Connector 15"/>
          <p:cNvCxnSpPr/>
          <p:nvPr/>
        </p:nvCxnSpPr>
        <p:spPr>
          <a:xfrm flipV="1">
            <a:off x="466725" y="107505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2"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graphicFrame>
        <p:nvGraphicFramePr>
          <p:cNvPr id="3" name="Table 2"/>
          <p:cNvGraphicFramePr/>
          <p:nvPr>
            <p:custDataLst>
              <p:tags r:id="rId1"/>
            </p:custDataLst>
          </p:nvPr>
        </p:nvGraphicFramePr>
        <p:xfrm>
          <a:off x="466725" y="1152525"/>
          <a:ext cx="11285855" cy="1162050"/>
        </p:xfrm>
        <a:graphic>
          <a:graphicData uri="http://schemas.openxmlformats.org/drawingml/2006/table">
            <a:tbl>
              <a:tblPr/>
              <a:tblGrid>
                <a:gridCol w="683260"/>
                <a:gridCol w="2724150"/>
                <a:gridCol w="1357630"/>
                <a:gridCol w="683260"/>
                <a:gridCol w="683260"/>
                <a:gridCol w="683895"/>
                <a:gridCol w="683260"/>
                <a:gridCol w="683260"/>
                <a:gridCol w="3103880"/>
              </a:tblGrid>
              <a:tr h="311785">
                <a:tc rowSpan="2">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gridSpan="2">
                  <a:txBody>
                    <a:bodyPr/>
                    <a:p>
                      <a:pPr algn="ctr" fontAlgn="ctr"/>
                      <a:r>
                        <a:rPr sz="1400" b="1" i="0">
                          <a:solidFill>
                            <a:schemeClr val="tx1"/>
                          </a:solidFill>
                          <a:latin typeface="Calibri" panose="020F0502020204030204"/>
                          <a:ea typeface="Calibri" panose="020F0502020204030204"/>
                        </a:rPr>
                        <a:t>Planned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p>
                      <a:pPr algn="ctr" fontAlgn="ctr"/>
                      <a:r>
                        <a:rPr sz="1400" b="1" i="0">
                          <a:solidFill>
                            <a:schemeClr val="tx1"/>
                          </a:solidFill>
                          <a:latin typeface="Calibri" panose="020F0502020204030204"/>
                          <a:ea typeface="Calibri" panose="020F0502020204030204"/>
                        </a:rPr>
                        <a:t>Actual</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rowSpan="2">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3117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Start</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End</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69240">
                <a:tc>
                  <a:txBody>
                    <a:bodyPr/>
                    <a:p>
                      <a:pPr algn="ctr" fontAlgn="ctr"/>
                      <a:r>
                        <a:rPr sz="1200" b="0" i="0">
                          <a:solidFill>
                            <a:srgbClr val="000000"/>
                          </a:solidFill>
                          <a:latin typeface="Calibri" panose="020F0502020204030204"/>
                          <a:ea typeface="Calibri" panose="020F0502020204030204"/>
                        </a:rPr>
                        <a:t>1</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OP40 Three cell layout redesign in DAP</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21.10.2026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9240">
                <a:tc>
                  <a:txBody>
                    <a:bodyPr/>
                    <a:p>
                      <a:pPr algn="ctr" fontAlgn="ctr"/>
                      <a:r>
                        <a:rPr sz="1200" b="0" i="0">
                          <a:solidFill>
                            <a:srgbClr val="000000"/>
                          </a:solidFill>
                          <a:latin typeface="Calibri" panose="020F0502020204030204"/>
                          <a:ea typeface="Calibri" panose="020F0502020204030204"/>
                        </a:rPr>
                        <a:t>2</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200" b="0" i="0">
                          <a:solidFill>
                            <a:srgbClr val="000000"/>
                          </a:solidFill>
                          <a:latin typeface="Calibri" panose="020F0502020204030204"/>
                          <a:ea typeface="Calibri" panose="020F0502020204030204"/>
                        </a:rPr>
                        <a:t>Inward of materails commited</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200" b="0" i="0">
                          <a:solidFill>
                            <a:srgbClr val="000000"/>
                          </a:solidFill>
                          <a:latin typeface="Calibri" panose="020F0502020204030204"/>
                          <a:ea typeface="Calibri" panose="020F0502020204030204"/>
                        </a:rPr>
                        <a:t>Robonetics</a:t>
                      </a: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15.10.2026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000" b="0" i="0">
                          <a:solidFill>
                            <a:srgbClr val="000000"/>
                          </a:solidFill>
                          <a:latin typeface="Calibri" panose="020F0502020204030204"/>
                          <a:ea typeface="Calibri" panose="020F0502020204030204"/>
                        </a:rPr>
                        <a:t>24.10.2026</a:t>
                      </a:r>
                      <a:endParaRPr sz="10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2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pic>
        <p:nvPicPr>
          <p:cNvPr id="5" name="Content Placeholder 4"/>
          <p:cNvPicPr>
            <a:picLocks noChangeAspect="1"/>
          </p:cNvPicPr>
          <p:nvPr>
            <p:ph idx="1"/>
          </p:nvPr>
        </p:nvPicPr>
        <p:blipFill>
          <a:blip r:embed="rId2"/>
          <a:stretch>
            <a:fillRect/>
          </a:stretch>
        </p:blipFill>
        <p:spPr>
          <a:xfrm>
            <a:off x="454025" y="2985135"/>
            <a:ext cx="11299190" cy="2744470"/>
          </a:xfrm>
          <a:prstGeom prst="rect">
            <a:avLst/>
          </a:prstGeom>
        </p:spPr>
      </p:pic>
      <p:sp>
        <p:nvSpPr>
          <p:cNvPr id="10" name="Text Box 9"/>
          <p:cNvSpPr txBox="1"/>
          <p:nvPr/>
        </p:nvSpPr>
        <p:spPr>
          <a:xfrm>
            <a:off x="356870" y="2523490"/>
            <a:ext cx="3590925" cy="368300"/>
          </a:xfrm>
          <a:prstGeom prst="rect">
            <a:avLst/>
          </a:prstGeom>
          <a:noFill/>
        </p:spPr>
        <p:txBody>
          <a:bodyPr wrap="square" rtlCol="0">
            <a:spAutoFit/>
          </a:bodyPr>
          <a:p>
            <a:r>
              <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rPr>
              <a:t>DAP Discussion MOM Points</a:t>
            </a:r>
            <a:endParaRPr lang="en-US" altLang="en-GB">
              <a:solidFill>
                <a:srgbClr val="7030A0"/>
              </a:solidFill>
              <a:effectLst>
                <a:reflection blurRad="6350" stA="53000" endA="300" endPos="35500" dir="5400000" sy="-90000" algn="bl" rotWithShape="0"/>
              </a:effectLst>
              <a:latin typeface="Calibri" panose="020F0502020204030204" pitchFamily="34" charset="0"/>
              <a:cs typeface="Calibri" panose="020F0502020204030204" pitchFamily="34" charset="0"/>
            </a:endParaRPr>
          </a:p>
        </p:txBody>
      </p:sp>
      <p:cxnSp>
        <p:nvCxnSpPr>
          <p:cNvPr id="15" name="Straight Connector 14"/>
          <p:cNvCxnSpPr/>
          <p:nvPr/>
        </p:nvCxnSpPr>
        <p:spPr>
          <a:xfrm flipV="1">
            <a:off x="466725" y="2882265"/>
            <a:ext cx="6604000" cy="26035"/>
          </a:xfrm>
          <a:prstGeom prst="line">
            <a:avLst/>
          </a:prstGeom>
          <a:ln>
            <a:solidFill>
              <a:srgbClr val="7030A0"/>
            </a:solidFill>
          </a:ln>
        </p:spPr>
        <p:style>
          <a:lnRef idx="2">
            <a:schemeClr val="accent3"/>
          </a:lnRef>
          <a:fillRef idx="0">
            <a:schemeClr val="accent3"/>
          </a:fillRef>
          <a:effectRef idx="1">
            <a:schemeClr val="accent3"/>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p:nvPr/>
        </p:nvSpPr>
        <p:spPr>
          <a:xfrm>
            <a:off x="0" y="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sz="1200">
              <a:latin typeface="Times New Roman" panose="02020603050405020304" charset="0"/>
              <a:cs typeface="Times New Roman" panose="02020603050405020304" charset="0"/>
              <a:sym typeface="+mn-ea"/>
            </a:endParaRPr>
          </a:p>
        </p:txBody>
      </p:sp>
      <p:sp>
        <p:nvSpPr>
          <p:cNvPr id="9" name="TextBox 4"/>
          <p:cNvSpPr txBox="1"/>
          <p:nvPr/>
        </p:nvSpPr>
        <p:spPr>
          <a:xfrm>
            <a:off x="222094" y="114300"/>
            <a:ext cx="11747811" cy="398780"/>
          </a:xfrm>
          <a:prstGeom prst="rect">
            <a:avLst/>
          </a:prstGeom>
          <a:noFill/>
        </p:spPr>
        <p:txBody>
          <a:bodyPr wrap="square" rtlCol="0">
            <a:spAutoFit/>
          </a:bodyPr>
          <a:lstStyle/>
          <a:p>
            <a:pPr algn="ctr" fontAlgn="ctr"/>
            <a:r>
              <a:rPr lang="en-US" sz="2000" b="1">
                <a:solidFill>
                  <a:srgbClr val="FFFFFF"/>
                </a:solidFill>
                <a:latin typeface="Arial" panose="020B0604020202020204"/>
                <a:ea typeface="Arial" panose="020B0604020202020204"/>
                <a:sym typeface="+mn-ea"/>
              </a:rPr>
              <a:t>OTHER </a:t>
            </a:r>
            <a:r>
              <a:rPr sz="2000" b="1">
                <a:solidFill>
                  <a:srgbClr val="FFFFFF"/>
                </a:solidFill>
                <a:latin typeface="Arial" panose="020B0604020202020204"/>
                <a:ea typeface="Arial" panose="020B0604020202020204"/>
                <a:sym typeface="+mn-ea"/>
              </a:rPr>
              <a:t>PROJECT </a:t>
            </a:r>
            <a:r>
              <a:rPr lang="en-US" sz="2000" b="1">
                <a:solidFill>
                  <a:srgbClr val="FFFFFF"/>
                </a:solidFill>
                <a:latin typeface="Arial" panose="020B0604020202020204"/>
                <a:ea typeface="Arial" panose="020B0604020202020204"/>
                <a:sym typeface="+mn-ea"/>
              </a:rPr>
              <a:t>DETAILS</a:t>
            </a:r>
            <a:endParaRPr lang="en-US" altLang="en-IN" sz="2000" b="1" dirty="0">
              <a:solidFill>
                <a:schemeClr val="bg1"/>
              </a:solidFill>
              <a:latin typeface="Calibri" panose="020F0502020204030204" pitchFamily="34" charset="0"/>
              <a:cs typeface="Calibri" panose="020F0502020204030204" pitchFamily="34" charset="0"/>
            </a:endParaRPr>
          </a:p>
        </p:txBody>
      </p:sp>
      <p:sp>
        <p:nvSpPr>
          <p:cNvPr id="8" name="Rectangle 3"/>
          <p:cNvSpPr/>
          <p:nvPr/>
        </p:nvSpPr>
        <p:spPr>
          <a:xfrm>
            <a:off x="0" y="6240780"/>
            <a:ext cx="12192000" cy="617208"/>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sz="1200">
              <a:latin typeface="Times New Roman" panose="02020603050405020304" charset="0"/>
              <a:cs typeface="Times New Roman" panose="02020603050405020304" charset="0"/>
              <a:sym typeface="+mn-ea"/>
            </a:endParaRPr>
          </a:p>
        </p:txBody>
      </p:sp>
      <p:sp>
        <p:nvSpPr>
          <p:cNvPr id="25" name="TextBox 24"/>
          <p:cNvSpPr txBox="1"/>
          <p:nvPr/>
        </p:nvSpPr>
        <p:spPr>
          <a:xfrm>
            <a:off x="10757535" y="6435725"/>
            <a:ext cx="1212850" cy="189230"/>
          </a:xfrm>
          <a:prstGeom prst="rect">
            <a:avLst/>
          </a:prstGeom>
          <a:noFill/>
        </p:spPr>
        <p:txBody>
          <a:bodyPr wrap="square" lIns="27432" tIns="18288" rIns="27432" bIns="18288">
            <a:spAutoFit/>
          </a:bodyPr>
          <a:p>
            <a:pPr>
              <a:defRPr sz="800" b="0">
                <a:solidFill>
                  <a:srgbClr val="66737E"/>
                </a:solidFill>
                <a:latin typeface="Aptos"/>
              </a:defRPr>
            </a:pPr>
            <a:r>
              <a:rPr lang="en-US" sz="1000">
                <a:solidFill>
                  <a:schemeClr val="bg1"/>
                </a:solidFill>
                <a:latin typeface="Calibri" panose="020F0502020204030204" pitchFamily="34" charset="0"/>
                <a:cs typeface="Calibri" panose="020F0502020204030204" pitchFamily="34" charset="0"/>
              </a:rPr>
              <a:t>WEEKLY REPORT</a:t>
            </a:r>
            <a:r>
              <a:rPr sz="1000">
                <a:solidFill>
                  <a:schemeClr val="bg1"/>
                </a:solidFill>
                <a:latin typeface="Calibri" panose="020F0502020204030204" pitchFamily="34" charset="0"/>
                <a:cs typeface="Calibri" panose="020F0502020204030204" pitchFamily="34" charset="0"/>
              </a:rPr>
              <a:t> </a:t>
            </a:r>
            <a:endParaRPr sz="1000">
              <a:solidFill>
                <a:schemeClr val="bg1"/>
              </a:solidFill>
              <a:latin typeface="Calibri" panose="020F0502020204030204" pitchFamily="34" charset="0"/>
              <a:cs typeface="Calibri" panose="020F0502020204030204" pitchFamily="34" charset="0"/>
            </a:endParaRPr>
          </a:p>
        </p:txBody>
      </p:sp>
      <p:sp>
        <p:nvSpPr>
          <p:cNvPr id="7" name="TextBox 8"/>
          <p:cNvSpPr txBox="1"/>
          <p:nvPr/>
        </p:nvSpPr>
        <p:spPr>
          <a:xfrm>
            <a:off x="102870" y="6435598"/>
            <a:ext cx="4572000" cy="245110"/>
          </a:xfrm>
          <a:prstGeom prst="rect">
            <a:avLst/>
          </a:prstGeom>
          <a:noFill/>
        </p:spPr>
        <p:txBody>
          <a:bodyPr wrap="square" anchor="t">
            <a:spAutoFit/>
          </a:bodyPr>
          <a:p>
            <a:pPr algn="l"/>
            <a:r>
              <a:rPr sz="1000" b="0">
                <a:solidFill>
                  <a:schemeClr val="bg1"/>
                </a:solidFill>
                <a:latin typeface="Aptos"/>
              </a:rPr>
              <a:t>LGB | Operations Technology</a:t>
            </a:r>
            <a:endParaRPr sz="1000" b="0">
              <a:solidFill>
                <a:schemeClr val="bg1"/>
              </a:solidFill>
              <a:latin typeface="Aptos"/>
            </a:endParaRPr>
          </a:p>
        </p:txBody>
      </p:sp>
      <p:graphicFrame>
        <p:nvGraphicFramePr>
          <p:cNvPr id="3" name="Table 2"/>
          <p:cNvGraphicFramePr/>
          <p:nvPr>
            <p:custDataLst>
              <p:tags r:id="rId1"/>
            </p:custDataLst>
          </p:nvPr>
        </p:nvGraphicFramePr>
        <p:xfrm>
          <a:off x="589915" y="1259840"/>
          <a:ext cx="11028045" cy="3383280"/>
        </p:xfrm>
        <a:graphic>
          <a:graphicData uri="http://schemas.openxmlformats.org/drawingml/2006/table">
            <a:tbl>
              <a:tblPr/>
              <a:tblGrid>
                <a:gridCol w="920750"/>
                <a:gridCol w="3672205"/>
                <a:gridCol w="1829435"/>
                <a:gridCol w="921385"/>
                <a:gridCol w="920750"/>
                <a:gridCol w="2763520"/>
              </a:tblGrid>
              <a:tr h="778510">
                <a:tc>
                  <a:txBody>
                    <a:bodyPr/>
                    <a:p>
                      <a:pPr algn="ctr" fontAlgn="ctr"/>
                      <a:r>
                        <a:rPr sz="1400" b="1" i="0">
                          <a:solidFill>
                            <a:schemeClr val="tx1"/>
                          </a:solidFill>
                          <a:latin typeface="Calibri" panose="020F0502020204030204"/>
                          <a:ea typeface="Calibri" panose="020F0502020204030204"/>
                        </a:rPr>
                        <a:t>S.No</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Task</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Responsibility</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0" i="0">
                          <a:solidFill>
                            <a:schemeClr val="tx1"/>
                          </a:solidFill>
                          <a:latin typeface="Calibri" panose="020F0502020204030204"/>
                          <a:ea typeface="Calibri" panose="020F0502020204030204"/>
                        </a:rPr>
                        <a:t>Planned</a:t>
                      </a:r>
                      <a:endParaRPr sz="1400" b="0"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Status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p>
                      <a:pPr algn="ctr" fontAlgn="ctr"/>
                      <a:r>
                        <a:rPr sz="1400" b="1" i="0">
                          <a:solidFill>
                            <a:schemeClr val="tx1"/>
                          </a:solidFill>
                          <a:latin typeface="Calibri" panose="020F0502020204030204"/>
                          <a:ea typeface="Calibri" panose="020F0502020204030204"/>
                        </a:rPr>
                        <a:t>Remarks</a:t>
                      </a:r>
                      <a:endParaRPr sz="1400" b="1" i="0">
                        <a:solidFill>
                          <a:schemeClr val="tx1"/>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r>
              <a:tr h="778510">
                <a:tc>
                  <a:txBody>
                    <a:bodyPr/>
                    <a:p>
                      <a:pPr algn="ctr" fontAlgn="ctr"/>
                      <a:r>
                        <a:rPr sz="1400" b="0" i="0">
                          <a:solidFill>
                            <a:srgbClr val="000000"/>
                          </a:solidFill>
                          <a:latin typeface="Calibri" panose="020F0502020204030204"/>
                          <a:ea typeface="Calibri" panose="020F0502020204030204"/>
                        </a:rPr>
                        <a:t>1</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Ather Material Readiness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Melss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21.10.2026</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In-Progress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FAT planned on 26.10.2026 - Commited by Melss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47750">
                <a:tc>
                  <a:txBody>
                    <a:bodyPr/>
                    <a:p>
                      <a:pPr algn="ctr" fontAlgn="ctr"/>
                      <a:r>
                        <a:rPr sz="1400" b="0" i="0">
                          <a:solidFill>
                            <a:srgbClr val="000000"/>
                          </a:solidFill>
                          <a:latin typeface="Calibri" panose="020F0502020204030204"/>
                          <a:ea typeface="Calibri" panose="020F0502020204030204"/>
                        </a:rPr>
                        <a:t>2</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Camera Installation in Diamler line</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OT Team</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17.10.2026</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In-Progress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Temporary camera view changed with existing, New camera in Capex budget</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778510">
                <a:tc>
                  <a:txBody>
                    <a:bodyPr/>
                    <a:p>
                      <a:pPr algn="ctr" fontAlgn="ctr"/>
                      <a:r>
                        <a:rPr sz="1400" b="0" i="0">
                          <a:solidFill>
                            <a:srgbClr val="000000"/>
                          </a:solidFill>
                          <a:latin typeface="Calibri" panose="020F0502020204030204"/>
                          <a:ea typeface="Calibri" panose="020F0502020204030204"/>
                        </a:rPr>
                        <a:t>3</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Texsonics robot trail</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OT Team/Texsonics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28.10.2026</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1400" b="0" i="0">
                          <a:solidFill>
                            <a:srgbClr val="000000"/>
                          </a:solidFill>
                          <a:latin typeface="Calibri" panose="020F0502020204030204"/>
                          <a:ea typeface="Calibri" panose="020F0502020204030204"/>
                        </a:rPr>
                        <a:t>In-Progress</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1400" b="0" i="0">
                          <a:solidFill>
                            <a:srgbClr val="000000"/>
                          </a:solidFill>
                          <a:latin typeface="Calibri" panose="020F0502020204030204"/>
                          <a:ea typeface="Calibri" panose="020F0502020204030204"/>
                        </a:rPr>
                        <a:t>Tenative on trail date. Quotation to be shared on 22.10.2026</a:t>
                      </a:r>
                      <a:endParaRPr sz="1400" b="0" i="0">
                        <a:solidFill>
                          <a:srgbClr val="000000"/>
                        </a:solidFill>
                        <a:latin typeface="Calibri" panose="020F0502020204030204"/>
                        <a:ea typeface="Calibri" panose="020F0502020204030204"/>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nvSpPr>
        <p:spPr>
          <a:xfrm>
            <a:off x="0" y="0"/>
            <a:ext cx="12191695" cy="6858000"/>
          </a:xfrm>
          <a:prstGeom prst="rect">
            <a:avLst/>
          </a:prstGeom>
          <a:solidFill>
            <a:srgbClr val="162B42"/>
          </a:solidFill>
          <a:ln>
            <a:noFill/>
          </a:ln>
        </p:spPr>
        <p:style>
          <a:lnRef idx="1">
            <a:schemeClr val="accent1"/>
          </a:lnRef>
          <a:fillRef idx="3">
            <a:schemeClr val="accent1"/>
          </a:fillRef>
          <a:effectRef idx="2">
            <a:schemeClr val="accent1"/>
          </a:effectRef>
          <a:fontRef idx="minor">
            <a:schemeClr val="lt1"/>
          </a:fontRef>
        </p:style>
        <p:txBody>
          <a:bodyPr rtlCol="0" anchor="ctr"/>
          <a:p>
            <a:pPr algn="ctr"/>
            <a:endParaRPr sz="1200">
              <a:latin typeface="Times New Roman" panose="02020603050405020304" charset="0"/>
              <a:cs typeface="Times New Roman" panose="02020603050405020304" charset="0"/>
            </a:endParaRPr>
          </a:p>
        </p:txBody>
      </p:sp>
      <p:sp>
        <p:nvSpPr>
          <p:cNvPr id="5" name="Text Box 4"/>
          <p:cNvSpPr txBox="1"/>
          <p:nvPr/>
        </p:nvSpPr>
        <p:spPr>
          <a:xfrm>
            <a:off x="6749415" y="4083050"/>
            <a:ext cx="4369435" cy="1106805"/>
          </a:xfrm>
          <a:prstGeom prst="rect">
            <a:avLst/>
          </a:prstGeom>
          <a:noFill/>
        </p:spPr>
        <p:txBody>
          <a:bodyPr wrap="square" rtlCol="0">
            <a:spAutoFit/>
          </a:bodyPr>
          <a:p>
            <a:pPr algn="ctr"/>
            <a:r>
              <a:rPr lang="en-IN" altLang="en-US" sz="6600" b="1">
                <a:solidFill>
                  <a:schemeClr val="bg1"/>
                </a:solidFill>
                <a:latin typeface="Calibri" panose="020F0502020204030204" pitchFamily="34" charset="0"/>
                <a:cs typeface="Calibri" panose="020F0502020204030204" pitchFamily="34" charset="0"/>
              </a:rPr>
              <a:t>Thank You</a:t>
            </a:r>
            <a:endParaRPr lang="en-IN" altLang="en-US" sz="6600" b="1">
              <a:solidFill>
                <a:schemeClr val="bg1"/>
              </a:solidFill>
              <a:latin typeface="Calibri" panose="020F0502020204030204" pitchFamily="34" charset="0"/>
              <a:cs typeface="Calibri" panose="020F0502020204030204" pitchFamily="34" charset="0"/>
            </a:endParaRPr>
          </a:p>
        </p:txBody>
      </p:sp>
      <p:sp>
        <p:nvSpPr>
          <p:cNvPr id="6" name="TextBox 1"/>
          <p:cNvSpPr txBox="1"/>
          <p:nvPr/>
        </p:nvSpPr>
        <p:spPr>
          <a:xfrm>
            <a:off x="777240" y="1828800"/>
            <a:ext cx="4572000" cy="491490"/>
          </a:xfrm>
          <a:prstGeom prst="rect">
            <a:avLst/>
          </a:prstGeom>
          <a:noFill/>
        </p:spPr>
        <p:txBody>
          <a:bodyPr wrap="square" anchor="t">
            <a:spAutoFit/>
          </a:bodyPr>
          <a:p>
            <a:pPr algn="l"/>
            <a:r>
              <a:rPr lang="en-US" sz="2600" b="1">
                <a:solidFill>
                  <a:srgbClr val="FFFFFF"/>
                </a:solidFill>
                <a:latin typeface="Aptos"/>
              </a:rPr>
              <a:t>October</a:t>
            </a:r>
            <a:r>
              <a:rPr sz="2600" b="1">
                <a:solidFill>
                  <a:srgbClr val="FFFFFF"/>
                </a:solidFill>
                <a:latin typeface="Aptos"/>
              </a:rPr>
              <a:t> 2026</a:t>
            </a:r>
            <a:endParaRPr sz="2600" b="1">
              <a:solidFill>
                <a:srgbClr val="FFFFFF"/>
              </a:solidFill>
              <a:latin typeface="Aptos"/>
            </a:endParaRPr>
          </a:p>
        </p:txBody>
      </p:sp>
      <p:sp>
        <p:nvSpPr>
          <p:cNvPr id="10" name="TextBox 2"/>
          <p:cNvSpPr txBox="1"/>
          <p:nvPr/>
        </p:nvSpPr>
        <p:spPr>
          <a:xfrm>
            <a:off x="777240" y="2395728"/>
            <a:ext cx="7772400" cy="521970"/>
          </a:xfrm>
          <a:prstGeom prst="rect">
            <a:avLst/>
          </a:prstGeom>
          <a:noFill/>
        </p:spPr>
        <p:txBody>
          <a:bodyPr wrap="square" anchor="t">
            <a:spAutoFit/>
          </a:bodyPr>
          <a:p>
            <a:pPr algn="l"/>
            <a:r>
              <a:rPr lang="en-US" sz="2800" b="0">
                <a:solidFill>
                  <a:srgbClr val="FFFFFF"/>
                </a:solidFill>
                <a:latin typeface="Aptos"/>
              </a:rPr>
              <a:t>Weekly </a:t>
            </a:r>
            <a:r>
              <a:rPr sz="2800" b="0">
                <a:solidFill>
                  <a:srgbClr val="FFFFFF"/>
                </a:solidFill>
                <a:latin typeface="Aptos"/>
              </a:rPr>
              <a:t>Project progress review </a:t>
            </a:r>
            <a:endParaRPr sz="2800" b="0">
              <a:solidFill>
                <a:srgbClr val="FFFFFF"/>
              </a:solidFill>
              <a:latin typeface="Aptos"/>
            </a:endParaRPr>
          </a:p>
        </p:txBody>
      </p:sp>
      <p:sp>
        <p:nvSpPr>
          <p:cNvPr id="11" name="TextBox 3"/>
          <p:cNvSpPr txBox="1"/>
          <p:nvPr/>
        </p:nvSpPr>
        <p:spPr>
          <a:xfrm>
            <a:off x="777240" y="3657600"/>
            <a:ext cx="5486400" cy="320040"/>
          </a:xfrm>
          <a:prstGeom prst="rect">
            <a:avLst/>
          </a:prstGeom>
          <a:noFill/>
        </p:spPr>
        <p:txBody>
          <a:bodyPr wrap="square" anchor="t">
            <a:spAutoFit/>
          </a:bodyPr>
          <a:p>
            <a:pPr algn="l"/>
            <a:r>
              <a:rPr sz="1300" b="1">
                <a:solidFill>
                  <a:srgbClr val="91DCDC"/>
                </a:solidFill>
                <a:latin typeface="Aptos"/>
              </a:rPr>
              <a:t>LGB | Operations Technology</a:t>
            </a:r>
            <a:endParaRPr sz="1300" b="1">
              <a:solidFill>
                <a:srgbClr val="91DCDC"/>
              </a:solidFill>
              <a:latin typeface="Aptos"/>
            </a:endParaRPr>
          </a:p>
        </p:txBody>
      </p:sp>
    </p:spTree>
  </p:cSld>
  <p:clrMapOvr>
    <a:masterClrMapping/>
  </p:clrMapOvr>
</p:sld>
</file>

<file path=ppt/tags/tag1.xml><?xml version="1.0" encoding="utf-8"?>
<p:tagLst xmlns:p="http://schemas.openxmlformats.org/presentationml/2006/main">
  <p:tag name="TABLE_ENDDRAG_ORIGIN_RECT" val="880*245"/>
  <p:tag name="TABLE_ENDDRAG_RECT" val="36*92*880*245"/>
</p:tagLst>
</file>

<file path=ppt/tags/tag2.xml><?xml version="1.0" encoding="utf-8"?>
<p:tagLst xmlns:p="http://schemas.openxmlformats.org/presentationml/2006/main">
  <p:tag name="TABLE_ENDDRAG_ORIGIN_RECT" val="880*102"/>
  <p:tag name="TABLE_ENDDRAG_RECT" val="36*382*880*102"/>
</p:tagLst>
</file>

<file path=ppt/tags/tag3.xml><?xml version="1.0" encoding="utf-8"?>
<p:tagLst xmlns:p="http://schemas.openxmlformats.org/presentationml/2006/main">
  <p:tag name="TABLE_ENDDRAG_ORIGIN_RECT" val="864*206"/>
  <p:tag name="TABLE_ENDDRAG_RECT" val="36*92*864*206"/>
</p:tagLst>
</file>

<file path=ppt/tags/tag4.xml><?xml version="1.0" encoding="utf-8"?>
<p:tagLst xmlns:p="http://schemas.openxmlformats.org/presentationml/2006/main">
  <p:tag name="TABLE_ENDDRAG_ORIGIN_RECT" val="864*144"/>
  <p:tag name="TABLE_ENDDRAG_RECT" val="36*334*864*144"/>
</p:tagLst>
</file>

<file path=ppt/tags/tag5.xml><?xml version="1.0" encoding="utf-8"?>
<p:tagLst xmlns:p="http://schemas.openxmlformats.org/presentationml/2006/main">
  <p:tag name="TABLE_ENDDRAG_ORIGIN_RECT" val="878*231"/>
  <p:tag name="TABLE_ENDDRAG_RECT" val="36*90*878*231"/>
</p:tagLst>
</file>

<file path=ppt/tags/tag6.xml><?xml version="1.0" encoding="utf-8"?>
<p:tagLst xmlns:p="http://schemas.openxmlformats.org/presentationml/2006/main">
  <p:tag name="TABLE_ENDDRAG_ORIGIN_RECT" val="878*129"/>
  <p:tag name="TABLE_ENDDRAG_RECT" val="36*362*878*129"/>
</p:tagLst>
</file>

<file path=ppt/tags/tag7.xml><?xml version="1.0" encoding="utf-8"?>
<p:tagLst xmlns:p="http://schemas.openxmlformats.org/presentationml/2006/main">
  <p:tag name="TABLE_ENDDRAG_ORIGIN_RECT" val="888*91"/>
  <p:tag name="TABLE_ENDDRAG_RECT" val="36*90*888*91"/>
</p:tagLst>
</file>

<file path=ppt/tags/tag8.xml><?xml version="1.0" encoding="utf-8"?>
<p:tagLst xmlns:p="http://schemas.openxmlformats.org/presentationml/2006/main">
  <p:tag name="TABLE_ENDDRAG_ORIGIN_RECT" val="868*266"/>
  <p:tag name="TABLE_ENDDRAG_RECT" val="46*99*868*26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6933</Words>
  <Application>WPS Presentation</Application>
  <PresentationFormat>Widescreen</PresentationFormat>
  <Paragraphs>917</Paragraphs>
  <Slides>11</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Calibri</vt:lpstr>
      <vt:lpstr>Aptos</vt:lpstr>
      <vt:lpstr>Segoe Print</vt:lpstr>
      <vt:lpstr>Times New Roman</vt:lpstr>
      <vt:lpstr>Calibri</vt:lpstr>
      <vt:lpstr>Arial</vt:lpstr>
      <vt:lpstr>Microsoft YaHei</vt:lpstr>
      <vt:lpstr>Arial Unicode MS</vt:lpstr>
      <vt:lpstr>Aptos Display</vt:lpstr>
      <vt:lpstr>Aptos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 M</dc:creator>
  <cp:lastModifiedBy>anandakumar</cp:lastModifiedBy>
  <cp:revision>355</cp:revision>
  <dcterms:created xsi:type="dcterms:W3CDTF">2024-03-07T14:31:00Z</dcterms:created>
  <dcterms:modified xsi:type="dcterms:W3CDTF">2026-10-17T04:28:08Z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2057-11.2.0.10017</vt:lpwstr>
  </property>
  <property fmtid="{D5CDD505-2E9C-101B-9397-08002B2CF9AE}" pid="3" name="ICV">
    <vt:lpwstr>A76EE7BB7F1942FEBA1FA2AD388E26D3_13</vt:lpwstr>
  </property>
</Properties>
</file>