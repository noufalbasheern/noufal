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1"/>
  </p:notesMasterIdLst>
  <p:sldIdLst>
    <p:sldId id="256" r:id="rId3"/>
    <p:sldId id="258" r:id="rId4"/>
    <p:sldId id="447" r:id="rId5"/>
    <p:sldId id="266" r:id="rId6"/>
    <p:sldId id="419" r:id="rId7"/>
    <p:sldId id="446" r:id="rId8"/>
    <p:sldId id="270" r:id="rId9"/>
    <p:sldId id="401" r:id="rId10"/>
    <p:sldId id="463" r:id="rId11"/>
    <p:sldId id="284" r:id="rId12"/>
    <p:sldId id="396" r:id="rId13"/>
    <p:sldId id="442" r:id="rId14"/>
    <p:sldId id="460" r:id="rId15"/>
    <p:sldId id="393" r:id="rId16"/>
    <p:sldId id="273" r:id="rId17"/>
    <p:sldId id="443" r:id="rId18"/>
    <p:sldId id="400" r:id="rId19"/>
    <p:sldId id="466" r:id="rId20"/>
    <p:sldId id="411" r:id="rId21"/>
    <p:sldId id="408" r:id="rId22"/>
    <p:sldId id="444" r:id="rId23"/>
    <p:sldId id="445" r:id="rId24"/>
    <p:sldId id="449" r:id="rId25"/>
    <p:sldId id="450" r:id="rId26"/>
    <p:sldId id="451" r:id="rId27"/>
    <p:sldId id="465" r:id="rId28"/>
    <p:sldId id="461" r:id="rId29"/>
    <p:sldId id="462" r:id="rId30"/>
    <p:sldId id="464" r:id="rId31"/>
    <p:sldId id="459" r:id="rId32"/>
    <p:sldId id="454" r:id="rId33"/>
    <p:sldId id="455" r:id="rId34"/>
    <p:sldId id="456" r:id="rId35"/>
    <p:sldId id="457" r:id="rId36"/>
    <p:sldId id="458" r:id="rId37"/>
    <p:sldId id="452" r:id="rId38"/>
    <p:sldId id="453" r:id="rId39"/>
    <p:sldId id="29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-990" y="-4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4" Type="http://schemas.openxmlformats.org/officeDocument/2006/relationships/tableStyles" Target="tableStyles.xml"/><Relationship Id="rId43" Type="http://schemas.openxmlformats.org/officeDocument/2006/relationships/viewProps" Target="viewProps.xml"/><Relationship Id="rId42" Type="http://schemas.openxmlformats.org/officeDocument/2006/relationships/presProps" Target="presProps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3FDB8-831A-4D00-ABBE-BFAA42425457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3FF61-63F6-4C4B-AD49-5AE561B1CA03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685800"/>
            <a:ext cx="1828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LGB</a:t>
            </a:r>
            <a:endParaRPr sz="28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49808" y="11430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91DCDC"/>
                </a:solidFill>
                <a:latin typeface="Aptos"/>
              </a:rPr>
              <a:t>OPERATIONS TECHNOLOGY</a:t>
            </a:r>
            <a:endParaRPr sz="1100" b="1">
              <a:solidFill>
                <a:srgbClr val="91DCDC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2057400"/>
            <a:ext cx="5303520" cy="5835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200" b="1">
                <a:solidFill>
                  <a:srgbClr val="FFFFFF"/>
                </a:solidFill>
                <a:latin typeface="Aptos"/>
              </a:rPr>
              <a:t>Oct </a:t>
            </a:r>
            <a:r>
              <a:rPr sz="3200" b="1">
                <a:solidFill>
                  <a:srgbClr val="FFFFFF"/>
                </a:solidFill>
                <a:latin typeface="Aptos"/>
              </a:rPr>
              <a:t>2026</a:t>
            </a:r>
            <a:endParaRPr sz="32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731393" y="2660650"/>
            <a:ext cx="804672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Aptos"/>
              </a:rPr>
              <a:t>Monthly Project Progress</a:t>
            </a:r>
            <a:endParaRPr sz="26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5"/>
          <p:cNvSpPr txBox="1"/>
          <p:nvPr/>
        </p:nvSpPr>
        <p:spPr>
          <a:xfrm>
            <a:off x="749808" y="3310128"/>
            <a:ext cx="7772400" cy="2914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300" b="0">
                <a:solidFill>
                  <a:srgbClr val="CDD8E1"/>
                </a:solidFill>
                <a:latin typeface="Aptos"/>
              </a:rPr>
              <a:t>Software &amp; IOT</a:t>
            </a:r>
            <a:endParaRPr lang="en-US" sz="1300" b="0">
              <a:solidFill>
                <a:srgbClr val="CDD8E1"/>
              </a:solidFill>
              <a:latin typeface="Aptos"/>
            </a:endParaRPr>
          </a:p>
        </p:txBody>
      </p:sp>
      <p:sp>
        <p:nvSpPr>
          <p:cNvPr id="9" name="TextBox 6"/>
          <p:cNvSpPr txBox="1"/>
          <p:nvPr/>
        </p:nvSpPr>
        <p:spPr>
          <a:xfrm>
            <a:off x="774573" y="5394960"/>
            <a:ext cx="9144000" cy="2603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100" b="0">
                <a:solidFill>
                  <a:srgbClr val="B4C4D2"/>
                </a:solidFill>
                <a:latin typeface="Aptos"/>
              </a:rPr>
              <a:t>Annur</a:t>
            </a:r>
            <a:r>
              <a:rPr sz="1100" b="0">
                <a:solidFill>
                  <a:srgbClr val="B4C4D2"/>
                </a:solidFill>
                <a:latin typeface="Aptos"/>
              </a:rPr>
              <a:t>• </a:t>
            </a:r>
            <a:r>
              <a:rPr lang="en-US" sz="1100" b="0">
                <a:solidFill>
                  <a:srgbClr val="B4C4D2"/>
                </a:solidFill>
                <a:latin typeface="Aptos"/>
              </a:rPr>
              <a:t>PGR</a:t>
            </a:r>
            <a:r>
              <a:rPr sz="1100" b="0">
                <a:solidFill>
                  <a:srgbClr val="B4C4D2"/>
                </a:solidFill>
                <a:latin typeface="Aptos"/>
              </a:rPr>
              <a:t> • </a:t>
            </a:r>
            <a:r>
              <a:rPr lang="en-US" sz="1100" b="0">
                <a:solidFill>
                  <a:srgbClr val="B4C4D2"/>
                </a:solidFill>
                <a:latin typeface="Aptos"/>
              </a:rPr>
              <a:t>K-palayam</a:t>
            </a:r>
            <a:r>
              <a:rPr sz="1100" b="0">
                <a:solidFill>
                  <a:srgbClr val="B4C4D2"/>
                </a:solidFill>
                <a:latin typeface="Aptos"/>
              </a:rPr>
              <a:t> • </a:t>
            </a:r>
            <a:r>
              <a:rPr lang="en-US" sz="1100" b="0">
                <a:solidFill>
                  <a:srgbClr val="B4C4D2"/>
                </a:solidFill>
                <a:latin typeface="Aptos"/>
              </a:rPr>
              <a:t>FPD</a:t>
            </a:r>
            <a:r>
              <a:rPr sz="1100" b="0">
                <a:solidFill>
                  <a:srgbClr val="B4C4D2"/>
                </a:solidFill>
                <a:latin typeface="Aptos"/>
              </a:rPr>
              <a:t> </a:t>
            </a:r>
            <a:endParaRPr sz="1100" b="0">
              <a:solidFill>
                <a:srgbClr val="B4C4D2"/>
              </a:solidFill>
              <a:latin typeface="Aptos"/>
            </a:endParaRPr>
          </a:p>
        </p:txBody>
      </p:sp>
      <p:sp>
        <p:nvSpPr>
          <p:cNvPr id="10" name="TextBox 8"/>
          <p:cNvSpPr txBox="1"/>
          <p:nvPr/>
        </p:nvSpPr>
        <p:spPr>
          <a:xfrm>
            <a:off x="594360" y="6510528"/>
            <a:ext cx="4572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A6978"/>
                </a:solidFill>
                <a:latin typeface="Aptos"/>
              </a:rPr>
              <a:t>LGB | Operations Technology</a:t>
            </a:r>
            <a:endParaRPr sz="800" b="0">
              <a:solidFill>
                <a:srgbClr val="5A697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u="sng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Cambria" panose="02040503050406030204" pitchFamily="34" charset="0"/>
                <a:ea typeface="Garet Bold"/>
                <a:cs typeface="Cambria" panose="02040503050406030204" pitchFamily="34" charset="0"/>
                <a:sym typeface="Garet Bold"/>
              </a:rPr>
              <a:t> YEARLY PLAN - PROJECTS 2026</a:t>
            </a:r>
            <a:endParaRPr lang="en-US" altLang="en-US" sz="2000" u="sng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C8C8C8">
                      <a:alpha val="100000"/>
                    </a:srgbClr>
                  </a:gs>
                </a:gsLst>
                <a:lin ang="0"/>
              </a:gradFill>
              <a:latin typeface="Cambria" panose="02040503050406030204" pitchFamily="34" charset="0"/>
              <a:ea typeface="Garet Bold"/>
              <a:cs typeface="Cambria" panose="02040503050406030204" pitchFamily="34" charset="0"/>
              <a:sym typeface="Garet 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</p:nvPr>
        </p:nvGraphicFramePr>
        <p:xfrm>
          <a:off x="340995" y="664210"/>
          <a:ext cx="11481435" cy="55308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480"/>
                <a:gridCol w="1444625"/>
                <a:gridCol w="3843020"/>
                <a:gridCol w="1732280"/>
                <a:gridCol w="1096645"/>
                <a:gridCol w="1001395"/>
                <a:gridCol w="1443990"/>
              </a:tblGrid>
              <a:tr h="370205">
                <a:tc gridSpan="7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2026 Projects Plan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S.No</a:t>
                      </a:r>
                      <a:endParaRPr lang="en-US" altLang="en-US" sz="10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 Name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 Description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Plant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Month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 Month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54940">
                <a:tc gridSpan="7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Digitization - Existing Projects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32829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 Furnace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furnace monitoring and inspection system that ensures process quality, safety compliance, and operational parameter checks during heat treatment operations.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Pongalur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, </a:t>
                      </a: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Vaiyampalaym,Chennai,Annur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(In progress)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24 SEP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 FEB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Operator Buddy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digital assistant system that guides shop-floor operators through tasks, checks, and data entry to ensure correct and efficient production activities.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Kpalaym,Pongalur,Ppalayam,Annur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04 APR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 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3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 action="ppaction://noaction"/>
                        </a:rPr>
                        <a:t>Press </a:t>
                      </a: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 action="ppaction://noaction"/>
                        </a:rPr>
                        <a:t>Digitilization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 enables tracking, compliance, and lifecycle management of equipment and related activities across the shop floor.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PONGALUR, ANNUR &amp; CHENNAI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02 JUNE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 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0706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PRISM 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Manufacturing Execution System that integrates and reports real-time production data from shop floor operations for monitoring and control.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Kpalaym,Pongalur</a:t>
                      </a:r>
                      <a:r>
                        <a:rPr lang="en-US" sz="900" b="1" i="0" u="none" strike="noStrike" noProof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, </a:t>
                      </a: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Ppalayam</a:t>
                      </a:r>
                      <a:r>
                        <a:rPr lang="en-US" sz="900" b="1" i="0" u="none" strike="noStrike" noProof="0" dirty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, </a:t>
                      </a: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Annur,Vaiyampalayam,chennai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 APR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 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2321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AI Production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 AI-driven furnace analytics system that monitors utilization, charge parameters, cycle time, and setpoint deviations to evaluate process performance and quality in real time.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indent="0" algn="l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 provides RED/GREEN insights, target attainment analysis, and operational dashboards to optimize furnace efficiency and compliance.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Initated</a:t>
                      </a:r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 and Testing In progress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COE (Testing)</a:t>
                      </a:r>
                      <a:endParaRPr lang="en-US" sz="9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JUNE 26</a:t>
                      </a:r>
                      <a:endParaRPr lang="en-US" altLang="en-US" sz="900" b="1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hlinkClick r:id="" action="ppaction://noaction"/>
                        </a:rPr>
                        <a:t>SFQA(Shopfloor Quality Assist)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system or process that supports real-time quality inspection and assurance activities directly on the manufacturing shop floor.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Kpalayam,Ppalayam,pongalur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OCT 24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 APR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 action="ppaction://noaction"/>
                        </a:rPr>
                        <a:t>AssetHub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  <a:hlinkClick r:id="" action="ppaction://noaction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 centralized asset management platform that integrates modules such as metallurgy, instrument calibration, and operational checklists to manage manufacturing assets and quality processes.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 &amp; Running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Pongalur,ppalayam,kpalayam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 JUNE 25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05 JAN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0099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/>
                        </a:rPr>
                        <a:t>OTNEXUS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  <a:hlinkClick r:id="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OTNexus is a centralized web-based industrial utility platform that provides essential engineering, production, quality, IT, and business tools.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Inprogress</a:t>
                      </a:r>
                      <a:endParaRPr lang="en-US" altLang="en-US" sz="900" b="1" i="0" u="none" strike="noStrike" noProof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Common for all plant</a:t>
                      </a:r>
                      <a:endParaRPr lang="en-US" alt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02 JUNE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05 JULY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  <a:hlinkClick r:id=""/>
                        </a:rPr>
                        <a:t>Servo 8T press machine</a:t>
                      </a: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 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SFQA is an automated quality validation and traceability system integrated with the 8T Press Servo Machine and PLC to prevent incorrect assembly and ensure product quality.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800" b="1" i="0" u="none" strike="noStrike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Completed</a:t>
                      </a:r>
                      <a:endParaRPr lang="en-US" altLang="en-US" sz="800" b="1" i="0" u="none" strike="noStrike" noProof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P.Palayam</a:t>
                      </a:r>
                      <a:endParaRPr lang="en-US" alt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07 JUNE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26 JULY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7368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Kit Packing 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The Kit Packing Application prevents incorrect kit dispatch by ensuring the right components are packed for the right order.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It enables complete reverse traceability of every kit, ensuring transparency and accountability throughout the dispatch process.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800" b="1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+mn-ea"/>
                        </a:rPr>
                        <a:t>Inprogress</a:t>
                      </a:r>
                      <a:endParaRPr lang="en-US" altLang="en-US" sz="800" b="1" i="0" u="none" strike="noStrike" noProof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Ganapathy</a:t>
                      </a:r>
                      <a:endParaRPr lang="en-US" alt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 Aug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 Nov 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222094" y="114300"/>
            <a:ext cx="1174781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2000" u="sng">
                <a:gradFill>
                  <a:gsLst>
                    <a:gs pos="0">
                      <a:srgbClr val="FFFFFF">
                        <a:alpha val="100000"/>
                      </a:srgbClr>
                    </a:gs>
                    <a:gs pos="100000">
                      <a:srgbClr val="C8C8C8">
                        <a:alpha val="100000"/>
                      </a:srgbClr>
                    </a:gs>
                  </a:gsLst>
                  <a:lin ang="0"/>
                </a:gradFill>
                <a:latin typeface="Cambria" panose="02040503050406030204" pitchFamily="34" charset="0"/>
                <a:ea typeface="Garet Bold"/>
                <a:cs typeface="Cambria" panose="02040503050406030204" pitchFamily="34" charset="0"/>
                <a:sym typeface="Garet Bold"/>
              </a:rPr>
              <a:t> YEARLY PLAN - PROJECTS 2026</a:t>
            </a:r>
            <a:endParaRPr lang="en-US" altLang="en-US" sz="2000" u="sng">
              <a:gradFill>
                <a:gsLst>
                  <a:gs pos="0">
                    <a:srgbClr val="FFFFFF">
                      <a:alpha val="100000"/>
                    </a:srgbClr>
                  </a:gs>
                  <a:gs pos="100000">
                    <a:srgbClr val="C8C8C8">
                      <a:alpha val="100000"/>
                    </a:srgbClr>
                  </a:gs>
                </a:gsLst>
                <a:lin ang="0"/>
              </a:gradFill>
              <a:latin typeface="Cambria" panose="02040503050406030204" pitchFamily="34" charset="0"/>
              <a:ea typeface="Garet Bold"/>
              <a:cs typeface="Cambria" panose="02040503050406030204" pitchFamily="34" charset="0"/>
              <a:sym typeface="Garet Bold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IN" altLang="en-US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3" name="Content Placeholder 12"/>
          <p:cNvGraphicFramePr>
            <a:graphicFrameLocks noGrp="1"/>
          </p:cNvGraphicFramePr>
          <p:nvPr>
            <p:ph idx="1"/>
          </p:nvPr>
        </p:nvGraphicFramePr>
        <p:xfrm>
          <a:off x="340995" y="711835"/>
          <a:ext cx="11481435" cy="140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9480"/>
                <a:gridCol w="1444625"/>
                <a:gridCol w="3843020"/>
                <a:gridCol w="1732280"/>
                <a:gridCol w="1096645"/>
                <a:gridCol w="1001395"/>
                <a:gridCol w="1443990"/>
              </a:tblGrid>
              <a:tr h="370205">
                <a:tc gridSpan="7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2026 Projects Plan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FFFF00"/>
                    </a:solidFill>
                  </a:tcPr>
                </a:tc>
              </a:tr>
              <a:tr h="25082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S.No</a:t>
                      </a:r>
                      <a:endParaRPr lang="en-US" altLang="en-US" sz="10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 Name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Project Description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Status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Plant</a:t>
                      </a:r>
                      <a:endParaRPr lang="en-US" sz="1000" b="1" dirty="0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Start Month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End Month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54940">
                <a:tc gridSpan="7"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0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Digitization - Existing Projects</a:t>
                      </a:r>
                      <a:endParaRPr lang="en-US" altLang="en-US" sz="10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92D050"/>
                    </a:solidFill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</a:tcPr>
                </a:tc>
                <a:tc hMerge="1">
                  <a:tcPr/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  <a:tc hMerge="1"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solidFill>
                      <a:srgbClr val="92D050"/>
                    </a:solidFill>
                  </a:tcPr>
                </a:tc>
              </a:tr>
              <a:tr h="33274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dirty="0" err="1">
                          <a:solidFill>
                            <a:schemeClr val="tx1"/>
                          </a:solidFill>
                          <a:latin typeface="Calibri" panose="020F0502020204030204"/>
                          <a:cs typeface="Calibri" panose="020F0502020204030204"/>
                        </a:rPr>
                        <a:t>FPD Press Phase 2 </a:t>
                      </a:r>
                      <a:endParaRPr lang="en-US" altLang="en-US" sz="900" b="1" dirty="0" err="1">
                        <a:solidFill>
                          <a:schemeClr val="tx1"/>
                        </a:solidFill>
                        <a:latin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  <a:sym typeface="+mn-ea"/>
                        </a:rPr>
                        <a:t>It enables tracking, compliance, and lifecycle management of equipment and related activities across the shop floor at banglore jalna pantnagar lsp FPD2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800" b="1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+mn-ea"/>
                        </a:rPr>
                        <a:t>Inprogress</a:t>
                      </a:r>
                      <a:endParaRPr lang="en-US" altLang="en-US" sz="800" b="1" i="0" u="none" strike="noStrike" noProof="0"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All FPD Plants</a:t>
                      </a:r>
                      <a:endParaRPr lang="en-US" alt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07 Oct 2026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 Dec 2026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235585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SMD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Air bag stitch analysis 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 noProof="0">
                          <a:latin typeface="Calibri" panose="020F0502020204030204"/>
                          <a:ea typeface="Calibri" panose="020F0502020204030204"/>
                          <a:cs typeface="Calibri" panose="020F0502020204030204"/>
                          <a:sym typeface="+mn-ea"/>
                        </a:rPr>
                        <a:t>Inprogress</a:t>
                      </a:r>
                      <a:endParaRPr lang="en-US" sz="900" b="1" i="0" u="none" strike="noStrike" noProof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900" b="1" i="0" u="none" strike="noStrike" noProof="0" dirty="0" err="1">
                          <a:solidFill>
                            <a:schemeClr val="tx1"/>
                          </a:solidFill>
                          <a:latin typeface="Calibri" panose="020F0502020204030204"/>
                          <a:ea typeface="Calibri" panose="020F0502020204030204"/>
                          <a:cs typeface="Calibri" panose="020F0502020204030204"/>
                        </a:rPr>
                        <a:t>SMD</a:t>
                      </a:r>
                      <a:endParaRPr lang="en-US" sz="900" b="1" i="0" u="none" strike="noStrike" noProof="0" dirty="0" err="1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cs typeface="Calibri" panose="020F0502020204030204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lnTlToBr w="0">
                      <a:noFill/>
                    </a:lnTlToBr>
                    <a:lnBlToTr w="0"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03 Sept 2026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altLang="en-US" sz="900" b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23 Oct 2026</a:t>
                      </a:r>
                      <a:endParaRPr lang="en-US" altLang="en-US" sz="900" b="1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12700" marR="12700" marT="12700" anchor="ctr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3F8F5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IN" altLang="en-US" sz="9000" b="1" dirty="0">
              <a:solidFill>
                <a:srgbClr val="3F8F5F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3F8F5F"/>
          </a:solidFill>
        </p:spPr>
      </p:sp>
      <p:sp>
        <p:nvSpPr>
          <p:cNvPr id="6" name="Text 4"/>
          <p:cNvSpPr/>
          <p:nvPr/>
        </p:nvSpPr>
        <p:spPr>
          <a:xfrm>
            <a:off x="1111885" y="342900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  <a:sym typeface="+mn-ea"/>
                <a:hlinkClick r:id="" action="ppaction://noaction"/>
              </a:rPr>
              <a:t>Furnace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indent="0" algn="ctr" defTabSz="4572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Furnace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 ( Oct PLAN vs ACTUAL )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221615" y="607695"/>
          <a:ext cx="11747500" cy="5679436"/>
        </p:xfrm>
        <a:graphic>
          <a:graphicData uri="http://schemas.openxmlformats.org/drawingml/2006/table">
            <a:tbl>
              <a:tblPr/>
              <a:tblGrid>
                <a:gridCol w="712470"/>
                <a:gridCol w="3154680"/>
                <a:gridCol w="1514475"/>
                <a:gridCol w="922655"/>
                <a:gridCol w="930275"/>
                <a:gridCol w="820420"/>
                <a:gridCol w="977265"/>
                <a:gridCol w="705485"/>
                <a:gridCol w="1218565"/>
                <a:gridCol w="791210"/>
              </a:tblGrid>
              <a:tr h="33210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Furnace - PHASE 1</a:t>
                      </a:r>
                      <a:endParaRPr lang="en-US" sz="1300" b="1" i="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81940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altLang="en-GB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358775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60680">
                <a:tc gridSpan="10">
                  <a:txBody>
                    <a:bodyPr/>
                    <a:lstStyle/>
                    <a:p>
                      <a:pPr algn="l" fontAlgn="ctr"/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375623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CP data in single report should be in float type.</a:t>
                      </a:r>
                      <a:endParaRPr lang="en-US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08-Oct-2026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08-Oct-2026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2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Process Integration from pre heat to tempering - report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3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Excel mapping to PRISM, Red Charge &amp; Green Charge based on set time and set point.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In-Process</a:t>
                      </a:r>
                      <a:endParaRPr 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Demo to SQF team</a:t>
                      </a:r>
                      <a:endParaRPr 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4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Charge comparison report for same part number across furnaces and different part numbers in same furnace.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23-Oct-2026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5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Furnace utilization comparison dashboard/report.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22-Oct-2026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23-Oct-2026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Energy dummy data loading for different charges and part numbers.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27-Oct-2026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7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Single chart report as main dashboard.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13-Oct-2026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>
                          <a:latin typeface="Cambria" panose="02040503050406030204" pitchFamily="34" charset="0"/>
                          <a:cs typeface="Cambria" panose="02040503050406030204" pitchFamily="34" charset="0"/>
                          <a:sym typeface="+mn-ea"/>
                        </a:rPr>
                        <a:t>14-Oct-2026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>
                          <a:latin typeface="Cambria" panose="02040503050406030204" pitchFamily="34" charset="0"/>
                          <a:cs typeface="Cambria" panose="02040503050406030204" pitchFamily="34" charset="0"/>
                          <a:sym typeface="+mn-ea"/>
                        </a:rPr>
                        <a:t>14-Oct-2026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82867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8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Auto History Card printing based on work order, part number and telemetry data.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15-Oct-2026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>
                          <a:latin typeface="Cambria" panose="02040503050406030204" pitchFamily="34" charset="0"/>
                          <a:cs typeface="Cambria" panose="02040503050406030204" pitchFamily="34" charset="0"/>
                          <a:sym typeface="+mn-ea"/>
                        </a:rPr>
                        <a:t>13-Oct-2026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Waiting for template comformation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0576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9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Instrument calibration due monitoring and API integration to PRISM.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20-Oct-2026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27-Oct-2026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Furnace DASHBOARD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1"/>
          <a:stretch>
            <a:fillRect/>
          </a:stretch>
        </p:blipFill>
        <p:spPr>
          <a:xfrm>
            <a:off x="635" y="1193800"/>
            <a:ext cx="5844540" cy="4438015"/>
          </a:xfrm>
          <a:prstGeom prst="rect">
            <a:avLst/>
          </a:prstGeom>
        </p:spPr>
      </p:pic>
      <p:pic>
        <p:nvPicPr>
          <p:cNvPr id="3" name="Content Placeholder 2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334000" y="1365250"/>
            <a:ext cx="6930390" cy="39046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8E6BA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02</a:t>
            </a:r>
            <a:endParaRPr lang="en-IN" altLang="en-US" sz="9000" b="1" dirty="0">
              <a:solidFill>
                <a:srgbClr val="8E6BAE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8E6BAE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Operator Buddy</a:t>
            </a:r>
            <a:endParaRPr lang="en-US" sz="3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 Buddy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GB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OCTOBER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375920" y="720090"/>
          <a:ext cx="11409045" cy="3469956"/>
        </p:xfrm>
        <a:graphic>
          <a:graphicData uri="http://schemas.openxmlformats.org/drawingml/2006/table">
            <a:tbl>
              <a:tblPr/>
              <a:tblGrid>
                <a:gridCol w="740410"/>
                <a:gridCol w="3553460"/>
                <a:gridCol w="1566545"/>
                <a:gridCol w="762635"/>
                <a:gridCol w="763270"/>
                <a:gridCol w="811530"/>
                <a:gridCol w="761365"/>
                <a:gridCol w="598170"/>
                <a:gridCol w="1158240"/>
                <a:gridCol w="693420"/>
              </a:tblGrid>
              <a:tr h="37782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- Phase 2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3914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Development &amp; Deployement</a:t>
                      </a:r>
                      <a:endParaRPr lang="en-US" sz="1300" b="1" i="0">
                        <a:ln>
                          <a:noFill/>
                        </a:ln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First stage entry in operator buddy (SAP not integrated - POC)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7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Assembly stage entry development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Hariharasudhan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SAP Team review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3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Plan Vs Actual in WIP screen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08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lang="en-GB" altLang="en-US" sz="1300" b="0" i="0">
                        <a:solidFill>
                          <a:schemeClr val="tx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Plant review</a:t>
                      </a:r>
                      <a:endParaRPr 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4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Process Integration from pre heat to tempering 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Software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01-Oct-2026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04-Oct-2026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Durga,vishnunirmalan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5"/>
          <p:cNvSpPr/>
          <p:nvPr/>
        </p:nvSpPr>
        <p:spPr>
          <a:xfrm>
            <a:off x="0" y="6398895"/>
            <a:ext cx="12191365" cy="45910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588385" y="1231900"/>
            <a:ext cx="4835525" cy="47790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TextBox 4"/>
          <p:cNvSpPr txBox="1"/>
          <p:nvPr/>
        </p:nvSpPr>
        <p:spPr>
          <a:xfrm>
            <a:off x="222094" y="12446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Operator Buddy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</a:t>
            </a:r>
            <a:r>
              <a:rPr lang="en-GB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OCTOBER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IN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  <a:sym typeface="+mn-ea"/>
              </a:rPr>
              <a:t>OPERATOR BUDDY PLAN VS ACTUAL</a:t>
            </a:r>
            <a:endParaRPr lang="en-US" altLang="en-IN" dirty="0"/>
          </a:p>
        </p:txBody>
      </p:sp>
      <p:sp>
        <p:nvSpPr>
          <p:cNvPr id="5" name="Rectangle 5"/>
          <p:cNvSpPr/>
          <p:nvPr/>
        </p:nvSpPr>
        <p:spPr>
          <a:xfrm>
            <a:off x="0" y="6398895"/>
            <a:ext cx="12191365" cy="45910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03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8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Press Digitilization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 Box 4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Press Digitilization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OCT</a:t>
            </a:r>
            <a:r>
              <a:rPr lang="en-GB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 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375920" y="720090"/>
          <a:ext cx="11609705" cy="4467860"/>
        </p:xfrm>
        <a:graphic>
          <a:graphicData uri="http://schemas.openxmlformats.org/drawingml/2006/table">
            <a:tbl>
              <a:tblPr/>
              <a:tblGrid>
                <a:gridCol w="740410"/>
                <a:gridCol w="3553460"/>
                <a:gridCol w="1566545"/>
                <a:gridCol w="762635"/>
                <a:gridCol w="763270"/>
                <a:gridCol w="791845"/>
                <a:gridCol w="733425"/>
                <a:gridCol w="626110"/>
                <a:gridCol w="1177925"/>
                <a:gridCol w="894080"/>
              </a:tblGrid>
              <a:tr h="37782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Press </a:t>
                      </a:r>
                      <a:r>
                        <a:rPr lang="en-US" sz="1300" b="1" i="0" dirty="0" err="1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Digitilization</a:t>
                      </a:r>
                      <a:endParaRPr lang="en-US" sz="1300" b="1" i="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3914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Development &amp; Deployement</a:t>
                      </a:r>
                      <a:endParaRPr lang="en-US" sz="1300" b="1" i="0">
                        <a:ln>
                          <a:noFill/>
                        </a:ln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KG Conversion - Maestro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Open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Vishnunirmalan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Not started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Work order completion alarm - Maestro</a:t>
                      </a:r>
                      <a:endParaRPr lang="en-US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Maestro</a:t>
                      </a:r>
                      <a:endParaRPr 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post KG conversion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768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3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Maestro Stroke count into Prism Dashboard </a:t>
                      </a:r>
                      <a:endParaRPr lang="en-US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01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05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Hariharasudhan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GB" altLang="en-US" sz="1100" b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4</a:t>
                      </a:r>
                      <a:endParaRPr lang="en-GB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anose="020B0604020202020204" charset="-122"/>
                          <a:sym typeface="+mn-ea"/>
                        </a:rPr>
                        <a:t> </a:t>
                      </a:r>
                      <a:r>
                        <a:rPr lang="en-US" sz="1100" dirty="0" smtClean="0">
                          <a:solidFill>
                            <a:srgbClr val="000000"/>
                          </a:solidFill>
                          <a:latin typeface="Arial" panose="020B0604020202020204" charset="-122"/>
                          <a:sym typeface="+mn-ea"/>
                        </a:rPr>
                        <a:t>Maestro</a:t>
                      </a:r>
                      <a:r>
                        <a:rPr lang="en-US" sz="1100" baseline="0" dirty="0" smtClean="0">
                          <a:solidFill>
                            <a:srgbClr val="000000"/>
                          </a:solidFill>
                          <a:latin typeface="Arial" panose="020B0604020202020204" charset="-122"/>
                          <a:sym typeface="+mn-ea"/>
                        </a:rPr>
                        <a:t> Report Replication </a:t>
                      </a:r>
                      <a:endParaRPr lang="en-US" altLang="en-US" sz="1100" b="1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000" b="0" dirty="0" smtClean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12-Oct-2026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altLang="en-US" sz="1000" b="0" dirty="0" smtClean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16-oct-26</a:t>
                      </a:r>
                      <a:endParaRPr lang="en-US" altLang="en-US" sz="1000" b="0" dirty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12-oct-26</a:t>
                      </a:r>
                      <a:endParaRPr lang="en-GB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Closed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 err="1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Naveen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GB" altLang="en-US" sz="1100" b="0" dirty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5</a:t>
                      </a:r>
                      <a:endParaRPr lang="en-GB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 dirty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15 FPD </a:t>
                      </a:r>
                      <a:r>
                        <a:rPr lang="en-US" altLang="en-US" sz="1100" b="0" dirty="0" err="1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Digitilization</a:t>
                      </a:r>
                      <a:r>
                        <a:rPr lang="en-US" altLang="en-US" sz="1100" b="0" dirty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 (LSP,FPD 2, </a:t>
                      </a:r>
                      <a:r>
                        <a:rPr lang="en-US" altLang="en-US" sz="1100" b="0" dirty="0" err="1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Jalna,Pantnagar,Nagpur,Banglore</a:t>
                      </a:r>
                      <a:r>
                        <a:rPr lang="en-US" altLang="en-US" sz="1100" b="0" dirty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)</a:t>
                      </a:r>
                      <a:endParaRPr lang="en-US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IoT</a:t>
                      </a:r>
                      <a:endParaRPr lang="en-US" altLang="en-GB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30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07-Oct-26</a:t>
                      </a: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n-GB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Open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Vishnunirmalan</a:t>
                      </a:r>
                      <a:endParaRPr lang="en-US" alt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en-GB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LAN Survey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GB" altLang="en-US" sz="1100" b="0" dirty="0" smtClean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6</a:t>
                      </a:r>
                      <a:endParaRPr lang="en-GB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 dirty="0" err="1" smtClean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Elcon</a:t>
                      </a:r>
                      <a:r>
                        <a:rPr lang="en-US" altLang="en-US" sz="1100" b="0" dirty="0" smtClean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 Device Dashboard</a:t>
                      </a:r>
                      <a:endParaRPr lang="en-US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GB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07-Oct-26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10-Oct-26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14-Oct-26</a:t>
                      </a:r>
                      <a:endParaRPr lang="en-GB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GB" alt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15-Oct-26</a:t>
                      </a:r>
                      <a:endParaRPr lang="en-GB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kern="120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cs typeface="+mn-cs"/>
                          <a:sym typeface="+mn-ea"/>
                        </a:rPr>
                        <a:t>Close</a:t>
                      </a:r>
                      <a:endParaRPr lang="en-US" altLang="en-US" sz="1300" kern="120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cs typeface="+mn-cs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300" b="0" i="0" dirty="0" err="1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Vishnunirmalan</a:t>
                      </a:r>
                      <a:endParaRPr lang="en-US" alt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n-US" altLang="en-GB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5"/>
          <p:cNvSpPr/>
          <p:nvPr/>
        </p:nvSpPr>
        <p:spPr>
          <a:xfrm>
            <a:off x="0" y="6398895"/>
            <a:ext cx="12191365" cy="45910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42874" y="114298"/>
          <a:ext cx="11849101" cy="6600831"/>
        </p:xfrm>
        <a:graphic>
          <a:graphicData uri="http://schemas.openxmlformats.org/drawingml/2006/table">
            <a:tbl>
              <a:tblPr/>
              <a:tblGrid>
                <a:gridCol w="492325"/>
                <a:gridCol w="1323120"/>
                <a:gridCol w="2523159"/>
                <a:gridCol w="1007725"/>
                <a:gridCol w="974391"/>
                <a:gridCol w="933363"/>
                <a:gridCol w="892335"/>
                <a:gridCol w="625660"/>
                <a:gridCol w="3077023"/>
              </a:tblGrid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 err="1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S.No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Category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Topic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Planned start date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Planned end date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 Actual start date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 Actual end date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Status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Remarks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Daily Dashboard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Daily Activity Report 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06-Oct-2026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06-Oct-2026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Pending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Single Machine Perfomance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06-Oct-2026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06-Oct-2026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Pending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Mastero Need to send file idel 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Production Report for Single day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10-Sep-2026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Pending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The shift filter issue needs to be fixed, and cavity data from the Maestro application needs to be retrieved and stored in MongoDB.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4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Machine Stroke Report by Hour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10-Sep-2026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10-Sep-2026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4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5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Daily Machine Stroke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14-Sep-2026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In Progress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The downtime reason is not being received in MongoDB from the Mastero application.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Single day Machine downtime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17-Sep-2026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In Progress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There is a data mapping issue from PRISM.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7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Per day machine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8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Downtime Employee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12-Sep-2026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12-Sep-2026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9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Downtime Reason Report 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12-Sep-2026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12-Sep-2026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10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Machine Consumption Report 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14-Sep-2026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14-Sep-2026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Pending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12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Report Dashboard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Downtime Comparison Report 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21-Sep-2026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22-Sep-2026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Pending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 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13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Downtime Employee Datewise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21-Sep-2026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22-Sep-2026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4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14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Downtime Reason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15-Sep-2026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17-Sep-2026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17-Sep-2026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In Progress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 Downtime data wants to recieve in DB from Mastero Application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1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15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Machine Dashboard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Machine Dashboard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15-Sep-2026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16-Sep-2026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17-Sep-2026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In Progress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The machine completion status is showing in the dashboard, but the start and end times are not being received from Mastero in MongoDB.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4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16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Production Reports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Production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24-Oct-2026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24-Oct-2026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1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Pending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Add the cavity count from the Maestro application to MongoDB.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17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Cycle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No data from Maestro Report </a:t>
                      </a:r>
                      <a:endParaRPr lang="pt-BR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Work 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24-Oct-2026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24-Oct-2026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19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Work Order Plan Report</a:t>
                      </a:r>
                      <a:endParaRPr lang="en-US" sz="700" b="1" i="0" u="none" strike="noStrike" dirty="0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 dirty="0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No data from Maestro Report </a:t>
                      </a:r>
                      <a:endParaRPr lang="pt-BR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20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Work Flow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Qc Checker , Not Recieved from DB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21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Work Performance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No data from Maestro Report </a:t>
                      </a:r>
                      <a:endParaRPr lang="pt-BR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22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Work Consumption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No data from Maestro Report </a:t>
                      </a:r>
                      <a:endParaRPr lang="pt-BR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23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Production Insight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28-Oct-2026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28-Oct-2026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Add the cavity count from the Maestro application to MongoDB.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659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24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Comparitive Analysis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29-Oct-2026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29-Oct-2026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Rejection Qty to be added in mongodb instead of  0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900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25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Single day production quantity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29-Oct-2026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29-Oct-2026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Add the cavity count from the Maestro application to MongoDB and Planned Qty.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0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Part wise stroke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30-Oct-2026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30-Oct-2026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Part field to be there in workorder status of mongoDB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0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27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Part qty date wise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30-Oct-2026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30-Oct-2026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Part field to be there in workorder status of mongoDB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308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28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Machine part wise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31-Oct-2026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31-Oct-2026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Part field to be there in workorder status of mongoDB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29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Part spm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30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Planned / Actual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Pending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Planned data not coming in the DB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30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Part qty hour wise stroke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342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31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Downtime Reports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Downtime statistics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17-Sep-2026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17-Sep-2026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16-Sep-2026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In Progress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The current completion data is available, but some data is missing from the Mastero application .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63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32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Downtime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17-Sep-2026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17-Sep-2026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18-Sep-2026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19-Sep-2026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In Progress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The downtime reason is missing in MongoDB because it is not being received from the Mastero application.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33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Single day downtime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21-Sep-2026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21-Sep-2026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22-Sep-2026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23-Sep-2026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34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Downtime hour basic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21-Sep-2026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21-Sep-2026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22-Sep-2026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23-Sep-2026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 vMerge="1">
                  <a:tcPr/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37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Machine Reports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Hour Wise for all machine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02-Nov-2026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02-Nov-2026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Pending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38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Stroke Report 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02-Nov-2026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02-Nov-2026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39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Machine Spm Report 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03-Nov-2026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03-Nov-2026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2671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40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Machine Activity Report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03-Nov-2026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03-Nov-2026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243247"/>
                          </a:solidFill>
                          <a:latin typeface="Times New Roman" panose="02020603050405020304"/>
                        </a:rPr>
                        <a:t> </a:t>
                      </a:r>
                      <a:endParaRPr lang="en-US" sz="700" b="1" i="0" u="none" strike="noStrike" dirty="0">
                        <a:solidFill>
                          <a:srgbClr val="243247"/>
                        </a:solidFill>
                        <a:latin typeface="Times New Roman" panose="02020603050405020304"/>
                      </a:endParaRPr>
                    </a:p>
                  </a:txBody>
                  <a:tcPr marL="3978" marR="3978" marT="397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237381" y="314324"/>
            <a:ext cx="11501923" cy="614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PRISM PRESS DASHBOARD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985635" y="2787650"/>
            <a:ext cx="5205730" cy="998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Press Dashboard In PRISM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Content Placeholder 1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600" y="1120775"/>
            <a:ext cx="6692265" cy="3278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r>
              <a:rPr lang="en-IN" alt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PRISM 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 Box 4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PRISM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 OCTOBER 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391795" y="739775"/>
          <a:ext cx="11614150" cy="3077210"/>
        </p:xfrm>
        <a:graphic>
          <a:graphicData uri="http://schemas.openxmlformats.org/drawingml/2006/table">
            <a:tbl>
              <a:tblPr/>
              <a:tblGrid>
                <a:gridCol w="740410"/>
                <a:gridCol w="2879725"/>
                <a:gridCol w="1390650"/>
                <a:gridCol w="1124585"/>
                <a:gridCol w="889635"/>
                <a:gridCol w="967740"/>
                <a:gridCol w="753110"/>
                <a:gridCol w="606425"/>
                <a:gridCol w="1070610"/>
                <a:gridCol w="1191260"/>
              </a:tblGrid>
              <a:tr h="37782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PRISM</a:t>
                      </a:r>
                      <a:endParaRPr lang="en-US" sz="1300" b="1" i="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3914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Development &amp; Deployement</a:t>
                      </a:r>
                      <a:endParaRPr lang="en-US" sz="1300" b="1" i="0">
                        <a:ln>
                          <a:noFill/>
                        </a:ln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7825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1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Machine Monitoring</a:t>
                      </a:r>
                      <a:endParaRPr lang="en-US" altLang="en-US" sz="1100" b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06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17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6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In Progress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Durga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Under development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8783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1100" b="0" dirty="0">
                          <a:latin typeface="Cambria" panose="02040503050406030204" pitchFamily="34" charset="0"/>
                          <a:cs typeface="Cambria" panose="02040503050406030204" pitchFamily="34" charset="0"/>
                        </a:rPr>
                        <a:t>2</a:t>
                      </a:r>
                      <a:endParaRPr lang="en-US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 dirty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All Reports Optimization</a:t>
                      </a:r>
                      <a:endParaRPr lang="en-US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20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24</a:t>
                      </a:r>
                      <a:r>
                        <a:rPr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Open</a:t>
                      </a:r>
                      <a:endParaRPr lang="en-US"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Durga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dirty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Not Started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84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 dirty="0" smtClean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3</a:t>
                      </a:r>
                      <a:endParaRPr lang="en-US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altLang="en-US" sz="1100" b="0" dirty="0" err="1" smtClean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Prepacking</a:t>
                      </a:r>
                      <a:r>
                        <a:rPr lang="en-US" altLang="en-US" sz="1100" b="0" baseline="0" dirty="0" smtClean="0">
                          <a:latin typeface="Cambria" panose="02040503050406030204" pitchFamily="34" charset="0"/>
                          <a:ea typeface="Cambria" panose="02040503050406030204" pitchFamily="34" charset="0"/>
                          <a:cs typeface="Cambria" panose="02040503050406030204" pitchFamily="34" charset="0"/>
                        </a:rPr>
                        <a:t>  Optimization</a:t>
                      </a:r>
                      <a:endParaRPr lang="en-US" altLang="en-US" sz="1100" b="0" dirty="0">
                        <a:latin typeface="Cambria" panose="02040503050406030204" pitchFamily="34" charset="0"/>
                        <a:ea typeface="Cambria" panose="02040503050406030204" pitchFamily="34" charset="0"/>
                        <a:cs typeface="Cambria" panose="02040503050406030204" pitchFamily="34" charset="0"/>
                      </a:endParaRPr>
                    </a:p>
                  </a:txBody>
                  <a:tcPr marL="68580" marR="6858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Software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12-Oct-26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Closed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dirty="0" err="1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Naveen</a:t>
                      </a:r>
                      <a:endParaRPr sz="13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300" b="0" i="0" dirty="0" smtClean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Completed</a:t>
                      </a:r>
                      <a:endParaRPr lang="en-US" sz="1300" b="0" i="0" dirty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Rectangle 5"/>
          <p:cNvSpPr/>
          <p:nvPr/>
        </p:nvSpPr>
        <p:spPr>
          <a:xfrm>
            <a:off x="0" y="6398895"/>
            <a:ext cx="12191365" cy="45910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PRISM CNC DASHBOARD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6985635" y="2787650"/>
            <a:ext cx="5205730" cy="998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CNC Dashboard In PRISM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1625" y="1880235"/>
            <a:ext cx="6910705" cy="339217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PRISM </a:t>
            </a:r>
            <a:r>
              <a:rPr lang="en-US" altLang="en-IN" sz="20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PREPACKING REPORT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7343775" y="2914650"/>
            <a:ext cx="4847590" cy="871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 smtClean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PREPACKING REPORT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3"/>
          <p:cNvPicPr>
            <a:picLocks noGrp="1" noChangeAspect="1" noChangeArrowheads="1"/>
          </p:cNvPicPr>
          <p:nvPr>
            <p:ph sz="half" idx="1"/>
          </p:nvPr>
        </p:nvPicPr>
        <p:blipFill>
          <a:blip r:embed="rId1"/>
          <a:srcRect/>
          <a:stretch>
            <a:fillRect/>
          </a:stretch>
        </p:blipFill>
        <p:spPr bwMode="auto">
          <a:xfrm>
            <a:off x="257174" y="1123950"/>
            <a:ext cx="7754947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05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6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Kit Packing 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6"/>
          <p:cNvSpPr txBox="1"/>
          <p:nvPr/>
        </p:nvSpPr>
        <p:spPr>
          <a:xfrm>
            <a:off x="4128770" y="6399530"/>
            <a:ext cx="38639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0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sz="20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</p:nvPr>
        </p:nvGraphicFramePr>
        <p:xfrm>
          <a:off x="114300" y="114310"/>
          <a:ext cx="10887075" cy="6629374"/>
        </p:xfrm>
        <a:graphic>
          <a:graphicData uri="http://schemas.openxmlformats.org/drawingml/2006/table">
            <a:tbl>
              <a:tblPr/>
              <a:tblGrid>
                <a:gridCol w="512447"/>
                <a:gridCol w="2765279"/>
                <a:gridCol w="860524"/>
                <a:gridCol w="812179"/>
                <a:gridCol w="812179"/>
                <a:gridCol w="812179"/>
                <a:gridCol w="812179"/>
                <a:gridCol w="1682373"/>
                <a:gridCol w="918537"/>
                <a:gridCol w="899199"/>
              </a:tblGrid>
              <a:tr h="275341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KIT PACKING PROJECT – WBS / PROJECT SCHEDULE</a:t>
                      </a:r>
                      <a:endParaRPr lang="en-US" sz="1000" b="1" i="0" u="none" strike="noStrike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47768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700" b="0" i="1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STO → Feasibility → Packing → Parent Label → SAP Production Entry → ATD → Invoice → Dispatch</a:t>
                      </a:r>
                      <a:endParaRPr lang="en-US" sz="700" b="0" i="1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47768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53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 No.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Task Description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Duration (Days)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Planned Start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Planned Finish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Actual Start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Actual Finish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Remarks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Status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% Completion</a:t>
                      </a:r>
                      <a:endParaRPr lang="en-US" sz="8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1.00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INITIATE &amp; REQUIREMENT CONFIRMATION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1.01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Review KIT packing business requirement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25.08.2026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30.08.2026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25.08.2026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30.08.2026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1.02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Confirm end-to-end process with requester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02.09.2026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02.09.2026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Confirm project scope, deliverables and priorities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Raise BAPI requirements / requisition to SAP team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2.00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SAP INTEGRATION</a:t>
                      </a:r>
                      <a:endParaRPr lang="en-US" sz="800" b="1" i="0" u="none" strike="noStrike" dirty="0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STO Plan – BAPI integration and SAP data fetching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24.09.2026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24.09.2026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Feasibility – BAPI integration and SAP data fetching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29.09.2026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29.09.2026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Production Entry – finalize BAPI with SAP team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ATD Location – finalize BAPI/interface with SAP team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55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2.05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Invoicing – finalize BAPI/interface with SAP team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Fields to be confirmed with SAP for Production entry  after demo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3.00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UI DEVELOPMENT &amp; PACKING PROCESS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 dirty="0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Daily plan UI – STO and feasibility display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Packing screen development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16.09.2026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Kit scanning and packing validation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29.09.2026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30.09.2026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29.09.2026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sv-SE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Parent QR / Parent Label generation</a:t>
                      </a:r>
                      <a:endParaRPr lang="sv-SE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21.09.2026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21.09.2026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Packing transaction / status handling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01.10.2026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03.10.2026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01.10.2026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4.00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SAP COMPLETION &amp; END-TO-END PROCESS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 dirty="0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 dirty="0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443307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Production entry after parent label generation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17.10.2026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16.10.2026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Waiting for quality data from plant to test production entry SAP posting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 progress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Packed stock management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19.10.2026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ATD automatic location assignment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20.10.2026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Manual ATD assignment / override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20.10.2026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Invoice generation and SAP integration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26.10.2026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31.10.2026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Transporter / LR details and label flow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01.11.2026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05.11.2026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5.00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TESTING, DEMO &amp; VALIDATION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 dirty="0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955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Demo preparation – STO + Feasibility + Packing + Parent Label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Ready for Demo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Demo to requester and collect feedback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10.11.2026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11.11.2026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yet given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Requirement changes / final scope freeze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12.11.2026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14.11.2026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5.04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SAP integration testing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16.11.2026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17.11.2026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5.05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End-to-end testing / UAT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17.11.2026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18.11.2026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6.00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FINAL HANDOVER &amp; GO-LIVE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 dirty="0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 dirty="0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 dirty="0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6.01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Final demo and business approval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18.11.2026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22.11.2026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6.02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Production deployment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23.11.2026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25.11.2026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6.03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Project handover / go-live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26.11.2026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30.11.2026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Pending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7768"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800" b="0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850" marR="4850" marT="485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KIT PACKING HISTORY REPORT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6985635" y="2787650"/>
            <a:ext cx="5205730" cy="998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Kit Packing History Dashboard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4850" y="1919605"/>
            <a:ext cx="6396990" cy="25323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KIT PACKING REVERSE TRACEABILITY CARD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4"/>
          <p:cNvSpPr txBox="1"/>
          <p:nvPr/>
        </p:nvSpPr>
        <p:spPr>
          <a:xfrm>
            <a:off x="6985635" y="2787650"/>
            <a:ext cx="5205730" cy="9982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Kit Packing Reverse Traceability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3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Report</a:t>
            </a:r>
            <a:endParaRPr lang="en-US" sz="3000" b="1" dirty="0">
              <a:solidFill>
                <a:schemeClr val="accent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84530" y="758825"/>
            <a:ext cx="5287010" cy="52063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06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7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SMD - AIRBAG STITCH PATTERN ANALYSIS – WBS / PROJECT SCHEDULE 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-3" y="2"/>
          <a:ext cx="12192005" cy="6857996"/>
        </p:xfrm>
        <a:graphic>
          <a:graphicData uri="http://schemas.openxmlformats.org/drawingml/2006/table">
            <a:tbl>
              <a:tblPr/>
              <a:tblGrid>
                <a:gridCol w="2227716"/>
                <a:gridCol w="2089563"/>
                <a:gridCol w="682132"/>
                <a:gridCol w="863455"/>
                <a:gridCol w="682132"/>
                <a:gridCol w="682132"/>
                <a:gridCol w="682132"/>
                <a:gridCol w="2495388"/>
                <a:gridCol w="725303"/>
                <a:gridCol w="1062052"/>
              </a:tblGrid>
              <a:tr h="211348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AIRBAG STITCH PATTERN ANALYSIS – WBS / PROJECT SCHEDULE</a:t>
                      </a:r>
                      <a:endParaRPr lang="en-US" sz="700" b="1" i="0" u="none" strike="noStrike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81479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700" b="1" i="1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Requirements → Camera Setup → Dataset → Segmentation Model → Geometry Analysis → PASS/NOT OK → Integration → Validation → Deployment</a:t>
                      </a:r>
                      <a:endParaRPr lang="en-US" sz="700" b="1" i="1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WBS ID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Task Description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Duration (Days)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Planned Start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Planned Finish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Actual Start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Actual Finish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Remarks / Deliverable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Status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% Completion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1.00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PROJECT INITIATION &amp; REQUIREMENTS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1.01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Review airbag stitch inspection requirements and current documentation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03/Sep/26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03/Sep/26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03/Sep/26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04/Sep/26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Define inspection scope, target patterns and production constraints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1.02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Confirm stitch classes and defect cases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07/Sep/26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09/Sep/26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Inner circle, outer circle, straight,notch,curved line,  incorrect pattern/position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1.03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Define measurement tolerances and acceptance rules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Confirm diameter, position, geometry, continuity and image-quality criteria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1.04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Finalize hardware, camera, lighting and runtime configuration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Raspberry Pi 4 Test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2.00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CAMERA, LIGHTING &amp; IMAGE ACQUISITION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2.01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Install and configure camera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Fixed camera position, focus, exposure and field of view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2.02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camera initialization and image capture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Capture inspection image for each inspection cycle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2.03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image-quality validation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31-09-26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Check image availability, brightness, blur/focus and ROI visibility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2.04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Define and validate stitch ROI extraction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17/Sep/26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Crop relevant airbag/stitch inspection region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3.00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DATASET PREPARATION &amp; ANNOTATION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Collect representative airbag stitch images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Include target patterns, backgrounds and production variations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Prepare positive and negative/defect examples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Missing stitch,  wrong pattern/position and image-quality failures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InProgress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Annotate stitch regions with segmentation masks/polygons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24/Sep/26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Use agreed class names and consistent annotation rules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InProgress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Review labels and remove duplicate/poor-quality images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19/Sep/26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19/Sep/26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19/Sep/26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19/Sep/26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Quality-check annotations and dataset coverage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3.05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Split dataset into training, validation and test sets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22/Sep/26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21/Sep/26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22/Sep/26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Record dataset version and class distribution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4.00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AI SEGMENTATION MODEL DEVELOPMENT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Configure training and augmentation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19/Sep/26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Use suitable rotation, scale, brightness and perspective variation where appropriate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InProgress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Train stitch segmentation model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Train using reviewed segmentation dataset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Evaluate model and inspect false positives/false negatives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Review class-wise results and segmentation masks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Tune confidence/IoU settings and export deployment model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Record model version and deployment artifact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4.05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Validate inference on target hardware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30/Sep/26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Measure inference time on Raspberry Pi 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InProgress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5.00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OPENCV GEOMETRY &amp; DECISION LOGIC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5.02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circle detection 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19/Sep/26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Measure inner/outer circular stitch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5.04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straight and curved stitch geometry checks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01/Oct/26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09/Oct/26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Evaluate shape and expected pattern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5.05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stitch continuity and missing/broken checks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Detect interruptions and missing regions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6848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5.06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tolerance-based PASS / NOT OK decision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Combine image quality, geometry, position and continuity checks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-3" y="5"/>
          <a:ext cx="12192005" cy="6857990"/>
        </p:xfrm>
        <a:graphic>
          <a:graphicData uri="http://schemas.openxmlformats.org/drawingml/2006/table">
            <a:tbl>
              <a:tblPr/>
              <a:tblGrid>
                <a:gridCol w="2227716"/>
                <a:gridCol w="2089563"/>
                <a:gridCol w="682132"/>
                <a:gridCol w="863455"/>
                <a:gridCol w="682132"/>
                <a:gridCol w="682132"/>
                <a:gridCol w="682132"/>
                <a:gridCol w="2495388"/>
                <a:gridCol w="725303"/>
                <a:gridCol w="1062052"/>
              </a:tblGrid>
              <a:tr h="259939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AIRBAG STITCH PATTERN ANALYSIS – WBS / PROJECT SCHEDULE</a:t>
                      </a:r>
                      <a:endParaRPr lang="en-US" sz="700" b="1" i="0" u="none" strike="noStrike" dirty="0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F4E78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223202">
                <a:tc gridSpan="10">
                  <a:txBody>
                    <a:bodyPr/>
                    <a:lstStyle/>
                    <a:p>
                      <a:pPr algn="ctr" fontAlgn="b"/>
                      <a:r>
                        <a:rPr lang="en-US" sz="700" b="1" i="1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Requirements → Camera Setup → Dataset → Segmentation Model → Geometry Analysis → PASS/NOT OK → Integration → Validation → Deployment</a:t>
                      </a:r>
                      <a:endParaRPr lang="en-US" sz="700" b="1" i="1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5B9BD5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39502"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WBS ID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Task Description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Duration (Days)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Planned Start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Planned Finish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Actual Start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Actual Finish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Remarks / Deliverable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Status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% Completion</a:t>
                      </a:r>
                      <a:endParaRPr lang="en-US" sz="700" b="1" i="0" u="none" strike="noStrike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65D"/>
                    </a:solidFill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6.00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APPLICATION, DATABASE &amp; IMAGE STORAGE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6.01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Build inspection workflow and result flow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06/Oct/26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Capture → validate → ROI → segmentation → analysis → decision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6.02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Create PostgreSQL inspection result schema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Inspection ID, timestamp, part/serial, pattern, confidence, checks, result, defect reason, image path, model version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6305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6.03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UI Design For SMD 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07/Oct/26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07/Oct/26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Develop a dashboard for stitch and part validation, store OK and NOT OK inspection reports, customize application settings, and automatically transfer data when storage reaches 80%.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6.03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Store inspection images, results and application logs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Organize by date and retain traceability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6.04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error handling and system logging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Camera, model, database, image-quality and storage errors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7.00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STORAGE MANAGEMENT &amp; NETWORK TRANSFER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7.01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continuous local-storage monitoring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Check local disk utilization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7.02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Trigger transfer when storage reaches 80%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Transfer older inspection data to configured PC/server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7.03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retry and network-failure handling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Keep untransferred data locally and retry automatically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7.04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Verify transferred files before local deletion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Delete only after successful verification; prevent duplicate transfer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7.05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Implement storage warning and critical alarm thresholds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16/Oct/26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80% transfer; 90% warning and 95% critical as configurable recommendations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8.00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TESTING, VALIDATION &amp; ACCEPTANCE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8.01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Test each required stitch pattern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18/Sep/26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11/Oct/26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Inner circle, outer circle, straight and curved double stitch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completed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8.02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Test missing, wrong pattern/position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20/Sep/26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14/Oct/26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Expected NOT OK result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8.03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Test geometry, diameter, position and continuity tolerances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Valid part PASS; out-of-tolerance part NOT OK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8.04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Test blur, low light, camera/model/database failures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10/Oct/26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Expected image-quality/system error handling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8.05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Test storage threshold, network outage and recovery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15/Oct/26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Retain data locally, retry, verify transfer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9.00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DEPLOYMENT, DOCUMENTATION &amp; HANDOVER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17365D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17365D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AF7"/>
                    </a:solidFill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9.01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Deploy application and model to target Ubuntu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Configure camera, model, database and storage destination</a:t>
                      </a:r>
                      <a:endParaRPr lang="it-IT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9002"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9.02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Handover source code, model, configuration and test evidence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22/Oct/26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23/Oct/26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 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Release package and maintenance notes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Not Started</a:t>
                      </a:r>
                      <a:endParaRPr lang="en-US" sz="700" b="1" i="0" u="none" strike="noStrike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latin typeface="Calibri" panose="020F0502020204030204"/>
                        </a:rPr>
                        <a:t>0%</a:t>
                      </a:r>
                      <a:endParaRPr lang="en-US" sz="700" b="1" i="0" u="none" strike="noStrike" dirty="0">
                        <a:solidFill>
                          <a:srgbClr val="000000"/>
                        </a:solidFill>
                        <a:latin typeface="Calibri" panose="020F0502020204030204"/>
                      </a:endParaRPr>
                    </a:p>
                  </a:txBody>
                  <a:tcPr marL="4317" marR="4317" marT="4317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creenshot 2026-10-16 14131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345" y="390525"/>
            <a:ext cx="11776230" cy="556479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 smtClean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07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7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 smtClean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SFQA 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Box 6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20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SFQA </a:t>
            </a:r>
            <a:r>
              <a:rPr lang="en-IN" altLang="en-US" sz="20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- PHASE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IN" sz="20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 </a:t>
            </a:r>
            <a:r>
              <a:rPr lang="en-GB" altLang="en-US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OCTOBER </a:t>
            </a: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PLANNED TASK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3" name="Content Placeholder 2"/>
          <p:cNvGraphicFramePr>
            <a:graphicFrameLocks noGrp="1"/>
          </p:cNvGraphicFramePr>
          <p:nvPr>
            <p:ph idx="1"/>
          </p:nvPr>
        </p:nvGraphicFramePr>
        <p:xfrm>
          <a:off x="375920" y="720090"/>
          <a:ext cx="11409045" cy="2651760"/>
        </p:xfrm>
        <a:graphic>
          <a:graphicData uri="http://schemas.openxmlformats.org/drawingml/2006/table">
            <a:tbl>
              <a:tblPr/>
              <a:tblGrid>
                <a:gridCol w="740410"/>
                <a:gridCol w="3553460"/>
                <a:gridCol w="1566545"/>
                <a:gridCol w="762635"/>
                <a:gridCol w="763270"/>
                <a:gridCol w="811530"/>
                <a:gridCol w="761365"/>
                <a:gridCol w="598170"/>
                <a:gridCol w="1158240"/>
                <a:gridCol w="693420"/>
              </a:tblGrid>
              <a:tr h="377825">
                <a:tc gridSpan="10">
                  <a:txBody>
                    <a:bodyPr/>
                    <a:lstStyle/>
                    <a:p>
                      <a:pPr algn="ctr" fontAlgn="ctr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Operator Buddy - Phase </a:t>
                      </a:r>
                      <a:r>
                        <a:rPr lang="en-US" sz="1300" b="1" i="0" dirty="0" smtClean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21</a:t>
                      </a:r>
                      <a:endParaRPr lang="en-US" sz="1300" b="1" i="0" dirty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ID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Task Description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Team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Planned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Actual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hMerge="1">
                  <a:tcPr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Status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Responsibility</a:t>
                      </a:r>
                      <a:endParaRPr lang="en-US"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Remarks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</a:tr>
              <a:tr h="739140"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Start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300" b="1" i="0">
                          <a:solidFill>
                            <a:srgbClr val="FFFFFF"/>
                          </a:solidFill>
                          <a:latin typeface="Calibri" panose="020F0502020204030204"/>
                          <a:ea typeface="Calibri" panose="020F0502020204030204"/>
                        </a:rPr>
                        <a:t>End Date</a:t>
                      </a:r>
                      <a:endParaRPr sz="1300" b="1" i="0">
                        <a:solidFill>
                          <a:srgbClr val="FFFFFF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2E75B6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378460">
                <a:tc gridSpan="10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chemeClr val="bg1"/>
                          </a:solidFill>
                          <a:latin typeface="Calibri" panose="020F0502020204030204"/>
                          <a:ea typeface="Calibri" panose="020F0502020204030204"/>
                          <a:sym typeface="+mn-ea"/>
                        </a:rPr>
                        <a:t>Development &amp; Deployement</a:t>
                      </a:r>
                      <a:endParaRPr lang="en-US" sz="1300" b="1" i="0">
                        <a:ln>
                          <a:noFill/>
                        </a:ln>
                        <a:solidFill>
                          <a:schemeClr val="bg1"/>
                        </a:solidFill>
                        <a:latin typeface="Calibri" panose="020F0502020204030204"/>
                        <a:ea typeface="Calibri" panose="020F0502020204030204"/>
                        <a:sym typeface="+mn-ea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497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1</a:t>
                      </a:r>
                      <a:endParaRPr lang="en-US" sz="1400" dirty="0"/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AI</a:t>
                      </a:r>
                      <a:r>
                        <a:rPr lang="en-US" sz="1050" baseline="0" dirty="0" smtClean="0"/>
                        <a:t> Integration in SFQA</a:t>
                      </a:r>
                      <a:endParaRPr lang="en-US" sz="1050" dirty="0"/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Software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13.10.26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20.10.26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13.10.26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16.10.26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Closed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err="1" smtClean="0"/>
                        <a:t>Naveen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5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smtClean="0"/>
                        <a:t>2</a:t>
                      </a:r>
                      <a:endParaRPr lang="en-US" sz="1400" dirty="0"/>
                    </a:p>
                  </a:txBody>
                  <a:tcPr marL="68580" marR="68580" marT="0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Train</a:t>
                      </a:r>
                      <a:r>
                        <a:rPr lang="en-US" sz="1050" baseline="0" dirty="0" smtClean="0"/>
                        <a:t> the dataset models for SFQA</a:t>
                      </a:r>
                      <a:endParaRPr lang="en-US" sz="1050" dirty="0"/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Software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21.10.26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 smtClean="0"/>
                        <a:t>30.10.26</a:t>
                      </a:r>
                      <a:endParaRPr lang="en-US" sz="1050" dirty="0"/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050" dirty="0" smtClean="0"/>
                        <a:t>Open</a:t>
                      </a:r>
                      <a:endParaRPr lang="en-US" sz="1050" dirty="0" smtClean="0"/>
                    </a:p>
                    <a:p>
                      <a:pPr algn="ctr"/>
                      <a:endParaRPr lang="en-US" sz="1050" dirty="0"/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dirty="0"/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105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9842" marR="9842" marT="9842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ectangle 5"/>
          <p:cNvSpPr/>
          <p:nvPr/>
        </p:nvSpPr>
        <p:spPr>
          <a:xfrm>
            <a:off x="0" y="6398895"/>
            <a:ext cx="12191365" cy="45910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90525" y="171294"/>
            <a:ext cx="11586782" cy="6172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altLang="en-US"/>
          </a:p>
        </p:txBody>
      </p:sp>
      <p:sp>
        <p:nvSpPr>
          <p:cNvPr id="6" name="Rectangle 3"/>
          <p:cNvSpPr/>
          <p:nvPr/>
        </p:nvSpPr>
        <p:spPr>
          <a:xfrm>
            <a:off x="0" y="1905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 2"/>
          <p:cNvSpPr/>
          <p:nvPr/>
        </p:nvSpPr>
        <p:spPr>
          <a:xfrm>
            <a:off x="640080" y="1554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0" b="1" dirty="0" smtClean="0">
                <a:solidFill>
                  <a:srgbClr val="5A87AD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08</a:t>
            </a:r>
            <a:endParaRPr lang="en-IN" altLang="en-US" sz="9000" b="1" dirty="0">
              <a:solidFill>
                <a:srgbClr val="5A87AD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685800" y="2971800"/>
            <a:ext cx="457200" cy="41148"/>
          </a:xfrm>
          <a:prstGeom prst="rect">
            <a:avLst/>
          </a:prstGeom>
          <a:solidFill>
            <a:srgbClr val="5A87AD"/>
          </a:solidFill>
        </p:spPr>
      </p:sp>
      <p:sp>
        <p:nvSpPr>
          <p:cNvPr id="9" name="Text 4"/>
          <p:cNvSpPr/>
          <p:nvPr/>
        </p:nvSpPr>
        <p:spPr>
          <a:xfrm>
            <a:off x="640080" y="3154680"/>
            <a:ext cx="86868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dirty="0">
                <a:solidFill>
                  <a:schemeClr val="bg1"/>
                </a:solidFill>
              </a:rPr>
              <a:t>Complete List of Digitalization Projects 2026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02260" y="478790"/>
          <a:ext cx="11373485" cy="6105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410"/>
                <a:gridCol w="342900"/>
                <a:gridCol w="807720"/>
                <a:gridCol w="664210"/>
                <a:gridCol w="1150620"/>
                <a:gridCol w="1814195"/>
                <a:gridCol w="602615"/>
                <a:gridCol w="561975"/>
                <a:gridCol w="520700"/>
                <a:gridCol w="478790"/>
                <a:gridCol w="875665"/>
                <a:gridCol w="657860"/>
                <a:gridCol w="2265680"/>
                <a:gridCol w="398145"/>
              </a:tblGrid>
              <a:tr h="3505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7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4933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 &amp; Operator Buddy Implementation – Machine Interlock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Interlock completed for 7 machines; remaining 4 machines pending due to Ethernet connectivity issues.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Machine/PLC signal identification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Plant-side wiring &amp; network readiness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Interlock logic implementation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PRISM/Operator Buddy integration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Machine-wise testing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1.7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Deployment &amp; handover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RAD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 machines completed. KM-TU-13 pending because the IP address is not responding to ping from the DB PC.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Machine/network readiness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14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955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2.7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734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 Digitalization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 machines completed; 1 machine pending due to relay wiring by maintenance.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3.1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3.2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Machine/network readiness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3.3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3.4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3.5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3.6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08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3.7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7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7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7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7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330835" y="360045"/>
          <a:ext cx="11510645" cy="62604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950"/>
                <a:gridCol w="346710"/>
                <a:gridCol w="817880"/>
                <a:gridCol w="672465"/>
                <a:gridCol w="1165225"/>
                <a:gridCol w="1835150"/>
                <a:gridCol w="610235"/>
                <a:gridCol w="568325"/>
                <a:gridCol w="526415"/>
                <a:gridCol w="485140"/>
                <a:gridCol w="887730"/>
                <a:gridCol w="664845"/>
                <a:gridCol w="2293620"/>
                <a:gridCol w="401955"/>
              </a:tblGrid>
              <a:tr h="25908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BMW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Grinding Machine Datalogging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MBD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Datalogging is pending due to MBD assistance.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MBD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OPC/PLC/tag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communication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4.7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Deployment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321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K.Palayam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Bosch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IP addresses are mapped; data logging needs to be completed for 8 machines using MT-Link.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Machine/network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5.7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Annur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CMBF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from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Partially Completed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4DFE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 furnace completed and data integrated into PRISM; remaining 1 furnace pending due to Ethernet connectivity.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Network/IP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65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6.7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Annur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Rotary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from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MBD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for 14 furnaces is pending due to MBD assistance.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Network/IP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589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7.7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16255" y="414655"/>
          <a:ext cx="11197590" cy="609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"/>
                <a:gridCol w="337820"/>
                <a:gridCol w="795655"/>
                <a:gridCol w="653415"/>
                <a:gridCol w="1132840"/>
                <a:gridCol w="1786255"/>
                <a:gridCol w="593090"/>
                <a:gridCol w="553085"/>
                <a:gridCol w="512445"/>
                <a:gridCol w="472440"/>
                <a:gridCol w="861695"/>
                <a:gridCol w="647700"/>
                <a:gridCol w="2230755"/>
                <a:gridCol w="391795"/>
              </a:tblGrid>
              <a:tr h="2628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2533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Energy Meter Data Collection from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Electrical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RS-485 converter device purchase from plant side is pending.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Meter/register mapping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RS-485 converter procurement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Modbus communication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8.7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Dashboard integration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Charge-IN and Charge-OUT Data Collection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Electrical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wiring requirement from plant side.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Charge-IN/OUT signal identification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Plant-side wiring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input testing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9.7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PGR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R&amp;D support from OT side is required.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OT/R&amp;D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 communication/tag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46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Furnace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GB" alt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Completed</a:t>
                      </a:r>
                      <a:endParaRPr lang="en-GB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vendor assistance for IP change.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46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Network/IP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communication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388620" y="371475"/>
          <a:ext cx="11452860" cy="6134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680"/>
                <a:gridCol w="345440"/>
                <a:gridCol w="813435"/>
                <a:gridCol w="668655"/>
                <a:gridCol w="1158875"/>
                <a:gridCol w="1826895"/>
                <a:gridCol w="607060"/>
                <a:gridCol w="565150"/>
                <a:gridCol w="523875"/>
                <a:gridCol w="483870"/>
                <a:gridCol w="881380"/>
                <a:gridCol w="662305"/>
                <a:gridCol w="2281555"/>
                <a:gridCol w="400685"/>
              </a:tblGrid>
              <a:tr h="2616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6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Chain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Press Dashboard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Stamping Press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R&amp;D support from OT side is required.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 signal identification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Plant-side wiring/network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Stroke/data logging script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Dashboard integration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 Line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Machines and Display in PRISM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machines is pending due to Ethernet connectivity.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Machine/network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876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Daimler Line Automation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COBOT PLC using Tags and Display in PRISM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Waiting for Ethernet connectivity and switch installation.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COBOT PLC tag mapping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Ethernet/switch readiness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OPC/PLC communication testing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 integration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11/10/2026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handover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P.Palayam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Stellantis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Stellantis Line Digitalization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Push Data from SQLite to MongoDB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12/10/2026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Development/start activity planned; MongoDB data push implementation to be completed.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17272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15.1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13/10/2026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15.2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SQLite data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14/10/2026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15.3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MongoDB connection/configuration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15.4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push script development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15.5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Error handling &amp; logging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15.6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399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15.7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6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Deployment &amp; validation</a:t>
                      </a: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6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20/10/2026</a:t>
                      </a: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6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6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447040" y="34925"/>
          <a:ext cx="11033760" cy="6774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060"/>
                <a:gridCol w="332105"/>
                <a:gridCol w="783590"/>
                <a:gridCol w="644525"/>
                <a:gridCol w="1116330"/>
                <a:gridCol w="1760220"/>
                <a:gridCol w="584835"/>
                <a:gridCol w="544195"/>
                <a:gridCol w="504190"/>
                <a:gridCol w="466090"/>
                <a:gridCol w="848995"/>
                <a:gridCol w="638810"/>
                <a:gridCol w="2199005"/>
                <a:gridCol w="384810"/>
              </a:tblGrid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S.No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ID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Line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Task / Project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WBS Activity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Start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Planned End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Start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Actual End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Status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Responsibility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Dependency / Reason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FFFFFF"/>
                          </a:solidFill>
                          <a:latin typeface="Calibri" panose="020F0502020204030204" charset="-122"/>
                        </a:rPr>
                        <a:t>Remarks</a:t>
                      </a:r>
                      <a:endParaRPr lang="en-US" altLang="en-US" sz="800" b="1">
                        <a:solidFill>
                          <a:srgbClr val="FFFFFF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F4E78"/>
                    </a:solidFill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Valiyampalayam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SQF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Furnace Dashboard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Furnace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27/10/2026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Pending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Gowtham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Ethernet connectivity.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28/10/2026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Network/IP readiness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29/10/2026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Signal/tag verification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30/10/2026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communication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31/10/2026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0226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16.7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PRISM/dashboard integration &amp; validation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Nagpur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Sprocket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CNC Digitalization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CNC Machines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server PC arrival.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OT/R&amp;D communication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 communication/tag verification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logging script preparation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deployment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17.7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validation &amp; handover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09/10/2026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Nagpur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Sprocket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Press Dashboard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from Stamping Press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01/11/2026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 rowSpan="8"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In Progress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 anchor="ctr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 IT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Data collection is pending due to server PC arrival.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9EAF7"/>
                    </a:solidFill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18.1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Requirement confirmation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18.2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Machine signal identification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03/11/2026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04/11/2026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18.3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Plant-side wiring/network readiness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05/11/2026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18.4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Edge device setup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06/11/2026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19/11/2026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18.5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Stroke/data logging script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07/11/2026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20/11/2026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18.6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Testing &amp; validation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08/11/2026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21/11/2026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67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18.7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800" b="0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Dashboard integration</a:t>
                      </a: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09/11/2026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800" b="1">
                          <a:solidFill>
                            <a:srgbClr val="000000"/>
                          </a:solidFill>
                          <a:latin typeface="Calibri" panose="020F0502020204030204" charset="-122"/>
                        </a:rPr>
                        <a:t>22/11/2026</a:t>
                      </a:r>
                      <a:endParaRPr lang="en-US" altLang="en-US" sz="800" b="1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B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endParaRPr lang="en-US" altLang="en-US" sz="800" b="0">
                        <a:solidFill>
                          <a:srgbClr val="000000"/>
                        </a:solidFill>
                        <a:latin typeface="Calibri" panose="020F0502020204030204" charset="-122"/>
                      </a:endParaRPr>
                    </a:p>
                  </a:txBody>
                  <a:tcPr marL="12700" marR="12700" marT="12700">
                    <a:lnL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A6A6A6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Current Week KPI Summary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329184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Planned Activity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Location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Remarks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Responsibility</a:t>
                      </a:r>
                      <a:endParaRPr lang="en-US" alt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SAP review meeting with corp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K-Palayam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Completed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SAP ghant chart review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Jalna, Bangalore, Pantnagar, Nagpur, FPD2, LSP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Completed</a:t>
                      </a:r>
                      <a:endParaRPr lang="en-GB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GB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US" altLang="en-GB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Furnace batch validation – PGR review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All Plant</a:t>
                      </a:r>
                      <a:endParaRPr lang="en-GB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Completed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Vishnunirmalan,</a:t>
                      </a: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Muthuselvan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KG Conversion Deployment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Annur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Under development will be completed on or before 30th Oct 2026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Vishnunirmalan,Maestro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nagpur review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PGR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Completed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Vishnunirmalan,Rajat,Gokul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Weekly report standardisation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SMD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Completed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PGR issue – route card wrong process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Ganapathy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Completed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Durga</a:t>
                      </a: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,Vishnunirmalan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Prism / OP Buddy overload issue validation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PGR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Completed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Durga, </a:t>
                      </a: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Inbit clarity from plants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Annur,PGR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Completed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3"/>
          <p:cNvSpPr/>
          <p:nvPr/>
        </p:nvSpPr>
        <p:spPr>
          <a:xfrm>
            <a:off x="0" y="0"/>
            <a:ext cx="12192000" cy="61720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5"/>
          <p:cNvSpPr/>
          <p:nvPr/>
        </p:nvSpPr>
        <p:spPr>
          <a:xfrm>
            <a:off x="0" y="6326505"/>
            <a:ext cx="12191365" cy="53149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IN" dirty="0">
              <a:sym typeface="+mn-ea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4128770" y="6399530"/>
            <a:ext cx="38639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LGB l  Operations Technology</a:t>
            </a:r>
            <a:endParaRPr lang="en-IN" altLang="en-US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4"/>
          <p:cNvSpPr txBox="1"/>
          <p:nvPr/>
        </p:nvSpPr>
        <p:spPr>
          <a:xfrm>
            <a:off x="222094" y="114300"/>
            <a:ext cx="1174781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IN" sz="20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Next Week KPI Summary  </a:t>
            </a:r>
            <a:endParaRPr lang="en-US" altLang="en-IN" sz="20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ph idx="1"/>
          </p:nvPr>
        </p:nvGraphicFramePr>
        <p:xfrm>
          <a:off x="838200" y="692150"/>
          <a:ext cx="10515600" cy="557784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Planned Activity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Location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Remarks</a:t>
                      </a:r>
                      <a:endParaRPr 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b="1" dirty="0">
                          <a:solidFill>
                            <a:schemeClr val="bg1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Responsibility</a:t>
                      </a:r>
                      <a:endParaRPr lang="en-US" altLang="en-US" sz="1200" b="1" dirty="0">
                        <a:solidFill>
                          <a:schemeClr val="bg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Process parameter from MTLink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K-Palayam </a:t>
                      </a:r>
                      <a:r>
                        <a:rPr lang="en-GB" alt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&amp; P-palayam</a:t>
                      </a:r>
                      <a:endParaRPr lang="en-GB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Not yet started</a:t>
                      </a:r>
                      <a:endParaRPr lang="en-GB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LAN Laying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Jalna, Bangalore, Pantnagar, Nagpur, FPD2, LSP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Infrastructure Readiness </a:t>
                      </a:r>
                      <a:r>
                        <a:rPr lang="en-GB" alt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LAN survey</a:t>
                      </a:r>
                      <a:endParaRPr lang="en-GB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GB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US" altLang="en-GB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Pongaluru Press – coil issue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GB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Under SAP testing - plant need to complete testing and provide feedback post needback changes need to be made in first stage entry BAPI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Vishnunirmalan,Gokul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Annur Maestro in PRISM</a:t>
                      </a:r>
                      <a:endParaRPr 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solidFill>
                            <a:srgbClr val="000000"/>
                          </a:solidFill>
                          <a:latin typeface="Times New Roman" panose="02020603050405020304" charset="0"/>
                          <a:cs typeface="Times New Roman" panose="02020603050405020304" charset="0"/>
                        </a:rPr>
                        <a:t>Annur</a:t>
                      </a:r>
                      <a:endParaRPr lang="en-GB" altLang="en-US" sz="1200" dirty="0">
                        <a:solidFill>
                          <a:srgbClr val="000000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Under development</a:t>
                      </a:r>
                      <a:endParaRPr 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Vishnunirmalan, Hariharasudhan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History card POC (PGR)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PGR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Under development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Durga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OP Buddy POC W/O scan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PGR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Device need to be installed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Vishnunirmalan,Gowtham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Zebra evaluation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K-palayam,PGR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HHD scanner received,2D and 3D scanning tablets will be received on 23rd Oct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PGR funace completion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All SQF plants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CP data – single report - Completed (Under plant review)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Red/green charge based on 10-minute time and set point - Inprogress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Charge comparison based on part (furnace comparision)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Single chart report on main screen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History card printing (OP Buddy)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Instrument calibration API to Prism trial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Two report formats: history card and production report - Inprogress</a:t>
                      </a:r>
                      <a:endParaRPr lang="en-US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GB" altLang="en-US" sz="1200" dirty="0">
                          <a:latin typeface="Times New Roman" panose="02020603050405020304" charset="0"/>
                          <a:cs typeface="Times New Roman" panose="02020603050405020304" charset="0"/>
                        </a:rPr>
                        <a:t>Vishnunirmalan, Durga</a:t>
                      </a:r>
                      <a:endParaRPr lang="en-GB" altLang="en-US" sz="1200" dirty="0"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 Box 1"/>
          <p:cNvSpPr txBox="1"/>
          <p:nvPr/>
        </p:nvSpPr>
        <p:spPr>
          <a:xfrm>
            <a:off x="6749415" y="4083050"/>
            <a:ext cx="436943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altLang="en-US" sz="6600" b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Thank You</a:t>
            </a:r>
            <a:endParaRPr lang="en-IN" altLang="en-US" sz="6600" b="1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1"/>
          <p:cNvSpPr txBox="1"/>
          <p:nvPr/>
        </p:nvSpPr>
        <p:spPr>
          <a:xfrm>
            <a:off x="777240" y="1828800"/>
            <a:ext cx="4572000" cy="4914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Aptos"/>
              </a:rPr>
              <a:t>Total Projects </a:t>
            </a:r>
            <a:r>
              <a:rPr sz="2600" b="1">
                <a:solidFill>
                  <a:srgbClr val="FFFFFF"/>
                </a:solidFill>
                <a:latin typeface="Aptos"/>
              </a:rPr>
              <a:t>2026</a:t>
            </a:r>
            <a:endParaRPr sz="26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8" name="TextBox 2"/>
          <p:cNvSpPr txBox="1"/>
          <p:nvPr/>
        </p:nvSpPr>
        <p:spPr>
          <a:xfrm>
            <a:off x="777240" y="2395728"/>
            <a:ext cx="7772400" cy="521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2800" b="0">
                <a:solidFill>
                  <a:srgbClr val="FFFFFF"/>
                </a:solidFill>
                <a:latin typeface="Aptos"/>
              </a:rPr>
              <a:t>Oct </a:t>
            </a:r>
            <a:r>
              <a:rPr sz="2800" b="0">
                <a:solidFill>
                  <a:srgbClr val="FFFFFF"/>
                </a:solidFill>
                <a:latin typeface="Aptos"/>
              </a:rPr>
              <a:t>Project progress review </a:t>
            </a:r>
            <a:endParaRPr sz="28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9" name="TextBox 3"/>
          <p:cNvSpPr txBox="1"/>
          <p:nvPr/>
        </p:nvSpPr>
        <p:spPr>
          <a:xfrm>
            <a:off x="777240" y="36576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91DCDC"/>
                </a:solidFill>
                <a:latin typeface="Aptos"/>
              </a:rPr>
              <a:t>LGB | Operations Technology</a:t>
            </a:r>
            <a:endParaRPr sz="1300" b="1">
              <a:solidFill>
                <a:srgbClr val="91DCD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42440</Words>
  <Application>WPS Presentation</Application>
  <PresentationFormat>Custom</PresentationFormat>
  <Paragraphs>5641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58" baseType="lpstr">
      <vt:lpstr>Arial</vt:lpstr>
      <vt:lpstr>SimSun</vt:lpstr>
      <vt:lpstr>Wingdings</vt:lpstr>
      <vt:lpstr>Aptos</vt:lpstr>
      <vt:lpstr>Segoe Print</vt:lpstr>
      <vt:lpstr>Cambria</vt:lpstr>
      <vt:lpstr>Garet Bold</vt:lpstr>
      <vt:lpstr>Calibri</vt:lpstr>
      <vt:lpstr>Calibri</vt:lpstr>
      <vt:lpstr>Cambria</vt:lpstr>
      <vt:lpstr>Cambria</vt:lpstr>
      <vt:lpstr>Microsoft YaHei</vt:lpstr>
      <vt:lpstr>Arial Unicode MS</vt:lpstr>
      <vt:lpstr>Aptos Display</vt:lpstr>
      <vt:lpstr>Arial</vt:lpstr>
      <vt:lpstr>Calibri</vt:lpstr>
      <vt:lpstr>Times New Roman</vt:lpstr>
      <vt:lpstr>Times New Roman</vt:lpstr>
      <vt:lpstr>Aptos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Karthik M</dc:creator>
  <cp:lastModifiedBy>m.vishnunirmalan</cp:lastModifiedBy>
  <cp:revision>372</cp:revision>
  <dcterms:created xsi:type="dcterms:W3CDTF">2024-03-07T14:31:00Z</dcterms:created>
  <dcterms:modified xsi:type="dcterms:W3CDTF">2026-10-17T04:22:14Z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2057-11.2.0.10017</vt:lpwstr>
  </property>
  <property fmtid="{D5CDD505-2E9C-101B-9397-08002B2CF9AE}" pid="3" name="ICV">
    <vt:lpwstr>A76EE7BB7F1942FEBA1FA2AD388E26D3_13</vt:lpwstr>
  </property>
</Properties>
</file>